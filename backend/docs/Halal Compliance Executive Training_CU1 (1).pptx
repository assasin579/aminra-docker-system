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6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Lst>
  <p:sldSz cx="12192000" cy="6858000"/>
  <p:notesSz cx="6858000" cy="9144000"/>
  <p:embeddedFontLst>
    <p:embeddedFont>
      <p:font typeface="Open Sans" panose="020B0604020202020204"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7" roundtripDataSignature="AMtx7mi4ta3FzyJunSBU1yI43IPP7+R2S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ECD6F48-8B51-4161-AC7E-E7DA0691A067}">
  <a:tblStyle styleId="{BECD6F48-8B51-4161-AC7E-E7DA0691A06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81C1E0F8-89D9-480C-889A-00ECAE703E9D}" styleName="Table_1">
    <a:wholeTbl>
      <a:tcTxStyle b="off" i="off">
        <a:font>
          <a:latin typeface="Calibri"/>
          <a:ea typeface="Calibri"/>
          <a:cs typeface="Calibri"/>
        </a:font>
        <a:schemeClr val="dk1"/>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op>
            <a:ln w="9525" cap="flat" cmpd="sng">
              <a:solidFill>
                <a:schemeClr val="dk1"/>
              </a:solidFill>
              <a:prstDash val="solid"/>
              <a:round/>
              <a:headEnd type="none" w="sm" len="sm"/>
              <a:tailEnd type="none" w="sm" len="sm"/>
            </a:ln>
          </a:top>
          <a:bottom>
            <a:ln w="9525"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dk1"/>
              </a:solidFill>
              <a:prstDash val="solid"/>
              <a:round/>
              <a:headEnd type="none" w="sm" len="sm"/>
              <a:tailEnd type="none" w="sm" len="sm"/>
            </a:ln>
          </a:top>
          <a:bottom>
            <a:ln w="9525" cap="flat" cmpd="sng">
              <a:solidFill>
                <a:schemeClr val="dk1"/>
              </a:solidFill>
              <a:prstDash val="solid"/>
              <a:round/>
              <a:headEnd type="none" w="sm" len="sm"/>
              <a:tailEnd type="none" w="sm" len="sm"/>
            </a:ln>
          </a:bottom>
        </a:tcBdr>
      </a:tcStyle>
    </a:band1H>
    <a:band2H>
      <a:tcTxStyle/>
      <a:tcStyle>
        <a:tcBdr/>
      </a:tcStyle>
    </a:band2H>
    <a:band1V>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cBdr>
      </a:tcStyle>
    </a:band1V>
    <a:band2V>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77" Type="http://customschemas.google.com/relationships/presentationmetadata" Target="meta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3.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4.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1" name="Google Shape;65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3" name="Google Shape;68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1" name="Google Shape;70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2" name="Google Shape;71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3" name="Google Shape;72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4" name="Google Shape;73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5" name="Google Shape;74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5" name="Google Shape;75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1" name="Google Shape;771;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6" name="Google Shape;78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1" name="Google Shape;801;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0" name="Google Shape;82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4" name="Google Shape;85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8" name="Google Shape;87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7" name="Google Shape;89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3" name="Google Shape;93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5" name="Google Shape;94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7" name="Google Shape;95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2" name="Google Shape;982;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2" name="Google Shape;1012;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6" name="Google Shape;103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5" name="Google Shape;104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5" name="Google Shape;1055;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6" name="Google Shape;1096;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8" name="Google Shape;1108;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9" name="Google Shape;1119;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1" name="Google Shape;114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4" name="Google Shape;1154;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1" name="Google Shape;1171;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4" name="Google Shape;1194;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8" name="Google Shape;1228;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8" name="Google Shape;1238;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1"/>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1"/>
              <a:buNone/>
              <a:defRPr sz="1801"/>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6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p68"/>
          <p:cNvSpPr txBox="1"/>
          <p:nvPr/>
        </p:nvSpPr>
        <p:spPr>
          <a:xfrm>
            <a:off x="11331889" y="683125"/>
            <a:ext cx="851728" cy="27725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601" b="0" i="0" u="none" strike="noStrike" cap="none">
                <a:solidFill>
                  <a:srgbClr val="000000"/>
                </a:solidFill>
                <a:latin typeface="Arial"/>
                <a:ea typeface="Arial"/>
                <a:cs typeface="Arial"/>
                <a:sym typeface="Arial"/>
              </a:rPr>
              <a:t>Halal Development Corporation</a:t>
            </a:r>
            <a:endParaRPr/>
          </a:p>
        </p:txBody>
      </p:sp>
      <p:pic>
        <p:nvPicPr>
          <p:cNvPr id="22" name="Google Shape;22;p68" descr="Image result for hdc logo"/>
          <p:cNvPicPr preferRelativeResize="0"/>
          <p:nvPr/>
        </p:nvPicPr>
        <p:blipFill rotWithShape="1">
          <a:blip r:embed="rId2">
            <a:alphaModFix/>
          </a:blip>
          <a:srcRect/>
          <a:stretch/>
        </p:blipFill>
        <p:spPr>
          <a:xfrm>
            <a:off x="11505764" y="140144"/>
            <a:ext cx="503977" cy="503977"/>
          </a:xfrm>
          <a:prstGeom prst="rect">
            <a:avLst/>
          </a:prstGeom>
          <a:noFill/>
          <a:ln>
            <a:noFill/>
          </a:ln>
        </p:spPr>
      </p:pic>
      <p:pic>
        <p:nvPicPr>
          <p:cNvPr id="23" name="Google Shape;23;p68" descr="Image result for jata malaysia"/>
          <p:cNvPicPr preferRelativeResize="0"/>
          <p:nvPr/>
        </p:nvPicPr>
        <p:blipFill rotWithShape="1">
          <a:blip r:embed="rId3">
            <a:alphaModFix/>
          </a:blip>
          <a:srcRect/>
          <a:stretch/>
        </p:blipFill>
        <p:spPr>
          <a:xfrm>
            <a:off x="10566721" y="136379"/>
            <a:ext cx="717566" cy="561975"/>
          </a:xfrm>
          <a:prstGeom prst="rect">
            <a:avLst/>
          </a:prstGeom>
          <a:noFill/>
          <a:ln>
            <a:noFill/>
          </a:ln>
        </p:spPr>
      </p:pic>
      <p:sp>
        <p:nvSpPr>
          <p:cNvPr id="24" name="Google Shape;24;p68"/>
          <p:cNvSpPr txBox="1"/>
          <p:nvPr/>
        </p:nvSpPr>
        <p:spPr>
          <a:xfrm>
            <a:off x="10430204" y="688632"/>
            <a:ext cx="990601" cy="2772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1" b="0" i="0" u="none" strike="noStrike" cap="none">
                <a:solidFill>
                  <a:schemeClr val="dk1"/>
                </a:solidFill>
                <a:latin typeface="Arial"/>
                <a:ea typeface="Arial"/>
                <a:cs typeface="Arial"/>
                <a:sym typeface="Arial"/>
              </a:rPr>
              <a:t>Ministry of Investment, Trade and Industry</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9"/>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69"/>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6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6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31" name="Google Shape;31;p69"/>
          <p:cNvCxnSpPr/>
          <p:nvPr/>
        </p:nvCxnSpPr>
        <p:spPr>
          <a:xfrm>
            <a:off x="0" y="627432"/>
            <a:ext cx="838201" cy="0"/>
          </a:xfrm>
          <a:prstGeom prst="straightConnector1">
            <a:avLst/>
          </a:prstGeom>
          <a:noFill/>
          <a:ln w="76200" cap="flat" cmpd="sng">
            <a:solidFill>
              <a:srgbClr val="AE9962"/>
            </a:solidFill>
            <a:prstDash val="solid"/>
            <a:miter lim="800000"/>
            <a:headEnd type="none" w="sm" len="sm"/>
            <a:tailEnd type="none" w="sm" len="sm"/>
          </a:ln>
        </p:spPr>
      </p:cxnSp>
      <p:cxnSp>
        <p:nvCxnSpPr>
          <p:cNvPr id="32" name="Google Shape;32;p69"/>
          <p:cNvCxnSpPr/>
          <p:nvPr/>
        </p:nvCxnSpPr>
        <p:spPr>
          <a:xfrm>
            <a:off x="11353799" y="6517851"/>
            <a:ext cx="838201" cy="0"/>
          </a:xfrm>
          <a:prstGeom prst="straightConnector1">
            <a:avLst/>
          </a:prstGeom>
          <a:noFill/>
          <a:ln w="76200" cap="flat" cmpd="sng">
            <a:solidFill>
              <a:srgbClr val="AE9962"/>
            </a:solidFill>
            <a:prstDash val="solid"/>
            <a:miter lim="800000"/>
            <a:headEnd type="none" w="sm" len="sm"/>
            <a:tailEnd type="none" w="sm" len="sm"/>
          </a:ln>
        </p:spPr>
      </p:cxnSp>
      <p:sp>
        <p:nvSpPr>
          <p:cNvPr id="33" name="Google Shape;33;p69"/>
          <p:cNvSpPr txBox="1"/>
          <p:nvPr/>
        </p:nvSpPr>
        <p:spPr>
          <a:xfrm>
            <a:off x="11331889" y="683125"/>
            <a:ext cx="851728" cy="27725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601">
                <a:solidFill>
                  <a:srgbClr val="000000"/>
                </a:solidFill>
                <a:latin typeface="Arial"/>
                <a:ea typeface="Arial"/>
                <a:cs typeface="Arial"/>
                <a:sym typeface="Arial"/>
              </a:rPr>
              <a:t>Halal Development Corporation</a:t>
            </a:r>
            <a:endParaRPr/>
          </a:p>
        </p:txBody>
      </p:sp>
      <p:pic>
        <p:nvPicPr>
          <p:cNvPr id="34" name="Google Shape;34;p69" descr="Image result for hdc logo"/>
          <p:cNvPicPr preferRelativeResize="0"/>
          <p:nvPr/>
        </p:nvPicPr>
        <p:blipFill rotWithShape="1">
          <a:blip r:embed="rId2">
            <a:alphaModFix/>
          </a:blip>
          <a:srcRect/>
          <a:stretch/>
        </p:blipFill>
        <p:spPr>
          <a:xfrm>
            <a:off x="11505764" y="140144"/>
            <a:ext cx="503977" cy="50397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70"/>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70"/>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1"/>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1"/>
              <a:buNone/>
              <a:defRPr sz="1801">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7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7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1" name="Google Shape;41;p70"/>
          <p:cNvCxnSpPr/>
          <p:nvPr/>
        </p:nvCxnSpPr>
        <p:spPr>
          <a:xfrm>
            <a:off x="0" y="627432"/>
            <a:ext cx="838201" cy="0"/>
          </a:xfrm>
          <a:prstGeom prst="straightConnector1">
            <a:avLst/>
          </a:prstGeom>
          <a:noFill/>
          <a:ln w="76200" cap="flat" cmpd="sng">
            <a:solidFill>
              <a:srgbClr val="AE9962"/>
            </a:solidFill>
            <a:prstDash val="solid"/>
            <a:miter lim="800000"/>
            <a:headEnd type="none" w="sm" len="sm"/>
            <a:tailEnd type="none" w="sm" len="sm"/>
          </a:ln>
        </p:spPr>
      </p:cxnSp>
      <p:cxnSp>
        <p:nvCxnSpPr>
          <p:cNvPr id="42" name="Google Shape;42;p70"/>
          <p:cNvCxnSpPr/>
          <p:nvPr/>
        </p:nvCxnSpPr>
        <p:spPr>
          <a:xfrm>
            <a:off x="11353799" y="6517851"/>
            <a:ext cx="838201" cy="0"/>
          </a:xfrm>
          <a:prstGeom prst="straightConnector1">
            <a:avLst/>
          </a:prstGeom>
          <a:noFill/>
          <a:ln w="76200" cap="flat" cmpd="sng">
            <a:solidFill>
              <a:srgbClr val="AE9962"/>
            </a:solidFill>
            <a:prstDash val="solid"/>
            <a:miter lim="800000"/>
            <a:headEnd type="none" w="sm" len="sm"/>
            <a:tailEnd type="none" w="sm" len="sm"/>
          </a:ln>
        </p:spPr>
      </p:cxnSp>
      <p:sp>
        <p:nvSpPr>
          <p:cNvPr id="43" name="Google Shape;43;p70"/>
          <p:cNvSpPr txBox="1"/>
          <p:nvPr/>
        </p:nvSpPr>
        <p:spPr>
          <a:xfrm>
            <a:off x="11331889" y="683125"/>
            <a:ext cx="851728" cy="27725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601">
                <a:solidFill>
                  <a:srgbClr val="000000"/>
                </a:solidFill>
                <a:latin typeface="Arial"/>
                <a:ea typeface="Arial"/>
                <a:cs typeface="Arial"/>
                <a:sym typeface="Arial"/>
              </a:rPr>
              <a:t>Halal Development Corporation</a:t>
            </a:r>
            <a:endParaRPr/>
          </a:p>
        </p:txBody>
      </p:sp>
      <p:pic>
        <p:nvPicPr>
          <p:cNvPr id="44" name="Google Shape;44;p70" descr="Image result for hdc logo"/>
          <p:cNvPicPr preferRelativeResize="0"/>
          <p:nvPr/>
        </p:nvPicPr>
        <p:blipFill rotWithShape="1">
          <a:blip r:embed="rId2">
            <a:alphaModFix/>
          </a:blip>
          <a:srcRect/>
          <a:stretch/>
        </p:blipFill>
        <p:spPr>
          <a:xfrm>
            <a:off x="11505764" y="140144"/>
            <a:ext cx="503977" cy="50397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7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3"/>
          <p:cNvSpPr txBox="1">
            <a:spLocks noGrp="1"/>
          </p:cNvSpPr>
          <p:nvPr>
            <p:ph type="body" idx="1"/>
          </p:nvPr>
        </p:nvSpPr>
        <p:spPr>
          <a:xfrm>
            <a:off x="838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3"/>
          <p:cNvSpPr txBox="1">
            <a:spLocks noGrp="1"/>
          </p:cNvSpPr>
          <p:nvPr>
            <p:ph type="body" idx="2"/>
          </p:nvPr>
        </p:nvSpPr>
        <p:spPr>
          <a:xfrm>
            <a:off x="6172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52" name="Google Shape;52;p73" descr="A green and blue text on a black background&#10;&#10;Description automatically generated"/>
          <p:cNvPicPr preferRelativeResize="0"/>
          <p:nvPr/>
        </p:nvPicPr>
        <p:blipFill rotWithShape="1">
          <a:blip r:embed="rId2">
            <a:alphaModFix/>
          </a:blip>
          <a:srcRect/>
          <a:stretch/>
        </p:blipFill>
        <p:spPr>
          <a:xfrm>
            <a:off x="10387122" y="136526"/>
            <a:ext cx="1489447" cy="47153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74"/>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4"/>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1"/>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1"/>
              <a:buNone/>
              <a:defRPr sz="1801"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74"/>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4"/>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1"/>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1"/>
              <a:buNone/>
              <a:defRPr sz="1801"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74"/>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7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2"/>
        <p:cNvGrpSpPr/>
        <p:nvPr/>
      </p:nvGrpSpPr>
      <p:grpSpPr>
        <a:xfrm>
          <a:off x="0" y="0"/>
          <a:ext cx="0" cy="0"/>
          <a:chOff x="0" y="0"/>
          <a:chExt cx="0" cy="0"/>
        </a:xfrm>
      </p:grpSpPr>
      <p:sp>
        <p:nvSpPr>
          <p:cNvPr id="63" name="Google Shape;63;p75"/>
          <p:cNvSpPr>
            <a:spLocks noGrp="1"/>
          </p:cNvSpPr>
          <p:nvPr>
            <p:ph type="pic" idx="2"/>
          </p:nvPr>
        </p:nvSpPr>
        <p:spPr>
          <a:xfrm>
            <a:off x="2461168" y="1828689"/>
            <a:ext cx="2743200" cy="3886200"/>
          </a:xfrm>
          <a:prstGeom prst="rect">
            <a:avLst/>
          </a:prstGeom>
          <a:noFill/>
          <a:ln>
            <a:noFill/>
          </a:ln>
        </p:spPr>
      </p:sp>
      <p:sp>
        <p:nvSpPr>
          <p:cNvPr id="64" name="Google Shape;64;p75"/>
          <p:cNvSpPr>
            <a:spLocks noGrp="1"/>
          </p:cNvSpPr>
          <p:nvPr>
            <p:ph type="pic" idx="3"/>
          </p:nvPr>
        </p:nvSpPr>
        <p:spPr>
          <a:xfrm>
            <a:off x="16972702" y="1828689"/>
            <a:ext cx="2743200" cy="3886200"/>
          </a:xfrm>
          <a:prstGeom prst="rect">
            <a:avLst/>
          </a:prstGeom>
          <a:noFill/>
          <a:ln>
            <a:noFill/>
          </a:ln>
        </p:spPr>
      </p:sp>
      <p:sp>
        <p:nvSpPr>
          <p:cNvPr id="65" name="Google Shape;65;p75"/>
          <p:cNvSpPr>
            <a:spLocks noGrp="1"/>
          </p:cNvSpPr>
          <p:nvPr>
            <p:ph type="pic" idx="4"/>
          </p:nvPr>
        </p:nvSpPr>
        <p:spPr>
          <a:xfrm>
            <a:off x="-4794601" y="1828689"/>
            <a:ext cx="2743200" cy="3886200"/>
          </a:xfrm>
          <a:prstGeom prst="rect">
            <a:avLst/>
          </a:prstGeom>
          <a:noFill/>
          <a:ln>
            <a:noFill/>
          </a:ln>
        </p:spPr>
      </p:sp>
      <p:sp>
        <p:nvSpPr>
          <p:cNvPr id="66" name="Google Shape;66;p75"/>
          <p:cNvSpPr>
            <a:spLocks noGrp="1"/>
          </p:cNvSpPr>
          <p:nvPr>
            <p:ph type="pic" idx="5"/>
          </p:nvPr>
        </p:nvSpPr>
        <p:spPr>
          <a:xfrm>
            <a:off x="-1166716" y="1828689"/>
            <a:ext cx="2743200" cy="3886200"/>
          </a:xfrm>
          <a:prstGeom prst="rect">
            <a:avLst/>
          </a:prstGeom>
          <a:noFill/>
          <a:ln>
            <a:noFill/>
          </a:ln>
        </p:spPr>
      </p:sp>
      <p:sp>
        <p:nvSpPr>
          <p:cNvPr id="67" name="Google Shape;67;p75"/>
          <p:cNvSpPr>
            <a:spLocks noGrp="1"/>
          </p:cNvSpPr>
          <p:nvPr>
            <p:ph type="pic" idx="6"/>
          </p:nvPr>
        </p:nvSpPr>
        <p:spPr>
          <a:xfrm>
            <a:off x="6089052" y="1828689"/>
            <a:ext cx="2743200" cy="3886200"/>
          </a:xfrm>
          <a:prstGeom prst="rect">
            <a:avLst/>
          </a:prstGeom>
          <a:noFill/>
          <a:ln>
            <a:noFill/>
          </a:ln>
        </p:spPr>
      </p:sp>
      <p:sp>
        <p:nvSpPr>
          <p:cNvPr id="68" name="Google Shape;68;p75"/>
          <p:cNvSpPr>
            <a:spLocks noGrp="1"/>
          </p:cNvSpPr>
          <p:nvPr>
            <p:ph type="pic" idx="7"/>
          </p:nvPr>
        </p:nvSpPr>
        <p:spPr>
          <a:xfrm>
            <a:off x="9716937" y="1828689"/>
            <a:ext cx="2743200" cy="3886200"/>
          </a:xfrm>
          <a:prstGeom prst="rect">
            <a:avLst/>
          </a:prstGeom>
          <a:noFill/>
          <a:ln>
            <a:noFill/>
          </a:ln>
        </p:spPr>
      </p:sp>
      <p:sp>
        <p:nvSpPr>
          <p:cNvPr id="69" name="Google Shape;69;p75"/>
          <p:cNvSpPr>
            <a:spLocks noGrp="1"/>
          </p:cNvSpPr>
          <p:nvPr>
            <p:ph type="pic" idx="8"/>
          </p:nvPr>
        </p:nvSpPr>
        <p:spPr>
          <a:xfrm>
            <a:off x="13344820" y="1828689"/>
            <a:ext cx="2743200" cy="38862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sp>
        <p:nvSpPr>
          <p:cNvPr id="71" name="Google Shape;71;p76"/>
          <p:cNvSpPr>
            <a:spLocks noGrp="1"/>
          </p:cNvSpPr>
          <p:nvPr>
            <p:ph type="pic" idx="2"/>
          </p:nvPr>
        </p:nvSpPr>
        <p:spPr>
          <a:xfrm>
            <a:off x="2747260" y="1807794"/>
            <a:ext cx="2743200" cy="3886200"/>
          </a:xfrm>
          <a:prstGeom prst="rect">
            <a:avLst/>
          </a:prstGeom>
          <a:noFill/>
          <a:ln>
            <a:noFill/>
          </a:ln>
        </p:spPr>
      </p:sp>
      <p:sp>
        <p:nvSpPr>
          <p:cNvPr id="72" name="Google Shape;72;p76"/>
          <p:cNvSpPr>
            <a:spLocks noGrp="1"/>
          </p:cNvSpPr>
          <p:nvPr>
            <p:ph type="pic" idx="3"/>
          </p:nvPr>
        </p:nvSpPr>
        <p:spPr>
          <a:xfrm>
            <a:off x="6212293" y="1807794"/>
            <a:ext cx="2743200" cy="3886200"/>
          </a:xfrm>
          <a:prstGeom prst="rect">
            <a:avLst/>
          </a:prstGeom>
          <a:noFill/>
          <a:ln>
            <a:noFill/>
          </a:ln>
        </p:spPr>
      </p:sp>
      <p:sp>
        <p:nvSpPr>
          <p:cNvPr id="73" name="Google Shape;73;p76"/>
          <p:cNvSpPr>
            <a:spLocks noGrp="1"/>
          </p:cNvSpPr>
          <p:nvPr>
            <p:ph type="pic" idx="4"/>
          </p:nvPr>
        </p:nvSpPr>
        <p:spPr>
          <a:xfrm>
            <a:off x="-717772" y="1807794"/>
            <a:ext cx="2743200" cy="3886200"/>
          </a:xfrm>
          <a:prstGeom prst="rect">
            <a:avLst/>
          </a:prstGeom>
          <a:noFill/>
          <a:ln>
            <a:noFill/>
          </a:ln>
        </p:spPr>
      </p:sp>
      <p:sp>
        <p:nvSpPr>
          <p:cNvPr id="74" name="Google Shape;74;p76"/>
          <p:cNvSpPr>
            <a:spLocks noGrp="1"/>
          </p:cNvSpPr>
          <p:nvPr>
            <p:ph type="pic" idx="5"/>
          </p:nvPr>
        </p:nvSpPr>
        <p:spPr>
          <a:xfrm>
            <a:off x="-4182805" y="1807794"/>
            <a:ext cx="2743200" cy="3886200"/>
          </a:xfrm>
          <a:prstGeom prst="rect">
            <a:avLst/>
          </a:prstGeom>
          <a:noFill/>
          <a:ln>
            <a:noFill/>
          </a:ln>
        </p:spPr>
      </p:sp>
      <p:sp>
        <p:nvSpPr>
          <p:cNvPr id="75" name="Google Shape;75;p76"/>
          <p:cNvSpPr>
            <a:spLocks noGrp="1"/>
          </p:cNvSpPr>
          <p:nvPr>
            <p:ph type="pic" idx="6"/>
          </p:nvPr>
        </p:nvSpPr>
        <p:spPr>
          <a:xfrm>
            <a:off x="16607390" y="1807794"/>
            <a:ext cx="2743200" cy="3886200"/>
          </a:xfrm>
          <a:prstGeom prst="rect">
            <a:avLst/>
          </a:prstGeom>
          <a:noFill/>
          <a:ln>
            <a:noFill/>
          </a:ln>
        </p:spPr>
      </p:sp>
      <p:sp>
        <p:nvSpPr>
          <p:cNvPr id="76" name="Google Shape;76;p76"/>
          <p:cNvSpPr>
            <a:spLocks noGrp="1"/>
          </p:cNvSpPr>
          <p:nvPr>
            <p:ph type="pic" idx="7"/>
          </p:nvPr>
        </p:nvSpPr>
        <p:spPr>
          <a:xfrm>
            <a:off x="9677326" y="1807794"/>
            <a:ext cx="2743200" cy="3886200"/>
          </a:xfrm>
          <a:prstGeom prst="rect">
            <a:avLst/>
          </a:prstGeom>
          <a:noFill/>
          <a:ln>
            <a:noFill/>
          </a:ln>
        </p:spPr>
      </p:sp>
      <p:sp>
        <p:nvSpPr>
          <p:cNvPr id="77" name="Google Shape;77;p76"/>
          <p:cNvSpPr>
            <a:spLocks noGrp="1"/>
          </p:cNvSpPr>
          <p:nvPr>
            <p:ph type="pic" idx="8"/>
          </p:nvPr>
        </p:nvSpPr>
        <p:spPr>
          <a:xfrm>
            <a:off x="13142359" y="1807794"/>
            <a:ext cx="2743200" cy="38862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77"/>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77"/>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1"/>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1" name="Google Shape;81;p77"/>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1"/>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1"/>
              <a:buNone/>
              <a:defRPr sz="1401"/>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1"/>
              <a:buNone/>
              <a:defRPr sz="1001"/>
            </a:lvl4pPr>
            <a:lvl5pPr marL="2286000" lvl="4" indent="-228600" algn="l">
              <a:lnSpc>
                <a:spcPct val="90000"/>
              </a:lnSpc>
              <a:spcBef>
                <a:spcPts val="500"/>
              </a:spcBef>
              <a:spcAft>
                <a:spcPts val="0"/>
              </a:spcAft>
              <a:buClr>
                <a:schemeClr val="dk1"/>
              </a:buClr>
              <a:buSzPts val="1001"/>
              <a:buNone/>
              <a:defRPr sz="1001"/>
            </a:lvl5pPr>
            <a:lvl6pPr marL="2743200" lvl="5" indent="-228600" algn="l">
              <a:lnSpc>
                <a:spcPct val="90000"/>
              </a:lnSpc>
              <a:spcBef>
                <a:spcPts val="500"/>
              </a:spcBef>
              <a:spcAft>
                <a:spcPts val="0"/>
              </a:spcAft>
              <a:buClr>
                <a:schemeClr val="dk1"/>
              </a:buClr>
              <a:buSzPts val="1001"/>
              <a:buNone/>
              <a:defRPr sz="1001"/>
            </a:lvl6pPr>
            <a:lvl7pPr marL="3200400" lvl="6" indent="-228600" algn="l">
              <a:lnSpc>
                <a:spcPct val="90000"/>
              </a:lnSpc>
              <a:spcBef>
                <a:spcPts val="500"/>
              </a:spcBef>
              <a:spcAft>
                <a:spcPts val="0"/>
              </a:spcAft>
              <a:buClr>
                <a:schemeClr val="dk1"/>
              </a:buClr>
              <a:buSzPts val="1001"/>
              <a:buNone/>
              <a:defRPr sz="1001"/>
            </a:lvl7pPr>
            <a:lvl8pPr marL="3657600" lvl="7" indent="-228600" algn="l">
              <a:lnSpc>
                <a:spcPct val="90000"/>
              </a:lnSpc>
              <a:spcBef>
                <a:spcPts val="500"/>
              </a:spcBef>
              <a:spcAft>
                <a:spcPts val="0"/>
              </a:spcAft>
              <a:buClr>
                <a:schemeClr val="dk1"/>
              </a:buClr>
              <a:buSzPts val="1001"/>
              <a:buNone/>
              <a:defRPr sz="1001"/>
            </a:lvl8pPr>
            <a:lvl9pPr marL="4114800" lvl="8" indent="-228600" algn="l">
              <a:lnSpc>
                <a:spcPct val="90000"/>
              </a:lnSpc>
              <a:spcBef>
                <a:spcPts val="500"/>
              </a:spcBef>
              <a:spcAft>
                <a:spcPts val="0"/>
              </a:spcAft>
              <a:buClr>
                <a:schemeClr val="dk1"/>
              </a:buClr>
              <a:buSzPts val="1001"/>
              <a:buNone/>
              <a:defRPr sz="1001"/>
            </a:lvl9pPr>
          </a:lstStyle>
          <a:p>
            <a:endParaRPr/>
          </a:p>
        </p:txBody>
      </p:sp>
      <p:sp>
        <p:nvSpPr>
          <p:cNvPr id="82" name="Google Shape;82;p7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7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5"/>
        <p:cNvGrpSpPr/>
        <p:nvPr/>
      </p:nvGrpSpPr>
      <p:grpSpPr>
        <a:xfrm>
          <a:off x="0" y="0"/>
          <a:ext cx="0" cy="0"/>
          <a:chOff x="0" y="0"/>
          <a:chExt cx="0" cy="0"/>
        </a:xfrm>
      </p:grpSpPr>
      <p:sp>
        <p:nvSpPr>
          <p:cNvPr id="86" name="Google Shape;86;p78"/>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78"/>
          <p:cNvSpPr>
            <a:spLocks noGrp="1"/>
          </p:cNvSpPr>
          <p:nvPr>
            <p:ph type="pic" idx="2"/>
          </p:nvPr>
        </p:nvSpPr>
        <p:spPr>
          <a:xfrm>
            <a:off x="5183188" y="987425"/>
            <a:ext cx="6172201" cy="4873625"/>
          </a:xfrm>
          <a:prstGeom prst="rect">
            <a:avLst/>
          </a:prstGeom>
          <a:noFill/>
          <a:ln>
            <a:noFill/>
          </a:ln>
        </p:spPr>
      </p:sp>
      <p:sp>
        <p:nvSpPr>
          <p:cNvPr id="88" name="Google Shape;88;p78"/>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1"/>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1"/>
              <a:buNone/>
              <a:defRPr sz="1401"/>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1"/>
              <a:buNone/>
              <a:defRPr sz="1001"/>
            </a:lvl4pPr>
            <a:lvl5pPr marL="2286000" lvl="4" indent="-228600" algn="l">
              <a:lnSpc>
                <a:spcPct val="90000"/>
              </a:lnSpc>
              <a:spcBef>
                <a:spcPts val="500"/>
              </a:spcBef>
              <a:spcAft>
                <a:spcPts val="0"/>
              </a:spcAft>
              <a:buClr>
                <a:schemeClr val="dk1"/>
              </a:buClr>
              <a:buSzPts val="1001"/>
              <a:buNone/>
              <a:defRPr sz="1001"/>
            </a:lvl5pPr>
            <a:lvl6pPr marL="2743200" lvl="5" indent="-228600" algn="l">
              <a:lnSpc>
                <a:spcPct val="90000"/>
              </a:lnSpc>
              <a:spcBef>
                <a:spcPts val="500"/>
              </a:spcBef>
              <a:spcAft>
                <a:spcPts val="0"/>
              </a:spcAft>
              <a:buClr>
                <a:schemeClr val="dk1"/>
              </a:buClr>
              <a:buSzPts val="1001"/>
              <a:buNone/>
              <a:defRPr sz="1001"/>
            </a:lvl6pPr>
            <a:lvl7pPr marL="3200400" lvl="6" indent="-228600" algn="l">
              <a:lnSpc>
                <a:spcPct val="90000"/>
              </a:lnSpc>
              <a:spcBef>
                <a:spcPts val="500"/>
              </a:spcBef>
              <a:spcAft>
                <a:spcPts val="0"/>
              </a:spcAft>
              <a:buClr>
                <a:schemeClr val="dk1"/>
              </a:buClr>
              <a:buSzPts val="1001"/>
              <a:buNone/>
              <a:defRPr sz="1001"/>
            </a:lvl7pPr>
            <a:lvl8pPr marL="3657600" lvl="7" indent="-228600" algn="l">
              <a:lnSpc>
                <a:spcPct val="90000"/>
              </a:lnSpc>
              <a:spcBef>
                <a:spcPts val="500"/>
              </a:spcBef>
              <a:spcAft>
                <a:spcPts val="0"/>
              </a:spcAft>
              <a:buClr>
                <a:schemeClr val="dk1"/>
              </a:buClr>
              <a:buSzPts val="1001"/>
              <a:buNone/>
              <a:defRPr sz="1001"/>
            </a:lvl8pPr>
            <a:lvl9pPr marL="4114800" lvl="8" indent="-228600" algn="l">
              <a:lnSpc>
                <a:spcPct val="90000"/>
              </a:lnSpc>
              <a:spcBef>
                <a:spcPts val="500"/>
              </a:spcBef>
              <a:spcAft>
                <a:spcPts val="0"/>
              </a:spcAft>
              <a:buClr>
                <a:schemeClr val="dk1"/>
              </a:buClr>
              <a:buSzPts val="1001"/>
              <a:buNone/>
              <a:defRPr sz="1001"/>
            </a:lvl9pPr>
          </a:lstStyle>
          <a:p>
            <a:endParaRPr/>
          </a:p>
        </p:txBody>
      </p:sp>
      <p:sp>
        <p:nvSpPr>
          <p:cNvPr id="89" name="Google Shape;89;p7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7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7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79"/>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9"/>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7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7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80"/>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0"/>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8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8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8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0"/>
        <p:cNvGrpSpPr/>
        <p:nvPr/>
      </p:nvGrpSpPr>
      <p:grpSpPr>
        <a:xfrm>
          <a:off x="0" y="0"/>
          <a:ext cx="0" cy="0"/>
          <a:chOff x="0" y="0"/>
          <a:chExt cx="0" cy="0"/>
        </a:xfrm>
      </p:grpSpPr>
      <p:sp>
        <p:nvSpPr>
          <p:cNvPr id="111" name="Google Shape;111;p7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7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1"/>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1"/>
              <a:buNone/>
              <a:defRPr sz="1801"/>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13" name="Google Shape;113;p7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7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7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6"/>
        <p:cNvGrpSpPr/>
        <p:nvPr/>
      </p:nvGrpSpPr>
      <p:grpSpPr>
        <a:xfrm>
          <a:off x="0" y="0"/>
          <a:ext cx="0" cy="0"/>
          <a:chOff x="0" y="0"/>
          <a:chExt cx="0" cy="0"/>
        </a:xfrm>
      </p:grpSpPr>
      <p:sp>
        <p:nvSpPr>
          <p:cNvPr id="117" name="Google Shape;117;p81"/>
          <p:cNvSpPr txBox="1">
            <a:spLocks noGrp="1"/>
          </p:cNvSpPr>
          <p:nvPr>
            <p:ph type="title"/>
          </p:nvPr>
        </p:nvSpPr>
        <p:spPr>
          <a:xfrm>
            <a:off x="838201" y="140144"/>
            <a:ext cx="9496647" cy="9745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Open Sans"/>
              <a:buNone/>
              <a:defRPr sz="40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81"/>
          <p:cNvSpPr txBox="1">
            <a:spLocks noGrp="1"/>
          </p:cNvSpPr>
          <p:nvPr>
            <p:ph type="body" idx="1"/>
          </p:nvPr>
        </p:nvSpPr>
        <p:spPr>
          <a:xfrm>
            <a:off x="838202" y="1414130"/>
            <a:ext cx="10515600" cy="476283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1"/>
              </a:spcBef>
              <a:spcAft>
                <a:spcPts val="0"/>
              </a:spcAft>
              <a:buClr>
                <a:schemeClr val="dk1"/>
              </a:buClr>
              <a:buSzPts val="2800"/>
              <a:buChar char="•"/>
              <a:defRPr>
                <a:latin typeface="Open Sans"/>
                <a:ea typeface="Open Sans"/>
                <a:cs typeface="Open Sans"/>
                <a:sym typeface="Open Sans"/>
              </a:defRPr>
            </a:lvl1pPr>
            <a:lvl2pPr marL="914400" lvl="1" indent="-381000" algn="l">
              <a:lnSpc>
                <a:spcPct val="90000"/>
              </a:lnSpc>
              <a:spcBef>
                <a:spcPts val="500"/>
              </a:spcBef>
              <a:spcAft>
                <a:spcPts val="0"/>
              </a:spcAft>
              <a:buClr>
                <a:schemeClr val="dk1"/>
              </a:buClr>
              <a:buSzPts val="2400"/>
              <a:buChar char="•"/>
              <a:defRPr>
                <a:latin typeface="Open Sans"/>
                <a:ea typeface="Open Sans"/>
                <a:cs typeface="Open Sans"/>
                <a:sym typeface="Open Sans"/>
              </a:defRPr>
            </a:lvl2pPr>
            <a:lvl3pPr marL="1371600" lvl="2" indent="-355600" algn="l">
              <a:lnSpc>
                <a:spcPct val="90000"/>
              </a:lnSpc>
              <a:spcBef>
                <a:spcPts val="500"/>
              </a:spcBef>
              <a:spcAft>
                <a:spcPts val="0"/>
              </a:spcAft>
              <a:buClr>
                <a:schemeClr val="dk1"/>
              </a:buClr>
              <a:buSzPts val="2000"/>
              <a:buChar char="•"/>
              <a:defRPr>
                <a:latin typeface="Open Sans"/>
                <a:ea typeface="Open Sans"/>
                <a:cs typeface="Open Sans"/>
                <a:sym typeface="Open Sans"/>
              </a:defRPr>
            </a:lvl3pPr>
            <a:lvl4pPr marL="1828800" lvl="3" indent="-342963" algn="l">
              <a:lnSpc>
                <a:spcPct val="90000"/>
              </a:lnSpc>
              <a:spcBef>
                <a:spcPts val="500"/>
              </a:spcBef>
              <a:spcAft>
                <a:spcPts val="0"/>
              </a:spcAft>
              <a:buClr>
                <a:schemeClr val="dk1"/>
              </a:buClr>
              <a:buSzPts val="1801"/>
              <a:buChar char="•"/>
              <a:defRPr>
                <a:latin typeface="Open Sans"/>
                <a:ea typeface="Open Sans"/>
                <a:cs typeface="Open Sans"/>
                <a:sym typeface="Open Sans"/>
              </a:defRPr>
            </a:lvl4pPr>
            <a:lvl5pPr marL="2286000" lvl="4" indent="-342963" algn="l">
              <a:lnSpc>
                <a:spcPct val="90000"/>
              </a:lnSpc>
              <a:spcBef>
                <a:spcPts val="500"/>
              </a:spcBef>
              <a:spcAft>
                <a:spcPts val="0"/>
              </a:spcAft>
              <a:buClr>
                <a:schemeClr val="dk1"/>
              </a:buClr>
              <a:buSzPts val="1801"/>
              <a:buChar char="•"/>
              <a:defRPr>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8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8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Open Sans"/>
                <a:ea typeface="Open Sans"/>
                <a:cs typeface="Open Sans"/>
                <a:sym typeface="Open San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8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Open Sans"/>
                <a:ea typeface="Open Sans"/>
                <a:cs typeface="Open Sans"/>
                <a:sym typeface="Open Sans"/>
              </a:defRPr>
            </a:lvl1pPr>
            <a:lvl2pPr marL="0" lvl="1" indent="0" algn="r">
              <a:spcBef>
                <a:spcPts val="0"/>
              </a:spcBef>
              <a:buNone/>
              <a:defRPr sz="1200">
                <a:solidFill>
                  <a:srgbClr val="888888"/>
                </a:solidFill>
                <a:latin typeface="Open Sans"/>
                <a:ea typeface="Open Sans"/>
                <a:cs typeface="Open Sans"/>
                <a:sym typeface="Open Sans"/>
              </a:defRPr>
            </a:lvl2pPr>
            <a:lvl3pPr marL="0" lvl="2" indent="0" algn="r">
              <a:spcBef>
                <a:spcPts val="0"/>
              </a:spcBef>
              <a:buNone/>
              <a:defRPr sz="1200">
                <a:solidFill>
                  <a:srgbClr val="888888"/>
                </a:solidFill>
                <a:latin typeface="Open Sans"/>
                <a:ea typeface="Open Sans"/>
                <a:cs typeface="Open Sans"/>
                <a:sym typeface="Open Sans"/>
              </a:defRPr>
            </a:lvl3pPr>
            <a:lvl4pPr marL="0" lvl="3" indent="0" algn="r">
              <a:spcBef>
                <a:spcPts val="0"/>
              </a:spcBef>
              <a:buNone/>
              <a:defRPr sz="1200">
                <a:solidFill>
                  <a:srgbClr val="888888"/>
                </a:solidFill>
                <a:latin typeface="Open Sans"/>
                <a:ea typeface="Open Sans"/>
                <a:cs typeface="Open Sans"/>
                <a:sym typeface="Open Sans"/>
              </a:defRPr>
            </a:lvl4pPr>
            <a:lvl5pPr marL="0" lvl="4" indent="0" algn="r">
              <a:spcBef>
                <a:spcPts val="0"/>
              </a:spcBef>
              <a:buNone/>
              <a:defRPr sz="1200">
                <a:solidFill>
                  <a:srgbClr val="888888"/>
                </a:solidFill>
                <a:latin typeface="Open Sans"/>
                <a:ea typeface="Open Sans"/>
                <a:cs typeface="Open Sans"/>
                <a:sym typeface="Open Sans"/>
              </a:defRPr>
            </a:lvl5pPr>
            <a:lvl6pPr marL="0" lvl="5" indent="0" algn="r">
              <a:spcBef>
                <a:spcPts val="0"/>
              </a:spcBef>
              <a:buNone/>
              <a:defRPr sz="1200">
                <a:solidFill>
                  <a:srgbClr val="888888"/>
                </a:solidFill>
                <a:latin typeface="Open Sans"/>
                <a:ea typeface="Open Sans"/>
                <a:cs typeface="Open Sans"/>
                <a:sym typeface="Open Sans"/>
              </a:defRPr>
            </a:lvl6pPr>
            <a:lvl7pPr marL="0" lvl="6" indent="0" algn="r">
              <a:spcBef>
                <a:spcPts val="0"/>
              </a:spcBef>
              <a:buNone/>
              <a:defRPr sz="1200">
                <a:solidFill>
                  <a:srgbClr val="888888"/>
                </a:solidFill>
                <a:latin typeface="Open Sans"/>
                <a:ea typeface="Open Sans"/>
                <a:cs typeface="Open Sans"/>
                <a:sym typeface="Open Sans"/>
              </a:defRPr>
            </a:lvl7pPr>
            <a:lvl8pPr marL="0" lvl="7" indent="0" algn="r">
              <a:spcBef>
                <a:spcPts val="0"/>
              </a:spcBef>
              <a:buNone/>
              <a:defRPr sz="1200">
                <a:solidFill>
                  <a:srgbClr val="888888"/>
                </a:solidFill>
                <a:latin typeface="Open Sans"/>
                <a:ea typeface="Open Sans"/>
                <a:cs typeface="Open Sans"/>
                <a:sym typeface="Open Sans"/>
              </a:defRPr>
            </a:lvl8pPr>
            <a:lvl9pPr marL="0" lvl="8" indent="0" algn="r">
              <a:spcBef>
                <a:spcPts val="0"/>
              </a:spcBef>
              <a:buNone/>
              <a:defRPr sz="1200">
                <a:solidFill>
                  <a:srgbClr val="888888"/>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cxnSp>
        <p:nvCxnSpPr>
          <p:cNvPr id="122" name="Google Shape;122;p81"/>
          <p:cNvCxnSpPr>
            <a:endCxn id="117" idx="1"/>
          </p:cNvCxnSpPr>
          <p:nvPr/>
        </p:nvCxnSpPr>
        <p:spPr>
          <a:xfrm>
            <a:off x="1" y="627433"/>
            <a:ext cx="838200" cy="0"/>
          </a:xfrm>
          <a:prstGeom prst="straightConnector1">
            <a:avLst/>
          </a:prstGeom>
          <a:noFill/>
          <a:ln w="76200" cap="flat" cmpd="sng">
            <a:solidFill>
              <a:srgbClr val="AE9962"/>
            </a:solidFill>
            <a:prstDash val="solid"/>
            <a:miter lim="800000"/>
            <a:headEnd type="none" w="sm" len="sm"/>
            <a:tailEnd type="none" w="sm" len="sm"/>
          </a:ln>
        </p:spPr>
      </p:cxnSp>
      <p:cxnSp>
        <p:nvCxnSpPr>
          <p:cNvPr id="123" name="Google Shape;123;p81"/>
          <p:cNvCxnSpPr/>
          <p:nvPr/>
        </p:nvCxnSpPr>
        <p:spPr>
          <a:xfrm>
            <a:off x="11353799" y="6517851"/>
            <a:ext cx="838201" cy="0"/>
          </a:xfrm>
          <a:prstGeom prst="straightConnector1">
            <a:avLst/>
          </a:prstGeom>
          <a:noFill/>
          <a:ln w="76200" cap="flat" cmpd="sng">
            <a:solidFill>
              <a:srgbClr val="AE9962"/>
            </a:solidFill>
            <a:prstDash val="solid"/>
            <a:miter lim="800000"/>
            <a:headEnd type="none" w="sm" len="sm"/>
            <a:tailEnd type="none" w="sm" len="sm"/>
          </a:ln>
        </p:spPr>
      </p:cxnSp>
      <p:sp>
        <p:nvSpPr>
          <p:cNvPr id="124" name="Google Shape;124;p81"/>
          <p:cNvSpPr txBox="1"/>
          <p:nvPr/>
        </p:nvSpPr>
        <p:spPr>
          <a:xfrm>
            <a:off x="11331889" y="683125"/>
            <a:ext cx="851728" cy="27725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601">
                <a:solidFill>
                  <a:srgbClr val="000000"/>
                </a:solidFill>
                <a:latin typeface="Arial"/>
                <a:ea typeface="Arial"/>
                <a:cs typeface="Arial"/>
                <a:sym typeface="Arial"/>
              </a:rPr>
              <a:t>Halal Development Corporation</a:t>
            </a:r>
            <a:endParaRPr/>
          </a:p>
        </p:txBody>
      </p:sp>
      <p:pic>
        <p:nvPicPr>
          <p:cNvPr id="125" name="Google Shape;125;p81" descr="Image result for hdc logo"/>
          <p:cNvPicPr preferRelativeResize="0"/>
          <p:nvPr/>
        </p:nvPicPr>
        <p:blipFill rotWithShape="1">
          <a:blip r:embed="rId2">
            <a:alphaModFix/>
          </a:blip>
          <a:srcRect/>
          <a:stretch/>
        </p:blipFill>
        <p:spPr>
          <a:xfrm>
            <a:off x="11505764" y="140144"/>
            <a:ext cx="503977" cy="503977"/>
          </a:xfrm>
          <a:prstGeom prst="rect">
            <a:avLst/>
          </a:prstGeom>
          <a:noFill/>
          <a:ln>
            <a:noFill/>
          </a:ln>
        </p:spPr>
      </p:pic>
      <p:pic>
        <p:nvPicPr>
          <p:cNvPr id="126" name="Google Shape;126;p81" descr="Image result for jata malaysia"/>
          <p:cNvPicPr preferRelativeResize="0"/>
          <p:nvPr/>
        </p:nvPicPr>
        <p:blipFill rotWithShape="1">
          <a:blip r:embed="rId3">
            <a:alphaModFix/>
          </a:blip>
          <a:srcRect/>
          <a:stretch/>
        </p:blipFill>
        <p:spPr>
          <a:xfrm>
            <a:off x="10566721" y="136379"/>
            <a:ext cx="717566" cy="561975"/>
          </a:xfrm>
          <a:prstGeom prst="rect">
            <a:avLst/>
          </a:prstGeom>
          <a:noFill/>
          <a:ln>
            <a:noFill/>
          </a:ln>
        </p:spPr>
      </p:pic>
      <p:sp>
        <p:nvSpPr>
          <p:cNvPr id="127" name="Google Shape;127;p81"/>
          <p:cNvSpPr txBox="1"/>
          <p:nvPr/>
        </p:nvSpPr>
        <p:spPr>
          <a:xfrm>
            <a:off x="10430204" y="688632"/>
            <a:ext cx="990601" cy="2772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1">
                <a:solidFill>
                  <a:schemeClr val="dk1"/>
                </a:solidFill>
                <a:latin typeface="Arial"/>
                <a:ea typeface="Arial"/>
                <a:cs typeface="Arial"/>
                <a:sym typeface="Arial"/>
              </a:rPr>
              <a:t>Ministry of Investment, Trade and Industry</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8"/>
        <p:cNvGrpSpPr/>
        <p:nvPr/>
      </p:nvGrpSpPr>
      <p:grpSpPr>
        <a:xfrm>
          <a:off x="0" y="0"/>
          <a:ext cx="0" cy="0"/>
          <a:chOff x="0" y="0"/>
          <a:chExt cx="0" cy="0"/>
        </a:xfrm>
      </p:grpSpPr>
      <p:sp>
        <p:nvSpPr>
          <p:cNvPr id="129" name="Google Shape;129;p82"/>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82"/>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1"/>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1"/>
              <a:buNone/>
              <a:defRPr sz="1801">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31" name="Google Shape;131;p8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8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8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4"/>
        <p:cNvGrpSpPr/>
        <p:nvPr/>
      </p:nvGrpSpPr>
      <p:grpSpPr>
        <a:xfrm>
          <a:off x="0" y="0"/>
          <a:ext cx="0" cy="0"/>
          <a:chOff x="0" y="0"/>
          <a:chExt cx="0" cy="0"/>
        </a:xfrm>
      </p:grpSpPr>
      <p:sp>
        <p:nvSpPr>
          <p:cNvPr id="135" name="Google Shape;135;p8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83"/>
          <p:cNvSpPr txBox="1">
            <a:spLocks noGrp="1"/>
          </p:cNvSpPr>
          <p:nvPr>
            <p:ph type="body" idx="1"/>
          </p:nvPr>
        </p:nvSpPr>
        <p:spPr>
          <a:xfrm>
            <a:off x="838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83"/>
          <p:cNvSpPr txBox="1">
            <a:spLocks noGrp="1"/>
          </p:cNvSpPr>
          <p:nvPr>
            <p:ph type="body" idx="2"/>
          </p:nvPr>
        </p:nvSpPr>
        <p:spPr>
          <a:xfrm>
            <a:off x="6172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8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8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8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1"/>
        <p:cNvGrpSpPr/>
        <p:nvPr/>
      </p:nvGrpSpPr>
      <p:grpSpPr>
        <a:xfrm>
          <a:off x="0" y="0"/>
          <a:ext cx="0" cy="0"/>
          <a:chOff x="0" y="0"/>
          <a:chExt cx="0" cy="0"/>
        </a:xfrm>
      </p:grpSpPr>
      <p:sp>
        <p:nvSpPr>
          <p:cNvPr id="142" name="Google Shape;142;p84"/>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84"/>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1"/>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1"/>
              <a:buNone/>
              <a:defRPr sz="1801"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4" name="Google Shape;144;p84"/>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84"/>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1"/>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1"/>
              <a:buNone/>
              <a:defRPr sz="1801"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6" name="Google Shape;146;p84"/>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8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8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8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0"/>
        <p:cNvGrpSpPr/>
        <p:nvPr/>
      </p:nvGrpSpPr>
      <p:grpSpPr>
        <a:xfrm>
          <a:off x="0" y="0"/>
          <a:ext cx="0" cy="0"/>
          <a:chOff x="0" y="0"/>
          <a:chExt cx="0" cy="0"/>
        </a:xfrm>
      </p:grpSpPr>
      <p:sp>
        <p:nvSpPr>
          <p:cNvPr id="151" name="Google Shape;151;p85"/>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8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8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8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5"/>
        <p:cNvGrpSpPr/>
        <p:nvPr/>
      </p:nvGrpSpPr>
      <p:grpSpPr>
        <a:xfrm>
          <a:off x="0" y="0"/>
          <a:ext cx="0" cy="0"/>
          <a:chOff x="0" y="0"/>
          <a:chExt cx="0" cy="0"/>
        </a:xfrm>
      </p:grpSpPr>
      <p:sp>
        <p:nvSpPr>
          <p:cNvPr id="156" name="Google Shape;156;p8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8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8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9"/>
        <p:cNvGrpSpPr/>
        <p:nvPr/>
      </p:nvGrpSpPr>
      <p:grpSpPr>
        <a:xfrm>
          <a:off x="0" y="0"/>
          <a:ext cx="0" cy="0"/>
          <a:chOff x="0" y="0"/>
          <a:chExt cx="0" cy="0"/>
        </a:xfrm>
      </p:grpSpPr>
      <p:sp>
        <p:nvSpPr>
          <p:cNvPr id="160" name="Google Shape;160;p87"/>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87"/>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1"/>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62" name="Google Shape;162;p87"/>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1"/>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1"/>
              <a:buNone/>
              <a:defRPr sz="1401"/>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1"/>
              <a:buNone/>
              <a:defRPr sz="1001"/>
            </a:lvl4pPr>
            <a:lvl5pPr marL="2286000" lvl="4" indent="-228600" algn="l">
              <a:lnSpc>
                <a:spcPct val="90000"/>
              </a:lnSpc>
              <a:spcBef>
                <a:spcPts val="500"/>
              </a:spcBef>
              <a:spcAft>
                <a:spcPts val="0"/>
              </a:spcAft>
              <a:buClr>
                <a:schemeClr val="dk1"/>
              </a:buClr>
              <a:buSzPts val="1001"/>
              <a:buNone/>
              <a:defRPr sz="1001"/>
            </a:lvl5pPr>
            <a:lvl6pPr marL="2743200" lvl="5" indent="-228600" algn="l">
              <a:lnSpc>
                <a:spcPct val="90000"/>
              </a:lnSpc>
              <a:spcBef>
                <a:spcPts val="500"/>
              </a:spcBef>
              <a:spcAft>
                <a:spcPts val="0"/>
              </a:spcAft>
              <a:buClr>
                <a:schemeClr val="dk1"/>
              </a:buClr>
              <a:buSzPts val="1001"/>
              <a:buNone/>
              <a:defRPr sz="1001"/>
            </a:lvl6pPr>
            <a:lvl7pPr marL="3200400" lvl="6" indent="-228600" algn="l">
              <a:lnSpc>
                <a:spcPct val="90000"/>
              </a:lnSpc>
              <a:spcBef>
                <a:spcPts val="500"/>
              </a:spcBef>
              <a:spcAft>
                <a:spcPts val="0"/>
              </a:spcAft>
              <a:buClr>
                <a:schemeClr val="dk1"/>
              </a:buClr>
              <a:buSzPts val="1001"/>
              <a:buNone/>
              <a:defRPr sz="1001"/>
            </a:lvl7pPr>
            <a:lvl8pPr marL="3657600" lvl="7" indent="-228600" algn="l">
              <a:lnSpc>
                <a:spcPct val="90000"/>
              </a:lnSpc>
              <a:spcBef>
                <a:spcPts val="500"/>
              </a:spcBef>
              <a:spcAft>
                <a:spcPts val="0"/>
              </a:spcAft>
              <a:buClr>
                <a:schemeClr val="dk1"/>
              </a:buClr>
              <a:buSzPts val="1001"/>
              <a:buNone/>
              <a:defRPr sz="1001"/>
            </a:lvl8pPr>
            <a:lvl9pPr marL="4114800" lvl="8" indent="-228600" algn="l">
              <a:lnSpc>
                <a:spcPct val="90000"/>
              </a:lnSpc>
              <a:spcBef>
                <a:spcPts val="500"/>
              </a:spcBef>
              <a:spcAft>
                <a:spcPts val="0"/>
              </a:spcAft>
              <a:buClr>
                <a:schemeClr val="dk1"/>
              </a:buClr>
              <a:buSzPts val="1001"/>
              <a:buNone/>
              <a:defRPr sz="1001"/>
            </a:lvl9pPr>
          </a:lstStyle>
          <a:p>
            <a:endParaRPr/>
          </a:p>
        </p:txBody>
      </p:sp>
      <p:sp>
        <p:nvSpPr>
          <p:cNvPr id="163" name="Google Shape;163;p8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8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8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66"/>
        <p:cNvGrpSpPr/>
        <p:nvPr/>
      </p:nvGrpSpPr>
      <p:grpSpPr>
        <a:xfrm>
          <a:off x="0" y="0"/>
          <a:ext cx="0" cy="0"/>
          <a:chOff x="0" y="0"/>
          <a:chExt cx="0" cy="0"/>
        </a:xfrm>
      </p:grpSpPr>
      <p:sp>
        <p:nvSpPr>
          <p:cNvPr id="167" name="Google Shape;167;p88"/>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88"/>
          <p:cNvSpPr>
            <a:spLocks noGrp="1"/>
          </p:cNvSpPr>
          <p:nvPr>
            <p:ph type="pic" idx="2"/>
          </p:nvPr>
        </p:nvSpPr>
        <p:spPr>
          <a:xfrm>
            <a:off x="5183188" y="987425"/>
            <a:ext cx="6172201" cy="4873625"/>
          </a:xfrm>
          <a:prstGeom prst="rect">
            <a:avLst/>
          </a:prstGeom>
          <a:noFill/>
          <a:ln>
            <a:noFill/>
          </a:ln>
        </p:spPr>
      </p:sp>
      <p:sp>
        <p:nvSpPr>
          <p:cNvPr id="169" name="Google Shape;169;p88"/>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1"/>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1"/>
              <a:buNone/>
              <a:defRPr sz="1401"/>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1"/>
              <a:buNone/>
              <a:defRPr sz="1001"/>
            </a:lvl4pPr>
            <a:lvl5pPr marL="2286000" lvl="4" indent="-228600" algn="l">
              <a:lnSpc>
                <a:spcPct val="90000"/>
              </a:lnSpc>
              <a:spcBef>
                <a:spcPts val="500"/>
              </a:spcBef>
              <a:spcAft>
                <a:spcPts val="0"/>
              </a:spcAft>
              <a:buClr>
                <a:schemeClr val="dk1"/>
              </a:buClr>
              <a:buSzPts val="1001"/>
              <a:buNone/>
              <a:defRPr sz="1001"/>
            </a:lvl5pPr>
            <a:lvl6pPr marL="2743200" lvl="5" indent="-228600" algn="l">
              <a:lnSpc>
                <a:spcPct val="90000"/>
              </a:lnSpc>
              <a:spcBef>
                <a:spcPts val="500"/>
              </a:spcBef>
              <a:spcAft>
                <a:spcPts val="0"/>
              </a:spcAft>
              <a:buClr>
                <a:schemeClr val="dk1"/>
              </a:buClr>
              <a:buSzPts val="1001"/>
              <a:buNone/>
              <a:defRPr sz="1001"/>
            </a:lvl6pPr>
            <a:lvl7pPr marL="3200400" lvl="6" indent="-228600" algn="l">
              <a:lnSpc>
                <a:spcPct val="90000"/>
              </a:lnSpc>
              <a:spcBef>
                <a:spcPts val="500"/>
              </a:spcBef>
              <a:spcAft>
                <a:spcPts val="0"/>
              </a:spcAft>
              <a:buClr>
                <a:schemeClr val="dk1"/>
              </a:buClr>
              <a:buSzPts val="1001"/>
              <a:buNone/>
              <a:defRPr sz="1001"/>
            </a:lvl7pPr>
            <a:lvl8pPr marL="3657600" lvl="7" indent="-228600" algn="l">
              <a:lnSpc>
                <a:spcPct val="90000"/>
              </a:lnSpc>
              <a:spcBef>
                <a:spcPts val="500"/>
              </a:spcBef>
              <a:spcAft>
                <a:spcPts val="0"/>
              </a:spcAft>
              <a:buClr>
                <a:schemeClr val="dk1"/>
              </a:buClr>
              <a:buSzPts val="1001"/>
              <a:buNone/>
              <a:defRPr sz="1001"/>
            </a:lvl8pPr>
            <a:lvl9pPr marL="4114800" lvl="8" indent="-228600" algn="l">
              <a:lnSpc>
                <a:spcPct val="90000"/>
              </a:lnSpc>
              <a:spcBef>
                <a:spcPts val="500"/>
              </a:spcBef>
              <a:spcAft>
                <a:spcPts val="0"/>
              </a:spcAft>
              <a:buClr>
                <a:schemeClr val="dk1"/>
              </a:buClr>
              <a:buSzPts val="1001"/>
              <a:buNone/>
              <a:defRPr sz="1001"/>
            </a:lvl9pPr>
          </a:lstStyle>
          <a:p>
            <a:endParaRPr/>
          </a:p>
        </p:txBody>
      </p:sp>
      <p:sp>
        <p:nvSpPr>
          <p:cNvPr id="170" name="Google Shape;170;p8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p8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p8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3"/>
        <p:cNvGrpSpPr/>
        <p:nvPr/>
      </p:nvGrpSpPr>
      <p:grpSpPr>
        <a:xfrm>
          <a:off x="0" y="0"/>
          <a:ext cx="0" cy="0"/>
          <a:chOff x="0" y="0"/>
          <a:chExt cx="0" cy="0"/>
        </a:xfrm>
      </p:grpSpPr>
      <p:sp>
        <p:nvSpPr>
          <p:cNvPr id="174" name="Google Shape;174;p89"/>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89"/>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8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8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8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79"/>
        <p:cNvGrpSpPr/>
        <p:nvPr/>
      </p:nvGrpSpPr>
      <p:grpSpPr>
        <a:xfrm>
          <a:off x="0" y="0"/>
          <a:ext cx="0" cy="0"/>
          <a:chOff x="0" y="0"/>
          <a:chExt cx="0" cy="0"/>
        </a:xfrm>
      </p:grpSpPr>
      <p:sp>
        <p:nvSpPr>
          <p:cNvPr id="180" name="Google Shape;180;p90"/>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90"/>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1"/>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9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9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9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1"/>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4pPr>
            <a:lvl5pPr marL="2286000" marR="0" lvl="4"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5pPr>
            <a:lvl6pPr marL="2743200" marR="0" lvl="5"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6pPr>
            <a:lvl7pPr marL="3200400" marR="0" lvl="6"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7pPr>
            <a:lvl8pPr marL="3657600" marR="0" lvl="7"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8pPr>
            <a:lvl9pPr marL="4114800" marR="0" lvl="8"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9pPr>
          </a:lstStyle>
          <a:p>
            <a:endParaRPr/>
          </a:p>
        </p:txBody>
      </p:sp>
      <p:sp>
        <p:nvSpPr>
          <p:cNvPr id="12" name="Google Shape;12;p6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71"/>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6" name="Google Shape;106;p71"/>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1"/>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4pPr>
            <a:lvl5pPr marL="2286000" marR="0" lvl="4"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5pPr>
            <a:lvl6pPr marL="2743200" marR="0" lvl="5"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6pPr>
            <a:lvl7pPr marL="3200400" marR="0" lvl="6"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7pPr>
            <a:lvl8pPr marL="3657600" marR="0" lvl="7"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8pPr>
            <a:lvl9pPr marL="4114800" marR="0" lvl="8" indent="-342963" algn="l" rtl="0">
              <a:lnSpc>
                <a:spcPct val="90000"/>
              </a:lnSpc>
              <a:spcBef>
                <a:spcPts val="500"/>
              </a:spcBef>
              <a:spcAft>
                <a:spcPts val="0"/>
              </a:spcAft>
              <a:buClr>
                <a:schemeClr val="dk1"/>
              </a:buClr>
              <a:buSzPts val="1801"/>
              <a:buFont typeface="Arial"/>
              <a:buChar char="•"/>
              <a:defRPr sz="1801" b="0" i="0" u="none" strike="noStrike" cap="none">
                <a:solidFill>
                  <a:schemeClr val="dk1"/>
                </a:solidFill>
                <a:latin typeface="Calibri"/>
                <a:ea typeface="Calibri"/>
                <a:cs typeface="Calibri"/>
                <a:sym typeface="Calibri"/>
              </a:defRPr>
            </a:lvl9pPr>
          </a:lstStyle>
          <a:p>
            <a:endParaRPr/>
          </a:p>
        </p:txBody>
      </p:sp>
      <p:sp>
        <p:nvSpPr>
          <p:cNvPr id="107" name="Google Shape;107;p7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8" name="Google Shape;108;p7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9" name="Google Shape;109;p7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jpg"/></Relationships>
</file>

<file path=ppt/slides/_rels/slide4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45.jpg"/><Relationship Id="rId3" Type="http://schemas.openxmlformats.org/officeDocument/2006/relationships/image" Target="../media/image40.jpg"/><Relationship Id="rId7" Type="http://schemas.openxmlformats.org/officeDocument/2006/relationships/image" Target="../media/image44.jp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1.jpg"/><Relationship Id="rId9" Type="http://schemas.openxmlformats.org/officeDocument/2006/relationships/image" Target="../media/image46.jp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8.jpg"/></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jp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forms.gle/F1WkvXqj1eUdERTB9"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endParaRPr/>
          </a:p>
        </p:txBody>
      </p:sp>
      <p:sp>
        <p:nvSpPr>
          <p:cNvPr id="190" name="Google Shape;190;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pic>
        <p:nvPicPr>
          <p:cNvPr id="191" name="Google Shape;191;p1"/>
          <p:cNvPicPr preferRelativeResize="0"/>
          <p:nvPr/>
        </p:nvPicPr>
        <p:blipFill rotWithShape="1">
          <a:blip r:embed="rId3">
            <a:alphaModFix/>
          </a:blip>
          <a:srcRect l="604" r="669" b="25470"/>
          <a:stretch/>
        </p:blipFill>
        <p:spPr>
          <a:xfrm>
            <a:off x="0" y="0"/>
            <a:ext cx="12237748" cy="6858000"/>
          </a:xfrm>
          <a:prstGeom prst="rect">
            <a:avLst/>
          </a:prstGeom>
          <a:noFill/>
          <a:ln>
            <a:noFill/>
          </a:ln>
        </p:spPr>
      </p:pic>
      <p:sp>
        <p:nvSpPr>
          <p:cNvPr id="192" name="Google Shape;192;p1"/>
          <p:cNvSpPr txBox="1"/>
          <p:nvPr/>
        </p:nvSpPr>
        <p:spPr>
          <a:xfrm>
            <a:off x="2698172" y="3476500"/>
            <a:ext cx="91440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chemeClr val="lt1"/>
                </a:solidFill>
                <a:latin typeface="Open Sans"/>
                <a:ea typeface="Open Sans"/>
                <a:cs typeface="Open Sans"/>
                <a:sym typeface="Open Sans"/>
              </a:rPr>
              <a:t>HALAL COMPLIANCE EXECUTIVE TRAINING: CU 1</a:t>
            </a:r>
            <a:endParaRPr sz="4000" b="1">
              <a:solidFill>
                <a:schemeClr val="lt1"/>
              </a:solidFill>
              <a:latin typeface="Open Sans"/>
              <a:ea typeface="Open Sans"/>
              <a:cs typeface="Open Sans"/>
              <a:sym typeface="Open Sans"/>
            </a:endParaRPr>
          </a:p>
        </p:txBody>
      </p:sp>
      <p:sp>
        <p:nvSpPr>
          <p:cNvPr id="193" name="Google Shape;193;p1"/>
          <p:cNvSpPr txBox="1"/>
          <p:nvPr/>
        </p:nvSpPr>
        <p:spPr>
          <a:xfrm>
            <a:off x="499358" y="1448283"/>
            <a:ext cx="165463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b="1">
                <a:solidFill>
                  <a:schemeClr val="lt1"/>
                </a:solidFill>
                <a:latin typeface="Arial"/>
                <a:ea typeface="Arial"/>
                <a:cs typeface="Arial"/>
                <a:sym typeface="Arial"/>
              </a:rPr>
              <a:t>Ministry of Investment, Trade &amp; Industry</a:t>
            </a:r>
            <a:endParaRPr/>
          </a:p>
        </p:txBody>
      </p:sp>
      <p:sp>
        <p:nvSpPr>
          <p:cNvPr id="194" name="Google Shape;194;p1"/>
          <p:cNvSpPr txBox="1"/>
          <p:nvPr/>
        </p:nvSpPr>
        <p:spPr>
          <a:xfrm>
            <a:off x="2698172" y="6014253"/>
            <a:ext cx="624048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Open Sans"/>
                <a:ea typeface="Open Sans"/>
                <a:cs typeface="Open Sans"/>
                <a:sym typeface="Open Sans"/>
              </a:rPr>
              <a:t>HALAL TRAINING INSTITUTE (HTI)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latin typeface="Calibri"/>
                <a:ea typeface="Calibri"/>
                <a:cs typeface="Calibri"/>
                <a:sym typeface="Calibri"/>
              </a:rPr>
              <a:t>TRAINING AGENDA</a:t>
            </a:r>
            <a:endParaRPr/>
          </a:p>
        </p:txBody>
      </p:sp>
      <p:grpSp>
        <p:nvGrpSpPr>
          <p:cNvPr id="200" name="Google Shape;200;p2"/>
          <p:cNvGrpSpPr/>
          <p:nvPr/>
        </p:nvGrpSpPr>
        <p:grpSpPr>
          <a:xfrm>
            <a:off x="843848" y="1266825"/>
            <a:ext cx="10504303" cy="4910138"/>
            <a:chOff x="5648" y="0"/>
            <a:chExt cx="10504303" cy="4910138"/>
          </a:xfrm>
        </p:grpSpPr>
        <p:sp>
          <p:nvSpPr>
            <p:cNvPr id="201" name="Google Shape;201;p2"/>
            <p:cNvSpPr/>
            <p:nvPr/>
          </p:nvSpPr>
          <p:spPr>
            <a:xfrm>
              <a:off x="5648" y="0"/>
              <a:ext cx="1981944" cy="4910138"/>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txBox="1"/>
            <p:nvPr/>
          </p:nvSpPr>
          <p:spPr>
            <a:xfrm>
              <a:off x="5648" y="0"/>
              <a:ext cx="1981944" cy="1473041"/>
            </a:xfrm>
            <a:prstGeom prst="rect">
              <a:avLst/>
            </a:prstGeom>
            <a:noFill/>
            <a:ln>
              <a:noFill/>
            </a:ln>
          </p:spPr>
          <p:txBody>
            <a:bodyPr spcFirstLastPara="1" wrap="square" lIns="236200" tIns="236200" rIns="236200" bIns="236200" anchor="ctr" anchorCtr="0">
              <a:noAutofit/>
            </a:bodyPr>
            <a:lstStyle/>
            <a:p>
              <a:pPr marL="0" marR="0" lvl="0" indent="0" algn="ctr" rtl="0">
                <a:lnSpc>
                  <a:spcPct val="90000"/>
                </a:lnSpc>
                <a:spcBef>
                  <a:spcPts val="0"/>
                </a:spcBef>
                <a:spcAft>
                  <a:spcPts val="0"/>
                </a:spcAft>
                <a:buClr>
                  <a:schemeClr val="dk1"/>
                </a:buClr>
                <a:buSzPts val="6200"/>
                <a:buFont typeface="Calibri"/>
                <a:buNone/>
              </a:pPr>
              <a:r>
                <a:rPr lang="en-US" sz="6200" b="1">
                  <a:solidFill>
                    <a:schemeClr val="dk1"/>
                  </a:solidFill>
                  <a:latin typeface="Calibri"/>
                  <a:ea typeface="Calibri"/>
                  <a:cs typeface="Calibri"/>
                  <a:sym typeface="Calibri"/>
                </a:rPr>
                <a:t>CU 1</a:t>
              </a:r>
              <a:endParaRPr/>
            </a:p>
          </p:txBody>
        </p:sp>
        <p:sp>
          <p:nvSpPr>
            <p:cNvPr id="203" name="Google Shape;203;p2"/>
            <p:cNvSpPr/>
            <p:nvPr/>
          </p:nvSpPr>
          <p:spPr>
            <a:xfrm>
              <a:off x="203842" y="1473041"/>
              <a:ext cx="1585555" cy="3191589"/>
            </a:xfrm>
            <a:prstGeom prst="roundRect">
              <a:avLst>
                <a:gd name="adj" fmla="val 1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txBox="1"/>
            <p:nvPr/>
          </p:nvSpPr>
          <p:spPr>
            <a:xfrm>
              <a:off x="250281" y="1519480"/>
              <a:ext cx="1492677" cy="3098711"/>
            </a:xfrm>
            <a:prstGeom prst="rect">
              <a:avLst/>
            </a:prstGeom>
            <a:noFill/>
            <a:ln>
              <a:noFill/>
            </a:ln>
          </p:spPr>
          <p:txBody>
            <a:bodyPr spcFirstLastPara="1" wrap="square" lIns="45700" tIns="34275" rIns="45700" bIns="342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Halal Manual &amp; Record Administration</a:t>
              </a:r>
              <a:endParaRPr/>
            </a:p>
          </p:txBody>
        </p:sp>
        <p:sp>
          <p:nvSpPr>
            <p:cNvPr id="205" name="Google Shape;205;p2"/>
            <p:cNvSpPr/>
            <p:nvPr/>
          </p:nvSpPr>
          <p:spPr>
            <a:xfrm>
              <a:off x="2136237" y="0"/>
              <a:ext cx="1981944" cy="4910138"/>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txBox="1"/>
            <p:nvPr/>
          </p:nvSpPr>
          <p:spPr>
            <a:xfrm>
              <a:off x="2136237" y="0"/>
              <a:ext cx="1981944" cy="1473041"/>
            </a:xfrm>
            <a:prstGeom prst="rect">
              <a:avLst/>
            </a:prstGeom>
            <a:noFill/>
            <a:ln>
              <a:noFill/>
            </a:ln>
          </p:spPr>
          <p:txBody>
            <a:bodyPr spcFirstLastPara="1" wrap="square" lIns="236200" tIns="236200" rIns="236200" bIns="236200" anchor="ctr" anchorCtr="0">
              <a:noAutofit/>
            </a:bodyPr>
            <a:lstStyle/>
            <a:p>
              <a:pPr marL="0" marR="0" lvl="0" indent="0" algn="ctr" rtl="0">
                <a:lnSpc>
                  <a:spcPct val="90000"/>
                </a:lnSpc>
                <a:spcBef>
                  <a:spcPts val="0"/>
                </a:spcBef>
                <a:spcAft>
                  <a:spcPts val="0"/>
                </a:spcAft>
                <a:buClr>
                  <a:schemeClr val="dk1"/>
                </a:buClr>
                <a:buSzPts val="6200"/>
                <a:buFont typeface="Calibri"/>
                <a:buNone/>
              </a:pPr>
              <a:r>
                <a:rPr lang="en-US" sz="6200" b="1">
                  <a:solidFill>
                    <a:schemeClr val="dk1"/>
                  </a:solidFill>
                  <a:latin typeface="Calibri"/>
                  <a:ea typeface="Calibri"/>
                  <a:cs typeface="Calibri"/>
                  <a:sym typeface="Calibri"/>
                </a:rPr>
                <a:t>CU 2</a:t>
              </a:r>
              <a:endParaRPr/>
            </a:p>
          </p:txBody>
        </p:sp>
        <p:sp>
          <p:nvSpPr>
            <p:cNvPr id="207" name="Google Shape;207;p2"/>
            <p:cNvSpPr/>
            <p:nvPr/>
          </p:nvSpPr>
          <p:spPr>
            <a:xfrm>
              <a:off x="2334432" y="1473041"/>
              <a:ext cx="1585555" cy="3191589"/>
            </a:xfrm>
            <a:prstGeom prst="roundRect">
              <a:avLst>
                <a:gd name="adj" fmla="val 1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txBox="1"/>
            <p:nvPr/>
          </p:nvSpPr>
          <p:spPr>
            <a:xfrm>
              <a:off x="2380871" y="1519480"/>
              <a:ext cx="1492677" cy="3098711"/>
            </a:xfrm>
            <a:prstGeom prst="rect">
              <a:avLst/>
            </a:prstGeom>
            <a:noFill/>
            <a:ln>
              <a:noFill/>
            </a:ln>
          </p:spPr>
          <p:txBody>
            <a:bodyPr spcFirstLastPara="1" wrap="square" lIns="45700" tIns="34275" rIns="45700" bIns="342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Internal Halal Management Team (IHMT) / Internal Halal Committee (IHC)</a:t>
              </a:r>
              <a:endParaRPr sz="1800">
                <a:solidFill>
                  <a:schemeClr val="lt1"/>
                </a:solidFill>
                <a:latin typeface="Calibri"/>
                <a:ea typeface="Calibri"/>
                <a:cs typeface="Calibri"/>
                <a:sym typeface="Calibri"/>
              </a:endParaRPr>
            </a:p>
          </p:txBody>
        </p:sp>
        <p:sp>
          <p:nvSpPr>
            <p:cNvPr id="209" name="Google Shape;209;p2"/>
            <p:cNvSpPr/>
            <p:nvPr/>
          </p:nvSpPr>
          <p:spPr>
            <a:xfrm>
              <a:off x="4266827" y="0"/>
              <a:ext cx="1981944" cy="4910138"/>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txBox="1"/>
            <p:nvPr/>
          </p:nvSpPr>
          <p:spPr>
            <a:xfrm>
              <a:off x="4266827" y="0"/>
              <a:ext cx="1981944" cy="1473041"/>
            </a:xfrm>
            <a:prstGeom prst="rect">
              <a:avLst/>
            </a:prstGeom>
            <a:noFill/>
            <a:ln>
              <a:noFill/>
            </a:ln>
          </p:spPr>
          <p:txBody>
            <a:bodyPr spcFirstLastPara="1" wrap="square" lIns="236200" tIns="236200" rIns="236200" bIns="236200" anchor="ctr" anchorCtr="0">
              <a:noAutofit/>
            </a:bodyPr>
            <a:lstStyle/>
            <a:p>
              <a:pPr marL="0" marR="0" lvl="0" indent="0" algn="ctr" rtl="0">
                <a:lnSpc>
                  <a:spcPct val="90000"/>
                </a:lnSpc>
                <a:spcBef>
                  <a:spcPts val="0"/>
                </a:spcBef>
                <a:spcAft>
                  <a:spcPts val="0"/>
                </a:spcAft>
                <a:buClr>
                  <a:schemeClr val="dk1"/>
                </a:buClr>
                <a:buSzPts val="6200"/>
                <a:buFont typeface="Calibri"/>
                <a:buNone/>
              </a:pPr>
              <a:r>
                <a:rPr lang="en-US" sz="6200" b="1">
                  <a:solidFill>
                    <a:schemeClr val="dk1"/>
                  </a:solidFill>
                  <a:latin typeface="Calibri"/>
                  <a:ea typeface="Calibri"/>
                  <a:cs typeface="Calibri"/>
                  <a:sym typeface="Calibri"/>
                </a:rPr>
                <a:t>CU 3</a:t>
              </a:r>
              <a:endParaRPr/>
            </a:p>
          </p:txBody>
        </p:sp>
        <p:sp>
          <p:nvSpPr>
            <p:cNvPr id="211" name="Google Shape;211;p2"/>
            <p:cNvSpPr/>
            <p:nvPr/>
          </p:nvSpPr>
          <p:spPr>
            <a:xfrm>
              <a:off x="4465022" y="1473041"/>
              <a:ext cx="1585555" cy="3191589"/>
            </a:xfrm>
            <a:prstGeom prst="roundRect">
              <a:avLst>
                <a:gd name="adj" fmla="val 1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txBox="1"/>
            <p:nvPr/>
          </p:nvSpPr>
          <p:spPr>
            <a:xfrm>
              <a:off x="4511461" y="1519480"/>
              <a:ext cx="1492677" cy="3098711"/>
            </a:xfrm>
            <a:prstGeom prst="rect">
              <a:avLst/>
            </a:prstGeom>
            <a:noFill/>
            <a:ln>
              <a:noFill/>
            </a:ln>
          </p:spPr>
          <p:txBody>
            <a:bodyPr spcFirstLastPara="1" wrap="square" lIns="45700" tIns="34275" rIns="45700" bIns="342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Halal Assurance System</a:t>
              </a:r>
              <a:endParaRPr/>
            </a:p>
          </p:txBody>
        </p:sp>
        <p:sp>
          <p:nvSpPr>
            <p:cNvPr id="213" name="Google Shape;213;p2"/>
            <p:cNvSpPr/>
            <p:nvPr/>
          </p:nvSpPr>
          <p:spPr>
            <a:xfrm>
              <a:off x="6397417" y="0"/>
              <a:ext cx="1981944" cy="4910138"/>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txBox="1"/>
            <p:nvPr/>
          </p:nvSpPr>
          <p:spPr>
            <a:xfrm>
              <a:off x="6397417" y="0"/>
              <a:ext cx="1981944" cy="1473041"/>
            </a:xfrm>
            <a:prstGeom prst="rect">
              <a:avLst/>
            </a:prstGeom>
            <a:noFill/>
            <a:ln>
              <a:noFill/>
            </a:ln>
          </p:spPr>
          <p:txBody>
            <a:bodyPr spcFirstLastPara="1" wrap="square" lIns="236200" tIns="236200" rIns="236200" bIns="236200" anchor="ctr" anchorCtr="0">
              <a:noAutofit/>
            </a:bodyPr>
            <a:lstStyle/>
            <a:p>
              <a:pPr marL="0" marR="0" lvl="0" indent="0" algn="ctr" rtl="0">
                <a:lnSpc>
                  <a:spcPct val="90000"/>
                </a:lnSpc>
                <a:spcBef>
                  <a:spcPts val="0"/>
                </a:spcBef>
                <a:spcAft>
                  <a:spcPts val="0"/>
                </a:spcAft>
                <a:buClr>
                  <a:schemeClr val="dk1"/>
                </a:buClr>
                <a:buSzPts val="6200"/>
                <a:buFont typeface="Calibri"/>
                <a:buNone/>
              </a:pPr>
              <a:r>
                <a:rPr lang="en-US" sz="6200" b="1">
                  <a:solidFill>
                    <a:schemeClr val="dk1"/>
                  </a:solidFill>
                  <a:latin typeface="Calibri"/>
                  <a:ea typeface="Calibri"/>
                  <a:cs typeface="Calibri"/>
                  <a:sym typeface="Calibri"/>
                </a:rPr>
                <a:t>CU 4</a:t>
              </a:r>
              <a:endParaRPr/>
            </a:p>
          </p:txBody>
        </p:sp>
        <p:sp>
          <p:nvSpPr>
            <p:cNvPr id="215" name="Google Shape;215;p2"/>
            <p:cNvSpPr/>
            <p:nvPr/>
          </p:nvSpPr>
          <p:spPr>
            <a:xfrm>
              <a:off x="6595612" y="1473041"/>
              <a:ext cx="1585555" cy="3191589"/>
            </a:xfrm>
            <a:prstGeom prst="roundRect">
              <a:avLst>
                <a:gd name="adj" fmla="val 1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txBox="1"/>
            <p:nvPr/>
          </p:nvSpPr>
          <p:spPr>
            <a:xfrm>
              <a:off x="6642051" y="1519480"/>
              <a:ext cx="1492677" cy="3098711"/>
            </a:xfrm>
            <a:prstGeom prst="rect">
              <a:avLst/>
            </a:prstGeom>
            <a:noFill/>
            <a:ln>
              <a:noFill/>
            </a:ln>
          </p:spPr>
          <p:txBody>
            <a:bodyPr spcFirstLastPara="1" wrap="square" lIns="45700" tIns="34275" rIns="45700" bIns="342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Halal Certification Process Administration</a:t>
              </a:r>
              <a:endParaRPr/>
            </a:p>
          </p:txBody>
        </p:sp>
        <p:sp>
          <p:nvSpPr>
            <p:cNvPr id="217" name="Google Shape;217;p2"/>
            <p:cNvSpPr/>
            <p:nvPr/>
          </p:nvSpPr>
          <p:spPr>
            <a:xfrm>
              <a:off x="8528007" y="0"/>
              <a:ext cx="1981944" cy="4910138"/>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txBox="1"/>
            <p:nvPr/>
          </p:nvSpPr>
          <p:spPr>
            <a:xfrm>
              <a:off x="8528007" y="0"/>
              <a:ext cx="1981944" cy="1473041"/>
            </a:xfrm>
            <a:prstGeom prst="rect">
              <a:avLst/>
            </a:prstGeom>
            <a:noFill/>
            <a:ln>
              <a:noFill/>
            </a:ln>
          </p:spPr>
          <p:txBody>
            <a:bodyPr spcFirstLastPara="1" wrap="square" lIns="236200" tIns="236200" rIns="236200" bIns="236200" anchor="ctr" anchorCtr="0">
              <a:noAutofit/>
            </a:bodyPr>
            <a:lstStyle/>
            <a:p>
              <a:pPr marL="0" marR="0" lvl="0" indent="0" algn="ctr" rtl="0">
                <a:lnSpc>
                  <a:spcPct val="90000"/>
                </a:lnSpc>
                <a:spcBef>
                  <a:spcPts val="0"/>
                </a:spcBef>
                <a:spcAft>
                  <a:spcPts val="0"/>
                </a:spcAft>
                <a:buClr>
                  <a:schemeClr val="dk1"/>
                </a:buClr>
                <a:buSzPts val="6200"/>
                <a:buFont typeface="Calibri"/>
                <a:buNone/>
              </a:pPr>
              <a:r>
                <a:rPr lang="en-US" sz="6200" b="1">
                  <a:solidFill>
                    <a:schemeClr val="dk1"/>
                  </a:solidFill>
                  <a:latin typeface="Calibri"/>
                  <a:ea typeface="Calibri"/>
                  <a:cs typeface="Calibri"/>
                  <a:sym typeface="Calibri"/>
                </a:rPr>
                <a:t>CU 5</a:t>
              </a:r>
              <a:endParaRPr/>
            </a:p>
          </p:txBody>
        </p:sp>
        <p:sp>
          <p:nvSpPr>
            <p:cNvPr id="219" name="Google Shape;219;p2"/>
            <p:cNvSpPr/>
            <p:nvPr/>
          </p:nvSpPr>
          <p:spPr>
            <a:xfrm>
              <a:off x="8726202" y="1473041"/>
              <a:ext cx="1585555" cy="3191589"/>
            </a:xfrm>
            <a:prstGeom prst="roundRect">
              <a:avLst>
                <a:gd name="adj" fmla="val 1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txBox="1"/>
            <p:nvPr/>
          </p:nvSpPr>
          <p:spPr>
            <a:xfrm>
              <a:off x="8772641" y="1519480"/>
              <a:ext cx="1492677" cy="3098711"/>
            </a:xfrm>
            <a:prstGeom prst="rect">
              <a:avLst/>
            </a:prstGeom>
            <a:noFill/>
            <a:ln>
              <a:noFill/>
            </a:ln>
          </p:spPr>
          <p:txBody>
            <a:bodyPr spcFirstLastPara="1" wrap="square" lIns="45700" tIns="34275" rIns="45700" bIns="342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Halal Internal Audit Facilitation</a:t>
              </a:r>
              <a:endParaRPr/>
            </a:p>
          </p:txBody>
        </p:sp>
      </p:grpSp>
      <p:sp>
        <p:nvSpPr>
          <p:cNvPr id="221" name="Google Shape;221;p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Calibri"/>
              <a:buNone/>
            </a:pPr>
            <a:r>
              <a:rPr lang="en-US" sz="1200" b="0" i="0" u="none" strike="noStrike" cap="none">
                <a:solidFill>
                  <a:srgbClr val="888888"/>
                </a:solidFill>
                <a:latin typeface="Calibri"/>
                <a:ea typeface="Calibri"/>
                <a:cs typeface="Calibri"/>
                <a:sym typeface="Calibri"/>
              </a:rPr>
              <a:t>© 2025 HDC Berhad </a:t>
            </a:r>
            <a:endParaRPr/>
          </a:p>
        </p:txBody>
      </p:sp>
      <p:sp>
        <p:nvSpPr>
          <p:cNvPr id="222" name="Google Shape;222;p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200"/>
              <a:buFont typeface="Calibri"/>
              <a:buNone/>
            </a:pPr>
            <a:r>
              <a:rPr lang="en-US" sz="1200" b="0" i="0" u="none" strike="noStrike" cap="none">
                <a:solidFill>
                  <a:srgbClr val="888888"/>
                </a:solidFill>
                <a:latin typeface="Calibri"/>
                <a:ea typeface="Calibri"/>
                <a:cs typeface="Calibri"/>
                <a:sym typeface="Calibri"/>
              </a:rPr>
              <a:t>www.hdcglobal.com</a:t>
            </a:r>
            <a:endParaRPr/>
          </a:p>
        </p:txBody>
      </p:sp>
      <p:sp>
        <p:nvSpPr>
          <p:cNvPr id="223" name="Google Shape;223;p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2</a:t>
            </a:fld>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TRAINING CONTENT</a:t>
            </a:r>
            <a:endParaRPr/>
          </a:p>
        </p:txBody>
      </p:sp>
      <p:grpSp>
        <p:nvGrpSpPr>
          <p:cNvPr id="229" name="Google Shape;229;p3"/>
          <p:cNvGrpSpPr/>
          <p:nvPr/>
        </p:nvGrpSpPr>
        <p:grpSpPr>
          <a:xfrm>
            <a:off x="838200" y="1266825"/>
            <a:ext cx="10515600" cy="4910138"/>
            <a:chOff x="0" y="0"/>
            <a:chExt cx="10515600" cy="4910138"/>
          </a:xfrm>
        </p:grpSpPr>
        <p:cxnSp>
          <p:nvCxnSpPr>
            <p:cNvPr id="230" name="Google Shape;230;p3"/>
            <p:cNvCxnSpPr/>
            <p:nvPr/>
          </p:nvCxnSpPr>
          <p:spPr>
            <a:xfrm>
              <a:off x="0" y="0"/>
              <a:ext cx="10515600" cy="0"/>
            </a:xfrm>
            <a:prstGeom prst="straightConnector1">
              <a:avLst/>
            </a:prstGeom>
            <a:solidFill>
              <a:srgbClr val="4372C3"/>
            </a:solidFill>
            <a:ln w="12700" cap="flat" cmpd="sng">
              <a:solidFill>
                <a:srgbClr val="4372C3"/>
              </a:solidFill>
              <a:prstDash val="solid"/>
              <a:miter lim="800000"/>
              <a:headEnd type="none" w="sm" len="sm"/>
              <a:tailEnd type="none" w="sm" len="sm"/>
            </a:ln>
          </p:spPr>
        </p:cxnSp>
        <p:sp>
          <p:nvSpPr>
            <p:cNvPr id="231" name="Google Shape;231;p3"/>
            <p:cNvSpPr/>
            <p:nvPr/>
          </p:nvSpPr>
          <p:spPr>
            <a:xfrm>
              <a:off x="0" y="0"/>
              <a:ext cx="2103120" cy="491013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txBox="1"/>
            <p:nvPr/>
          </p:nvSpPr>
          <p:spPr>
            <a:xfrm>
              <a:off x="0" y="0"/>
              <a:ext cx="2103120" cy="4910138"/>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CU 1: Halal Manual &amp; Record Administration</a:t>
              </a:r>
              <a:endParaRPr/>
            </a:p>
          </p:txBody>
        </p:sp>
        <p:sp>
          <p:nvSpPr>
            <p:cNvPr id="233" name="Google Shape;233;p3"/>
            <p:cNvSpPr/>
            <p:nvPr/>
          </p:nvSpPr>
          <p:spPr>
            <a:xfrm>
              <a:off x="2260854" y="57720"/>
              <a:ext cx="8254746" cy="115440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txBox="1"/>
            <p:nvPr/>
          </p:nvSpPr>
          <p:spPr>
            <a:xfrm>
              <a:off x="2260854" y="57720"/>
              <a:ext cx="8254746" cy="1154409"/>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Introduction</a:t>
              </a:r>
              <a:endParaRPr/>
            </a:p>
          </p:txBody>
        </p:sp>
        <p:cxnSp>
          <p:nvCxnSpPr>
            <p:cNvPr id="235" name="Google Shape;235;p3"/>
            <p:cNvCxnSpPr/>
            <p:nvPr/>
          </p:nvCxnSpPr>
          <p:spPr>
            <a:xfrm>
              <a:off x="2103120" y="1212130"/>
              <a:ext cx="8412480" cy="0"/>
            </a:xfrm>
            <a:prstGeom prst="straightConnector1">
              <a:avLst/>
            </a:prstGeom>
            <a:solidFill>
              <a:srgbClr val="4372C3"/>
            </a:solidFill>
            <a:ln w="12700" cap="flat" cmpd="sng">
              <a:solidFill>
                <a:srgbClr val="BFC8E3"/>
              </a:solidFill>
              <a:prstDash val="solid"/>
              <a:miter lim="800000"/>
              <a:headEnd type="none" w="sm" len="sm"/>
              <a:tailEnd type="none" w="sm" len="sm"/>
            </a:ln>
          </p:spPr>
        </p:cxnSp>
        <p:sp>
          <p:nvSpPr>
            <p:cNvPr id="236" name="Google Shape;236;p3"/>
            <p:cNvSpPr/>
            <p:nvPr/>
          </p:nvSpPr>
          <p:spPr>
            <a:xfrm>
              <a:off x="2260854" y="1269850"/>
              <a:ext cx="8254746" cy="115440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txBox="1"/>
            <p:nvPr/>
          </p:nvSpPr>
          <p:spPr>
            <a:xfrm>
              <a:off x="2260854" y="1269850"/>
              <a:ext cx="8254746" cy="1154409"/>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Halal Policy &amp; Management Commitment</a:t>
              </a:r>
              <a:endParaRPr/>
            </a:p>
          </p:txBody>
        </p:sp>
        <p:cxnSp>
          <p:nvCxnSpPr>
            <p:cNvPr id="238" name="Google Shape;238;p3"/>
            <p:cNvCxnSpPr/>
            <p:nvPr/>
          </p:nvCxnSpPr>
          <p:spPr>
            <a:xfrm>
              <a:off x="2103120" y="2424260"/>
              <a:ext cx="8412480" cy="0"/>
            </a:xfrm>
            <a:prstGeom prst="straightConnector1">
              <a:avLst/>
            </a:prstGeom>
            <a:solidFill>
              <a:srgbClr val="4372C3"/>
            </a:solidFill>
            <a:ln w="12700" cap="flat" cmpd="sng">
              <a:solidFill>
                <a:srgbClr val="BFC8E3"/>
              </a:solidFill>
              <a:prstDash val="solid"/>
              <a:miter lim="800000"/>
              <a:headEnd type="none" w="sm" len="sm"/>
              <a:tailEnd type="none" w="sm" len="sm"/>
            </a:ln>
          </p:spPr>
        </p:cxnSp>
        <p:sp>
          <p:nvSpPr>
            <p:cNvPr id="239" name="Google Shape;239;p3"/>
            <p:cNvSpPr/>
            <p:nvPr/>
          </p:nvSpPr>
          <p:spPr>
            <a:xfrm>
              <a:off x="2260854" y="2481981"/>
              <a:ext cx="8254746" cy="115440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txBox="1"/>
            <p:nvPr/>
          </p:nvSpPr>
          <p:spPr>
            <a:xfrm>
              <a:off x="2260854" y="2481981"/>
              <a:ext cx="8254746" cy="1154409"/>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Halal Assurance System (HAS) Overview</a:t>
              </a:r>
              <a:endParaRPr sz="2500">
                <a:solidFill>
                  <a:schemeClr val="dk1"/>
                </a:solidFill>
                <a:latin typeface="Calibri"/>
                <a:ea typeface="Calibri"/>
                <a:cs typeface="Calibri"/>
                <a:sym typeface="Calibri"/>
              </a:endParaRPr>
            </a:p>
          </p:txBody>
        </p:sp>
        <p:cxnSp>
          <p:nvCxnSpPr>
            <p:cNvPr id="241" name="Google Shape;241;p3"/>
            <p:cNvCxnSpPr/>
            <p:nvPr/>
          </p:nvCxnSpPr>
          <p:spPr>
            <a:xfrm>
              <a:off x="2103120" y="3636391"/>
              <a:ext cx="8412480" cy="0"/>
            </a:xfrm>
            <a:prstGeom prst="straightConnector1">
              <a:avLst/>
            </a:prstGeom>
            <a:solidFill>
              <a:srgbClr val="4372C3"/>
            </a:solidFill>
            <a:ln w="12700" cap="flat" cmpd="sng">
              <a:solidFill>
                <a:srgbClr val="BFC8E3"/>
              </a:solidFill>
              <a:prstDash val="solid"/>
              <a:miter lim="800000"/>
              <a:headEnd type="none" w="sm" len="sm"/>
              <a:tailEnd type="none" w="sm" len="sm"/>
            </a:ln>
          </p:spPr>
        </p:cxnSp>
        <p:sp>
          <p:nvSpPr>
            <p:cNvPr id="242" name="Google Shape;242;p3"/>
            <p:cNvSpPr/>
            <p:nvPr/>
          </p:nvSpPr>
          <p:spPr>
            <a:xfrm>
              <a:off x="2260854" y="3694111"/>
              <a:ext cx="8254746" cy="115440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txBox="1"/>
            <p:nvPr/>
          </p:nvSpPr>
          <p:spPr>
            <a:xfrm>
              <a:off x="2260854" y="3694111"/>
              <a:ext cx="8254746" cy="1154409"/>
            </a:xfrm>
            <a:prstGeom prst="rect">
              <a:avLst/>
            </a:prstGeom>
            <a:noFill/>
            <a:ln>
              <a:noFill/>
            </a:ln>
          </p:spPr>
          <p:txBody>
            <a:bodyPr spcFirstLastPara="1" wrap="square" lIns="95250" tIns="95250" rIns="95250" bIns="95250" anchor="t" anchorCtr="0">
              <a:noAutofit/>
            </a:bodyPr>
            <a:lstStyle/>
            <a:p>
              <a:pPr marL="0" marR="0" lvl="0" indent="0" algn="l" rtl="0">
                <a:lnSpc>
                  <a:spcPct val="90000"/>
                </a:lnSpc>
                <a:spcBef>
                  <a:spcPts val="0"/>
                </a:spcBef>
                <a:spcAft>
                  <a:spcPts val="0"/>
                </a:spcAft>
                <a:buClr>
                  <a:schemeClr val="dk1"/>
                </a:buClr>
                <a:buSzPts val="2500"/>
                <a:buFont typeface="Calibri"/>
                <a:buNone/>
              </a:pPr>
              <a:r>
                <a:rPr lang="en-US" sz="2500">
                  <a:solidFill>
                    <a:schemeClr val="dk1"/>
                  </a:solidFill>
                  <a:latin typeface="Calibri"/>
                  <a:ea typeface="Calibri"/>
                  <a:cs typeface="Calibri"/>
                  <a:sym typeface="Calibri"/>
                </a:rPr>
                <a:t>Halal Control &amp; Documentation System</a:t>
              </a:r>
              <a:endParaRPr/>
            </a:p>
          </p:txBody>
        </p:sp>
        <p:cxnSp>
          <p:nvCxnSpPr>
            <p:cNvPr id="244" name="Google Shape;244;p3"/>
            <p:cNvCxnSpPr/>
            <p:nvPr/>
          </p:nvCxnSpPr>
          <p:spPr>
            <a:xfrm>
              <a:off x="2103120" y="4848521"/>
              <a:ext cx="8412480" cy="0"/>
            </a:xfrm>
            <a:prstGeom prst="straightConnector1">
              <a:avLst/>
            </a:prstGeom>
            <a:solidFill>
              <a:srgbClr val="4372C3"/>
            </a:solidFill>
            <a:ln w="12700" cap="flat" cmpd="sng">
              <a:solidFill>
                <a:srgbClr val="BFC8E3"/>
              </a:solidFill>
              <a:prstDash val="solid"/>
              <a:miter lim="800000"/>
              <a:headEnd type="none" w="sm" len="sm"/>
              <a:tailEnd type="none" w="sm" len="sm"/>
            </a:ln>
          </p:spPr>
        </p:cxnSp>
      </p:grpSp>
      <p:sp>
        <p:nvSpPr>
          <p:cNvPr id="245" name="Google Shape;245;p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Calibri"/>
              <a:buNone/>
            </a:pPr>
            <a:r>
              <a:rPr lang="en-US" sz="1200" b="0" i="0" u="none" strike="noStrike" cap="none">
                <a:solidFill>
                  <a:srgbClr val="888888"/>
                </a:solidFill>
                <a:latin typeface="Calibri"/>
                <a:ea typeface="Calibri"/>
                <a:cs typeface="Calibri"/>
                <a:sym typeface="Calibri"/>
              </a:rPr>
              <a:t>© 2026 HDC Berhad </a:t>
            </a:r>
            <a:endParaRPr sz="1200" b="0" i="0" u="none" strike="noStrike" cap="none">
              <a:solidFill>
                <a:srgbClr val="888888"/>
              </a:solidFill>
              <a:latin typeface="Calibri"/>
              <a:ea typeface="Calibri"/>
              <a:cs typeface="Calibri"/>
              <a:sym typeface="Calibri"/>
            </a:endParaRPr>
          </a:p>
        </p:txBody>
      </p:sp>
      <p:sp>
        <p:nvSpPr>
          <p:cNvPr id="246" name="Google Shape;246;p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200"/>
              <a:buFont typeface="Calibri"/>
              <a:buNone/>
            </a:pPr>
            <a:r>
              <a:rPr lang="en-US" sz="1200" b="0" i="0" u="none" strike="noStrike" cap="none">
                <a:solidFill>
                  <a:srgbClr val="888888"/>
                </a:solidFill>
                <a:latin typeface="Calibri"/>
                <a:ea typeface="Calibri"/>
                <a:cs typeface="Calibri"/>
                <a:sym typeface="Calibri"/>
              </a:rPr>
              <a:t>www.hdcglobal.com</a:t>
            </a:r>
            <a:endParaRPr/>
          </a:p>
        </p:txBody>
      </p:sp>
      <p:sp>
        <p:nvSpPr>
          <p:cNvPr id="247" name="Google Shape;247;p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3</a:t>
            </a:fld>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Calibri"/>
              <a:buNone/>
            </a:pPr>
            <a:r>
              <a:rPr lang="en-US" b="1">
                <a:latin typeface="Calibri"/>
                <a:ea typeface="Calibri"/>
                <a:cs typeface="Calibri"/>
                <a:sym typeface="Calibri"/>
              </a:rPr>
              <a:t>CU 1:</a:t>
            </a:r>
            <a:endParaRPr b="1">
              <a:latin typeface="Calibri"/>
              <a:ea typeface="Calibri"/>
              <a:cs typeface="Calibri"/>
              <a:sym typeface="Calibri"/>
            </a:endParaRPr>
          </a:p>
        </p:txBody>
      </p:sp>
      <p:sp>
        <p:nvSpPr>
          <p:cNvPr id="253" name="Google Shape;253;p4"/>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None/>
            </a:pPr>
            <a:r>
              <a:rPr lang="en-US" sz="4000" b="1">
                <a:solidFill>
                  <a:schemeClr val="dk1"/>
                </a:solidFill>
              </a:rPr>
              <a:t>Halal Manual &amp; Record Administration</a:t>
            </a:r>
            <a:endParaRPr/>
          </a:p>
          <a:p>
            <a:pPr marL="0" lvl="0" indent="0" algn="l" rtl="0">
              <a:lnSpc>
                <a:spcPct val="90000"/>
              </a:lnSpc>
              <a:spcBef>
                <a:spcPts val="1001"/>
              </a:spcBef>
              <a:spcAft>
                <a:spcPts val="0"/>
              </a:spcAft>
              <a:buClr>
                <a:srgbClr val="888888"/>
              </a:buClr>
              <a:buSzPts val="2400"/>
              <a:buNone/>
            </a:pPr>
            <a:endParaRPr/>
          </a:p>
        </p:txBody>
      </p:sp>
      <p:sp>
        <p:nvSpPr>
          <p:cNvPr id="254" name="Google Shape;254;p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2024 HDC Berhad </a:t>
            </a:r>
            <a:endParaRPr/>
          </a:p>
        </p:txBody>
      </p:sp>
      <p:sp>
        <p:nvSpPr>
          <p:cNvPr id="255" name="Google Shape;255;p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256" name="Google Shape;256;p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5"/>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INTRODUCTION</a:t>
            </a:r>
            <a:endParaRPr sz="4000"/>
          </a:p>
        </p:txBody>
      </p:sp>
      <p:grpSp>
        <p:nvGrpSpPr>
          <p:cNvPr id="262" name="Google Shape;262;p5"/>
          <p:cNvGrpSpPr/>
          <p:nvPr/>
        </p:nvGrpSpPr>
        <p:grpSpPr>
          <a:xfrm>
            <a:off x="838202" y="1541241"/>
            <a:ext cx="10515600" cy="4361760"/>
            <a:chOff x="0" y="273960"/>
            <a:chExt cx="10515600" cy="4361760"/>
          </a:xfrm>
        </p:grpSpPr>
        <p:sp>
          <p:nvSpPr>
            <p:cNvPr id="263" name="Google Shape;263;p5"/>
            <p:cNvSpPr/>
            <p:nvPr/>
          </p:nvSpPr>
          <p:spPr>
            <a:xfrm>
              <a:off x="0" y="273960"/>
              <a:ext cx="10515600" cy="103428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txBox="1"/>
            <p:nvPr/>
          </p:nvSpPr>
          <p:spPr>
            <a:xfrm>
              <a:off x="50489" y="324449"/>
              <a:ext cx="10414622" cy="933302"/>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600">
                  <a:solidFill>
                    <a:schemeClr val="lt1"/>
                  </a:solidFill>
                  <a:latin typeface="Calibri"/>
                  <a:ea typeface="Calibri"/>
                  <a:cs typeface="Calibri"/>
                  <a:sym typeface="Calibri"/>
                </a:rPr>
                <a:t>The Halal Manual serves as the primary reference document describing the organization’s Halal Assurance System (HAS).</a:t>
              </a:r>
              <a:endParaRPr sz="2600">
                <a:solidFill>
                  <a:schemeClr val="lt1"/>
                </a:solidFill>
                <a:latin typeface="Calibri"/>
                <a:ea typeface="Calibri"/>
                <a:cs typeface="Calibri"/>
                <a:sym typeface="Calibri"/>
              </a:endParaRPr>
            </a:p>
          </p:txBody>
        </p:sp>
        <p:sp>
          <p:nvSpPr>
            <p:cNvPr id="265" name="Google Shape;265;p5"/>
            <p:cNvSpPr/>
            <p:nvPr/>
          </p:nvSpPr>
          <p:spPr>
            <a:xfrm>
              <a:off x="0" y="1383121"/>
              <a:ext cx="10515600" cy="103428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5"/>
            <p:cNvSpPr txBox="1"/>
            <p:nvPr/>
          </p:nvSpPr>
          <p:spPr>
            <a:xfrm>
              <a:off x="50489" y="1433610"/>
              <a:ext cx="10414622" cy="933302"/>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600">
                  <a:solidFill>
                    <a:schemeClr val="lt1"/>
                  </a:solidFill>
                  <a:latin typeface="Calibri"/>
                  <a:ea typeface="Calibri"/>
                  <a:cs typeface="Calibri"/>
                  <a:sym typeface="Calibri"/>
                </a:rPr>
                <a:t>It outlines the policies, procedures, responsibilities, and controls established to ensure continuous compliance with halal requirements.</a:t>
              </a:r>
              <a:endParaRPr sz="2600">
                <a:solidFill>
                  <a:schemeClr val="lt1"/>
                </a:solidFill>
                <a:latin typeface="Calibri"/>
                <a:ea typeface="Calibri"/>
                <a:cs typeface="Calibri"/>
                <a:sym typeface="Calibri"/>
              </a:endParaRPr>
            </a:p>
          </p:txBody>
        </p:sp>
        <p:sp>
          <p:nvSpPr>
            <p:cNvPr id="267" name="Google Shape;267;p5"/>
            <p:cNvSpPr/>
            <p:nvPr/>
          </p:nvSpPr>
          <p:spPr>
            <a:xfrm>
              <a:off x="0" y="2492280"/>
              <a:ext cx="10515600" cy="103428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txBox="1"/>
            <p:nvPr/>
          </p:nvSpPr>
          <p:spPr>
            <a:xfrm>
              <a:off x="50489" y="2542769"/>
              <a:ext cx="10414622" cy="933302"/>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600">
                  <a:solidFill>
                    <a:schemeClr val="lt1"/>
                  </a:solidFill>
                  <a:latin typeface="Calibri"/>
                  <a:ea typeface="Calibri"/>
                  <a:cs typeface="Calibri"/>
                  <a:sym typeface="Calibri"/>
                </a:rPr>
                <a:t>The manual applies to all activities, processes, products, and personnel involved in halal-related operations.</a:t>
              </a:r>
              <a:endParaRPr sz="2600">
                <a:solidFill>
                  <a:schemeClr val="lt1"/>
                </a:solidFill>
                <a:latin typeface="Calibri"/>
                <a:ea typeface="Calibri"/>
                <a:cs typeface="Calibri"/>
                <a:sym typeface="Calibri"/>
              </a:endParaRPr>
            </a:p>
          </p:txBody>
        </p:sp>
        <p:sp>
          <p:nvSpPr>
            <p:cNvPr id="269" name="Google Shape;269;p5"/>
            <p:cNvSpPr/>
            <p:nvPr/>
          </p:nvSpPr>
          <p:spPr>
            <a:xfrm>
              <a:off x="0" y="3601440"/>
              <a:ext cx="10515600" cy="103428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txBox="1"/>
            <p:nvPr/>
          </p:nvSpPr>
          <p:spPr>
            <a:xfrm>
              <a:off x="50489" y="3651929"/>
              <a:ext cx="10414622" cy="933302"/>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600">
                  <a:solidFill>
                    <a:schemeClr val="lt1"/>
                  </a:solidFill>
                  <a:latin typeface="Calibri"/>
                  <a:ea typeface="Calibri"/>
                  <a:cs typeface="Calibri"/>
                  <a:sym typeface="Calibri"/>
                </a:rPr>
                <a:t>It supports compliance with halal standards (e.g. MS 1500), Halal Assurance System requirements and Relevant statutory and regulatory requirements</a:t>
              </a:r>
              <a:endParaRPr sz="2600">
                <a:solidFill>
                  <a:schemeClr val="lt1"/>
                </a:solidFill>
                <a:latin typeface="Calibri"/>
                <a:ea typeface="Calibri"/>
                <a:cs typeface="Calibri"/>
                <a:sym typeface="Calibri"/>
              </a:endParaRPr>
            </a:p>
          </p:txBody>
        </p:sp>
      </p:grpSp>
      <p:sp>
        <p:nvSpPr>
          <p:cNvPr id="271" name="Google Shape;271;p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272" name="Google Shape;272;p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273" name="Google Shape;273;p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6"/>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Autofit/>
          </a:bodyPr>
          <a:lstStyle/>
          <a:p>
            <a:pPr marL="0" lvl="0" indent="0" algn="just" rtl="0">
              <a:lnSpc>
                <a:spcPct val="90000"/>
              </a:lnSpc>
              <a:spcBef>
                <a:spcPts val="0"/>
              </a:spcBef>
              <a:spcAft>
                <a:spcPts val="0"/>
              </a:spcAft>
              <a:buClr>
                <a:schemeClr val="dk1"/>
              </a:buClr>
              <a:buSzPts val="4000"/>
              <a:buFont typeface="Calibri"/>
              <a:buNone/>
            </a:pPr>
            <a:r>
              <a:rPr lang="en-US" sz="4000"/>
              <a:t>PURPOSE OF HALAL MANUAL</a:t>
            </a:r>
            <a:endParaRPr sz="4000"/>
          </a:p>
        </p:txBody>
      </p:sp>
      <p:grpSp>
        <p:nvGrpSpPr>
          <p:cNvPr id="279" name="Google Shape;279;p6"/>
          <p:cNvGrpSpPr/>
          <p:nvPr/>
        </p:nvGrpSpPr>
        <p:grpSpPr>
          <a:xfrm>
            <a:off x="2316002" y="1268629"/>
            <a:ext cx="7560000" cy="4906984"/>
            <a:chOff x="1477800" y="1348"/>
            <a:chExt cx="7560000" cy="4906984"/>
          </a:xfrm>
        </p:grpSpPr>
        <p:sp>
          <p:nvSpPr>
            <p:cNvPr id="280" name="Google Shape;280;p6"/>
            <p:cNvSpPr/>
            <p:nvPr/>
          </p:nvSpPr>
          <p:spPr>
            <a:xfrm>
              <a:off x="1657800" y="1348"/>
              <a:ext cx="7200000" cy="785117"/>
            </a:xfrm>
            <a:prstGeom prst="rect">
              <a:avLst/>
            </a:prstGeom>
            <a:solidFill>
              <a:schemeClr val="lt1"/>
            </a:solidFill>
            <a:ln w="12700" cap="flat" cmpd="sng">
              <a:solidFill>
                <a:srgbClr val="3A66B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txBox="1"/>
            <p:nvPr/>
          </p:nvSpPr>
          <p:spPr>
            <a:xfrm>
              <a:off x="1657800" y="1348"/>
              <a:ext cx="7200000" cy="785117"/>
            </a:xfrm>
            <a:prstGeom prst="rect">
              <a:avLst/>
            </a:prstGeom>
            <a:noFill/>
            <a:ln>
              <a:noFill/>
            </a:ln>
          </p:spPr>
          <p:txBody>
            <a:bodyPr spcFirstLastPara="1" wrap="square" lIns="58400" tIns="58400" rIns="58400" bIns="58400" anchor="ctr" anchorCtr="0">
              <a:noAutofit/>
            </a:bodyPr>
            <a:lstStyle/>
            <a:p>
              <a:pPr marL="0" marR="0" lvl="0" indent="0" algn="ctr"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Establish a </a:t>
              </a:r>
              <a:r>
                <a:rPr lang="en-US" sz="2300" b="1">
                  <a:solidFill>
                    <a:schemeClr val="lt1"/>
                  </a:solidFill>
                  <a:latin typeface="Calibri"/>
                  <a:ea typeface="Calibri"/>
                  <a:cs typeface="Calibri"/>
                  <a:sym typeface="Calibri"/>
                </a:rPr>
                <a:t>documented framework </a:t>
              </a:r>
              <a:r>
                <a:rPr lang="en-US" sz="2300">
                  <a:solidFill>
                    <a:schemeClr val="lt1"/>
                  </a:solidFill>
                  <a:latin typeface="Calibri"/>
                  <a:ea typeface="Calibri"/>
                  <a:cs typeface="Calibri"/>
                  <a:sym typeface="Calibri"/>
                </a:rPr>
                <a:t>for the implementation and maintenance of the Halal Assurance System (HAS).</a:t>
              </a:r>
              <a:endParaRPr sz="2300">
                <a:solidFill>
                  <a:schemeClr val="lt1"/>
                </a:solidFill>
                <a:latin typeface="Calibri"/>
                <a:ea typeface="Calibri"/>
                <a:cs typeface="Calibri"/>
                <a:sym typeface="Calibri"/>
              </a:endParaRPr>
            </a:p>
          </p:txBody>
        </p:sp>
        <p:sp>
          <p:nvSpPr>
            <p:cNvPr id="282" name="Google Shape;282;p6"/>
            <p:cNvSpPr/>
            <p:nvPr/>
          </p:nvSpPr>
          <p:spPr>
            <a:xfrm>
              <a:off x="1477800" y="825721"/>
              <a:ext cx="7560000" cy="785117"/>
            </a:xfrm>
            <a:prstGeom prst="rect">
              <a:avLst/>
            </a:prstGeom>
            <a:solidFill>
              <a:schemeClr val="lt1"/>
            </a:solidFill>
            <a:ln w="12700" cap="flat" cmpd="sng">
              <a:solidFill>
                <a:srgbClr val="3A66B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txBox="1"/>
            <p:nvPr/>
          </p:nvSpPr>
          <p:spPr>
            <a:xfrm>
              <a:off x="1477800" y="825721"/>
              <a:ext cx="7560000" cy="785117"/>
            </a:xfrm>
            <a:prstGeom prst="rect">
              <a:avLst/>
            </a:prstGeom>
            <a:noFill/>
            <a:ln>
              <a:noFill/>
            </a:ln>
          </p:spPr>
          <p:txBody>
            <a:bodyPr spcFirstLastPara="1" wrap="square" lIns="58400" tIns="58400" rIns="58400" bIns="58400" anchor="ctr" anchorCtr="0">
              <a:noAutofit/>
            </a:bodyPr>
            <a:lstStyle/>
            <a:p>
              <a:pPr marL="0" marR="0" lvl="0" indent="0" algn="ctr"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Define the organization’s </a:t>
              </a:r>
              <a:r>
                <a:rPr lang="en-US" sz="2300" b="1">
                  <a:solidFill>
                    <a:schemeClr val="lt1"/>
                  </a:solidFill>
                  <a:latin typeface="Calibri"/>
                  <a:ea typeface="Calibri"/>
                  <a:cs typeface="Calibri"/>
                  <a:sym typeface="Calibri"/>
                </a:rPr>
                <a:t>commitment, policies, and controls </a:t>
              </a:r>
              <a:r>
                <a:rPr lang="en-US" sz="2300">
                  <a:solidFill>
                    <a:schemeClr val="lt1"/>
                  </a:solidFill>
                  <a:latin typeface="Calibri"/>
                  <a:ea typeface="Calibri"/>
                  <a:cs typeface="Calibri"/>
                  <a:sym typeface="Calibri"/>
                </a:rPr>
                <a:t>to ensure continuous compliance with halal requirements.</a:t>
              </a:r>
              <a:endParaRPr sz="2300">
                <a:solidFill>
                  <a:schemeClr val="lt1"/>
                </a:solidFill>
                <a:latin typeface="Calibri"/>
                <a:ea typeface="Calibri"/>
                <a:cs typeface="Calibri"/>
                <a:sym typeface="Calibri"/>
              </a:endParaRPr>
            </a:p>
          </p:txBody>
        </p:sp>
        <p:sp>
          <p:nvSpPr>
            <p:cNvPr id="284" name="Google Shape;284;p6"/>
            <p:cNvSpPr/>
            <p:nvPr/>
          </p:nvSpPr>
          <p:spPr>
            <a:xfrm>
              <a:off x="2287800" y="1650095"/>
              <a:ext cx="5940000" cy="785117"/>
            </a:xfrm>
            <a:prstGeom prst="rect">
              <a:avLst/>
            </a:prstGeom>
            <a:solidFill>
              <a:schemeClr val="lt1"/>
            </a:solidFill>
            <a:ln w="12700" cap="flat" cmpd="sng">
              <a:solidFill>
                <a:srgbClr val="3A66B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2287800" y="1650095"/>
              <a:ext cx="5940000" cy="785117"/>
            </a:xfrm>
            <a:prstGeom prst="rect">
              <a:avLst/>
            </a:prstGeom>
            <a:noFill/>
            <a:ln>
              <a:noFill/>
            </a:ln>
          </p:spPr>
          <p:txBody>
            <a:bodyPr spcFirstLastPara="1" wrap="square" lIns="58400" tIns="58400" rIns="58400" bIns="58400" anchor="ctr" anchorCtr="0">
              <a:noAutofit/>
            </a:bodyPr>
            <a:lstStyle/>
            <a:p>
              <a:pPr marL="0" marR="0" lvl="0" indent="0" algn="ctr"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Provide a </a:t>
              </a:r>
              <a:r>
                <a:rPr lang="en-US" sz="2300" b="1">
                  <a:solidFill>
                    <a:schemeClr val="lt1"/>
                  </a:solidFill>
                  <a:latin typeface="Calibri"/>
                  <a:ea typeface="Calibri"/>
                  <a:cs typeface="Calibri"/>
                  <a:sym typeface="Calibri"/>
                </a:rPr>
                <a:t>standard reference </a:t>
              </a:r>
              <a:r>
                <a:rPr lang="en-US" sz="2300">
                  <a:solidFill>
                    <a:schemeClr val="lt1"/>
                  </a:solidFill>
                  <a:latin typeface="Calibri"/>
                  <a:ea typeface="Calibri"/>
                  <a:cs typeface="Calibri"/>
                  <a:sym typeface="Calibri"/>
                </a:rPr>
                <a:t>for managing halal-related activities across all operational functions.</a:t>
              </a:r>
              <a:endParaRPr sz="2300">
                <a:solidFill>
                  <a:schemeClr val="lt1"/>
                </a:solidFill>
                <a:latin typeface="Calibri"/>
                <a:ea typeface="Calibri"/>
                <a:cs typeface="Calibri"/>
                <a:sym typeface="Calibri"/>
              </a:endParaRPr>
            </a:p>
          </p:txBody>
        </p:sp>
        <p:sp>
          <p:nvSpPr>
            <p:cNvPr id="286" name="Google Shape;286;p6"/>
            <p:cNvSpPr/>
            <p:nvPr/>
          </p:nvSpPr>
          <p:spPr>
            <a:xfrm>
              <a:off x="2782800" y="2474468"/>
              <a:ext cx="4950000" cy="785117"/>
            </a:xfrm>
            <a:prstGeom prst="rect">
              <a:avLst/>
            </a:prstGeom>
            <a:solidFill>
              <a:schemeClr val="lt1"/>
            </a:solidFill>
            <a:ln w="12700" cap="flat" cmpd="sng">
              <a:solidFill>
                <a:srgbClr val="3A66B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txBox="1"/>
            <p:nvPr/>
          </p:nvSpPr>
          <p:spPr>
            <a:xfrm>
              <a:off x="2782800" y="2474468"/>
              <a:ext cx="4950000" cy="785117"/>
            </a:xfrm>
            <a:prstGeom prst="rect">
              <a:avLst/>
            </a:prstGeom>
            <a:noFill/>
            <a:ln>
              <a:noFill/>
            </a:ln>
          </p:spPr>
          <p:txBody>
            <a:bodyPr spcFirstLastPara="1" wrap="square" lIns="58400" tIns="58400" rIns="58400" bIns="58400" anchor="ctr" anchorCtr="0">
              <a:noAutofit/>
            </a:bodyPr>
            <a:lstStyle/>
            <a:p>
              <a:pPr marL="0" marR="0" lvl="0" indent="0" algn="ctr"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Ensure </a:t>
              </a:r>
              <a:r>
                <a:rPr lang="en-US" sz="2300" b="1">
                  <a:solidFill>
                    <a:schemeClr val="lt1"/>
                  </a:solidFill>
                  <a:latin typeface="Calibri"/>
                  <a:ea typeface="Calibri"/>
                  <a:cs typeface="Calibri"/>
                  <a:sym typeface="Calibri"/>
                </a:rPr>
                <a:t>consistency and traceability </a:t>
              </a:r>
              <a:r>
                <a:rPr lang="en-US" sz="2300">
                  <a:solidFill>
                    <a:schemeClr val="lt1"/>
                  </a:solidFill>
                  <a:latin typeface="Calibri"/>
                  <a:ea typeface="Calibri"/>
                  <a:cs typeface="Calibri"/>
                  <a:sym typeface="Calibri"/>
                </a:rPr>
                <a:t>in halal practices, procedures, and records.</a:t>
              </a:r>
              <a:endParaRPr sz="2300">
                <a:solidFill>
                  <a:schemeClr val="lt1"/>
                </a:solidFill>
                <a:latin typeface="Calibri"/>
                <a:ea typeface="Calibri"/>
                <a:cs typeface="Calibri"/>
                <a:sym typeface="Calibri"/>
              </a:endParaRPr>
            </a:p>
          </p:txBody>
        </p:sp>
        <p:sp>
          <p:nvSpPr>
            <p:cNvPr id="288" name="Google Shape;288;p6"/>
            <p:cNvSpPr/>
            <p:nvPr/>
          </p:nvSpPr>
          <p:spPr>
            <a:xfrm>
              <a:off x="2287800" y="3298842"/>
              <a:ext cx="5940000" cy="785117"/>
            </a:xfrm>
            <a:prstGeom prst="rect">
              <a:avLst/>
            </a:prstGeom>
            <a:solidFill>
              <a:schemeClr val="lt1"/>
            </a:solidFill>
            <a:ln w="12700" cap="flat" cmpd="sng">
              <a:solidFill>
                <a:srgbClr val="3A66B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6"/>
            <p:cNvSpPr txBox="1"/>
            <p:nvPr/>
          </p:nvSpPr>
          <p:spPr>
            <a:xfrm>
              <a:off x="2287800" y="3298842"/>
              <a:ext cx="5940000" cy="785117"/>
            </a:xfrm>
            <a:prstGeom prst="rect">
              <a:avLst/>
            </a:prstGeom>
            <a:noFill/>
            <a:ln>
              <a:noFill/>
            </a:ln>
          </p:spPr>
          <p:txBody>
            <a:bodyPr spcFirstLastPara="1" wrap="square" lIns="58400" tIns="58400" rIns="58400" bIns="58400" anchor="ctr" anchorCtr="0">
              <a:noAutofit/>
            </a:bodyPr>
            <a:lstStyle/>
            <a:p>
              <a:pPr marL="0" marR="0" lvl="0" indent="0" algn="ctr"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Serve as an official document for</a:t>
              </a:r>
              <a:r>
                <a:rPr lang="en-US" sz="2300" b="1">
                  <a:solidFill>
                    <a:schemeClr val="lt1"/>
                  </a:solidFill>
                  <a:latin typeface="Calibri"/>
                  <a:ea typeface="Calibri"/>
                  <a:cs typeface="Calibri"/>
                  <a:sym typeface="Calibri"/>
                </a:rPr>
                <a:t> halal certification, audits, and regulatory compliance</a:t>
              </a:r>
              <a:r>
                <a:rPr lang="en-US" sz="2300">
                  <a:solidFill>
                    <a:schemeClr val="lt1"/>
                  </a:solidFill>
                  <a:latin typeface="Calibri"/>
                  <a:ea typeface="Calibri"/>
                  <a:cs typeface="Calibri"/>
                  <a:sym typeface="Calibri"/>
                </a:rPr>
                <a:t>.</a:t>
              </a:r>
              <a:endParaRPr sz="2300">
                <a:solidFill>
                  <a:schemeClr val="lt1"/>
                </a:solidFill>
                <a:latin typeface="Calibri"/>
                <a:ea typeface="Calibri"/>
                <a:cs typeface="Calibri"/>
                <a:sym typeface="Calibri"/>
              </a:endParaRPr>
            </a:p>
          </p:txBody>
        </p:sp>
        <p:sp>
          <p:nvSpPr>
            <p:cNvPr id="290" name="Google Shape;290;p6"/>
            <p:cNvSpPr/>
            <p:nvPr/>
          </p:nvSpPr>
          <p:spPr>
            <a:xfrm>
              <a:off x="1567800" y="4123215"/>
              <a:ext cx="7380000" cy="785117"/>
            </a:xfrm>
            <a:prstGeom prst="rect">
              <a:avLst/>
            </a:prstGeom>
            <a:solidFill>
              <a:schemeClr val="lt1"/>
            </a:solidFill>
            <a:ln w="12700" cap="flat" cmpd="sng">
              <a:solidFill>
                <a:srgbClr val="3A66B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1567800" y="4123215"/>
              <a:ext cx="7380000" cy="785117"/>
            </a:xfrm>
            <a:prstGeom prst="rect">
              <a:avLst/>
            </a:prstGeom>
            <a:noFill/>
            <a:ln>
              <a:noFill/>
            </a:ln>
          </p:spPr>
          <p:txBody>
            <a:bodyPr spcFirstLastPara="1" wrap="square" lIns="58400" tIns="58400" rIns="58400" bIns="58400" anchor="ctr" anchorCtr="0">
              <a:noAutofit/>
            </a:bodyPr>
            <a:lstStyle/>
            <a:p>
              <a:pPr marL="0" marR="0" lvl="0" indent="0" algn="ctr"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Support effective </a:t>
              </a:r>
              <a:r>
                <a:rPr lang="en-US" sz="2300" b="1">
                  <a:solidFill>
                    <a:schemeClr val="lt1"/>
                  </a:solidFill>
                  <a:latin typeface="Calibri"/>
                  <a:ea typeface="Calibri"/>
                  <a:cs typeface="Calibri"/>
                  <a:sym typeface="Calibri"/>
                </a:rPr>
                <a:t>communication</a:t>
              </a:r>
              <a:r>
                <a:rPr lang="en-US" sz="2300">
                  <a:solidFill>
                    <a:schemeClr val="lt1"/>
                  </a:solidFill>
                  <a:latin typeface="Calibri"/>
                  <a:ea typeface="Calibri"/>
                  <a:cs typeface="Calibri"/>
                  <a:sym typeface="Calibri"/>
                </a:rPr>
                <a:t> of halal requirements to employees, suppliers, contractors, and relevant stakeholders.</a:t>
              </a:r>
              <a:endParaRPr sz="2300">
                <a:solidFill>
                  <a:schemeClr val="lt1"/>
                </a:solidFill>
                <a:latin typeface="Calibri"/>
                <a:ea typeface="Calibri"/>
                <a:cs typeface="Calibri"/>
                <a:sym typeface="Calibri"/>
              </a:endParaRPr>
            </a:p>
          </p:txBody>
        </p:sp>
      </p:grpSp>
      <p:sp>
        <p:nvSpPr>
          <p:cNvPr id="292" name="Google Shape;292;p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293" name="Google Shape;293;p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294" name="Google Shape;294;p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7"/>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OBJECTIVE OF HALAL MANUAL</a:t>
            </a:r>
            <a:endParaRPr/>
          </a:p>
        </p:txBody>
      </p:sp>
      <p:grpSp>
        <p:nvGrpSpPr>
          <p:cNvPr id="300" name="Google Shape;300;p7"/>
          <p:cNvGrpSpPr/>
          <p:nvPr/>
        </p:nvGrpSpPr>
        <p:grpSpPr>
          <a:xfrm>
            <a:off x="639660" y="1276224"/>
            <a:ext cx="10912678" cy="4909681"/>
            <a:chOff x="7938" y="0"/>
            <a:chExt cx="10912678" cy="4909681"/>
          </a:xfrm>
        </p:grpSpPr>
        <p:sp>
          <p:nvSpPr>
            <p:cNvPr id="301" name="Google Shape;301;p7"/>
            <p:cNvSpPr/>
            <p:nvPr/>
          </p:nvSpPr>
          <p:spPr>
            <a:xfrm rot="-5400000">
              <a:off x="-1714508" y="1722446"/>
              <a:ext cx="4909681" cy="1464789"/>
            </a:xfrm>
            <a:prstGeom prst="flowChartManualOperation">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7"/>
            <p:cNvSpPr txBox="1"/>
            <p:nvPr/>
          </p:nvSpPr>
          <p:spPr>
            <a:xfrm>
              <a:off x="7938" y="981936"/>
              <a:ext cx="1464789" cy="2945809"/>
            </a:xfrm>
            <a:prstGeom prst="rect">
              <a:avLst/>
            </a:prstGeom>
            <a:noFill/>
            <a:ln>
              <a:noFill/>
            </a:ln>
          </p:spPr>
          <p:txBody>
            <a:bodyPr spcFirstLastPara="1" wrap="square" lIns="88900" tIns="0" rIns="88900" bIns="0"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Ensure all products and services consistently comply with applicable halal standards, fatwa rulings, and regulatory requirements.</a:t>
              </a:r>
              <a:endParaRPr sz="1400">
                <a:solidFill>
                  <a:schemeClr val="lt1"/>
                </a:solidFill>
                <a:latin typeface="Calibri"/>
                <a:ea typeface="Calibri"/>
                <a:cs typeface="Calibri"/>
                <a:sym typeface="Calibri"/>
              </a:endParaRPr>
            </a:p>
          </p:txBody>
        </p:sp>
        <p:sp>
          <p:nvSpPr>
            <p:cNvPr id="303" name="Google Shape;303;p7"/>
            <p:cNvSpPr/>
            <p:nvPr/>
          </p:nvSpPr>
          <p:spPr>
            <a:xfrm rot="-5400000">
              <a:off x="-139860" y="1722446"/>
              <a:ext cx="4909681" cy="1464789"/>
            </a:xfrm>
            <a:prstGeom prst="flowChartManualOperation">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7"/>
            <p:cNvSpPr txBox="1"/>
            <p:nvPr/>
          </p:nvSpPr>
          <p:spPr>
            <a:xfrm>
              <a:off x="1582586" y="981936"/>
              <a:ext cx="1464789" cy="2945809"/>
            </a:xfrm>
            <a:prstGeom prst="rect">
              <a:avLst/>
            </a:prstGeom>
            <a:noFill/>
            <a:ln>
              <a:noFill/>
            </a:ln>
          </p:spPr>
          <p:txBody>
            <a:bodyPr spcFirstLastPara="1" wrap="square" lIns="88900" tIns="0" rIns="88900" bIns="0"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Define roles, responsibilities, and authorities related to halal assurance within the organization.</a:t>
              </a:r>
              <a:endParaRPr sz="1400">
                <a:solidFill>
                  <a:schemeClr val="lt1"/>
                </a:solidFill>
                <a:latin typeface="Calibri"/>
                <a:ea typeface="Calibri"/>
                <a:cs typeface="Calibri"/>
                <a:sym typeface="Calibri"/>
              </a:endParaRPr>
            </a:p>
          </p:txBody>
        </p:sp>
        <p:sp>
          <p:nvSpPr>
            <p:cNvPr id="305" name="Google Shape;305;p7"/>
            <p:cNvSpPr/>
            <p:nvPr/>
          </p:nvSpPr>
          <p:spPr>
            <a:xfrm rot="-5400000">
              <a:off x="1434788" y="1722446"/>
              <a:ext cx="4909681" cy="1464789"/>
            </a:xfrm>
            <a:prstGeom prst="flowChartManualOperation">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7"/>
            <p:cNvSpPr txBox="1"/>
            <p:nvPr/>
          </p:nvSpPr>
          <p:spPr>
            <a:xfrm>
              <a:off x="3157234" y="981936"/>
              <a:ext cx="1464789" cy="2945809"/>
            </a:xfrm>
            <a:prstGeom prst="rect">
              <a:avLst/>
            </a:prstGeom>
            <a:noFill/>
            <a:ln>
              <a:noFill/>
            </a:ln>
          </p:spPr>
          <p:txBody>
            <a:bodyPr spcFirstLastPara="1" wrap="square" lIns="88900" tIns="0" rIns="88900" bIns="0"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Establish clear procedures and controls to prevent halal contamination and non-compliance.</a:t>
              </a:r>
              <a:endParaRPr sz="1400">
                <a:solidFill>
                  <a:schemeClr val="lt1"/>
                </a:solidFill>
                <a:latin typeface="Calibri"/>
                <a:ea typeface="Calibri"/>
                <a:cs typeface="Calibri"/>
                <a:sym typeface="Calibri"/>
              </a:endParaRPr>
            </a:p>
          </p:txBody>
        </p:sp>
        <p:sp>
          <p:nvSpPr>
            <p:cNvPr id="307" name="Google Shape;307;p7"/>
            <p:cNvSpPr/>
            <p:nvPr/>
          </p:nvSpPr>
          <p:spPr>
            <a:xfrm rot="-5400000">
              <a:off x="3009436" y="1722446"/>
              <a:ext cx="4909681" cy="1464789"/>
            </a:xfrm>
            <a:prstGeom prst="flowChartManualOperation">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7"/>
            <p:cNvSpPr txBox="1"/>
            <p:nvPr/>
          </p:nvSpPr>
          <p:spPr>
            <a:xfrm>
              <a:off x="4731882" y="981936"/>
              <a:ext cx="1464789" cy="2945809"/>
            </a:xfrm>
            <a:prstGeom prst="rect">
              <a:avLst/>
            </a:prstGeom>
            <a:noFill/>
            <a:ln>
              <a:noFill/>
            </a:ln>
          </p:spPr>
          <p:txBody>
            <a:bodyPr spcFirstLastPara="1" wrap="square" lIns="88900" tIns="0" rIns="88900" bIns="0"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Provide guidance for documentation and record management as evidence of halal compliance.</a:t>
              </a:r>
              <a:endParaRPr sz="1400">
                <a:solidFill>
                  <a:schemeClr val="lt1"/>
                </a:solidFill>
                <a:latin typeface="Calibri"/>
                <a:ea typeface="Calibri"/>
                <a:cs typeface="Calibri"/>
                <a:sym typeface="Calibri"/>
              </a:endParaRPr>
            </a:p>
          </p:txBody>
        </p:sp>
        <p:sp>
          <p:nvSpPr>
            <p:cNvPr id="309" name="Google Shape;309;p7"/>
            <p:cNvSpPr/>
            <p:nvPr/>
          </p:nvSpPr>
          <p:spPr>
            <a:xfrm rot="-5400000">
              <a:off x="4584084" y="1722446"/>
              <a:ext cx="4909681" cy="1464789"/>
            </a:xfrm>
            <a:prstGeom prst="flowChartManualOperation">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7"/>
            <p:cNvSpPr txBox="1"/>
            <p:nvPr/>
          </p:nvSpPr>
          <p:spPr>
            <a:xfrm>
              <a:off x="6306530" y="981936"/>
              <a:ext cx="1464789" cy="2945809"/>
            </a:xfrm>
            <a:prstGeom prst="rect">
              <a:avLst/>
            </a:prstGeom>
            <a:noFill/>
            <a:ln>
              <a:noFill/>
            </a:ln>
          </p:spPr>
          <p:txBody>
            <a:bodyPr spcFirstLastPara="1" wrap="square" lIns="88900" tIns="0" rIns="88900" bIns="0"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Facilitate effective implementation, monitoring, and verification of the Halal Assurance System.</a:t>
              </a:r>
              <a:endParaRPr sz="1400">
                <a:solidFill>
                  <a:schemeClr val="lt1"/>
                </a:solidFill>
                <a:latin typeface="Calibri"/>
                <a:ea typeface="Calibri"/>
                <a:cs typeface="Calibri"/>
                <a:sym typeface="Calibri"/>
              </a:endParaRPr>
            </a:p>
          </p:txBody>
        </p:sp>
        <p:sp>
          <p:nvSpPr>
            <p:cNvPr id="311" name="Google Shape;311;p7"/>
            <p:cNvSpPr/>
            <p:nvPr/>
          </p:nvSpPr>
          <p:spPr>
            <a:xfrm rot="-5400000">
              <a:off x="6158733" y="1722446"/>
              <a:ext cx="4909681" cy="1464789"/>
            </a:xfrm>
            <a:prstGeom prst="flowChartManualOperation">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txBox="1"/>
            <p:nvPr/>
          </p:nvSpPr>
          <p:spPr>
            <a:xfrm>
              <a:off x="7881179" y="981936"/>
              <a:ext cx="1464789" cy="2945809"/>
            </a:xfrm>
            <a:prstGeom prst="rect">
              <a:avLst/>
            </a:prstGeom>
            <a:noFill/>
            <a:ln>
              <a:noFill/>
            </a:ln>
          </p:spPr>
          <p:txBody>
            <a:bodyPr spcFirstLastPara="1" wrap="square" lIns="88900" tIns="0" rIns="88900" bIns="0"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Support internal halal audits, management reviews, and corrective actions.</a:t>
              </a:r>
              <a:endParaRPr sz="1400">
                <a:solidFill>
                  <a:schemeClr val="lt1"/>
                </a:solidFill>
                <a:latin typeface="Calibri"/>
                <a:ea typeface="Calibri"/>
                <a:cs typeface="Calibri"/>
                <a:sym typeface="Calibri"/>
              </a:endParaRPr>
            </a:p>
          </p:txBody>
        </p:sp>
        <p:sp>
          <p:nvSpPr>
            <p:cNvPr id="313" name="Google Shape;313;p7"/>
            <p:cNvSpPr/>
            <p:nvPr/>
          </p:nvSpPr>
          <p:spPr>
            <a:xfrm rot="-5400000">
              <a:off x="7733381" y="1722446"/>
              <a:ext cx="4909681" cy="1464789"/>
            </a:xfrm>
            <a:prstGeom prst="flowChartManualOperation">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txBox="1"/>
            <p:nvPr/>
          </p:nvSpPr>
          <p:spPr>
            <a:xfrm>
              <a:off x="9455827" y="981936"/>
              <a:ext cx="1464789" cy="2945809"/>
            </a:xfrm>
            <a:prstGeom prst="rect">
              <a:avLst/>
            </a:prstGeom>
            <a:noFill/>
            <a:ln>
              <a:noFill/>
            </a:ln>
          </p:spPr>
          <p:txBody>
            <a:bodyPr spcFirstLastPara="1" wrap="square" lIns="88900" tIns="0" rIns="88900" bIns="0"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Promote continuous improvement in halal management practices.</a:t>
              </a:r>
              <a:endParaRPr sz="1400">
                <a:solidFill>
                  <a:schemeClr val="lt1"/>
                </a:solidFill>
                <a:latin typeface="Calibri"/>
                <a:ea typeface="Calibri"/>
                <a:cs typeface="Calibri"/>
                <a:sym typeface="Calibri"/>
              </a:endParaRPr>
            </a:p>
          </p:txBody>
        </p:sp>
      </p:grpSp>
      <p:sp>
        <p:nvSpPr>
          <p:cNvPr id="315" name="Google Shape;315;p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316" name="Google Shape;316;p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317" name="Google Shape;317;p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8"/>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IMPORTANCE OF HALAL MANUAL</a:t>
            </a:r>
            <a:endParaRPr/>
          </a:p>
        </p:txBody>
      </p:sp>
      <p:grpSp>
        <p:nvGrpSpPr>
          <p:cNvPr id="323" name="Google Shape;323;p8"/>
          <p:cNvGrpSpPr/>
          <p:nvPr/>
        </p:nvGrpSpPr>
        <p:grpSpPr>
          <a:xfrm>
            <a:off x="838202" y="1278688"/>
            <a:ext cx="10515600" cy="3694860"/>
            <a:chOff x="0" y="11406"/>
            <a:chExt cx="10515600" cy="3694860"/>
          </a:xfrm>
        </p:grpSpPr>
        <p:sp>
          <p:nvSpPr>
            <p:cNvPr id="324" name="Google Shape;324;p8"/>
            <p:cNvSpPr/>
            <p:nvPr/>
          </p:nvSpPr>
          <p:spPr>
            <a:xfrm>
              <a:off x="0" y="11406"/>
              <a:ext cx="10515600" cy="62361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8"/>
            <p:cNvSpPr txBox="1"/>
            <p:nvPr/>
          </p:nvSpPr>
          <p:spPr>
            <a:xfrm>
              <a:off x="30442" y="41848"/>
              <a:ext cx="1045471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600">
                  <a:solidFill>
                    <a:schemeClr val="lt1"/>
                  </a:solidFill>
                  <a:latin typeface="Calibri"/>
                  <a:ea typeface="Calibri"/>
                  <a:cs typeface="Calibri"/>
                  <a:sym typeface="Calibri"/>
                </a:rPr>
                <a:t>The Halal Manual is not a religious book</a:t>
              </a:r>
              <a:endParaRPr sz="2600">
                <a:solidFill>
                  <a:schemeClr val="lt1"/>
                </a:solidFill>
                <a:latin typeface="Calibri"/>
                <a:ea typeface="Calibri"/>
                <a:cs typeface="Calibri"/>
                <a:sym typeface="Calibri"/>
              </a:endParaRPr>
            </a:p>
          </p:txBody>
        </p:sp>
        <p:sp>
          <p:nvSpPr>
            <p:cNvPr id="326" name="Google Shape;326;p8"/>
            <p:cNvSpPr/>
            <p:nvPr/>
          </p:nvSpPr>
          <p:spPr>
            <a:xfrm>
              <a:off x="0" y="709896"/>
              <a:ext cx="10515600" cy="62361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txBox="1"/>
            <p:nvPr/>
          </p:nvSpPr>
          <p:spPr>
            <a:xfrm>
              <a:off x="30442" y="740338"/>
              <a:ext cx="1045471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600">
                  <a:solidFill>
                    <a:schemeClr val="lt1"/>
                  </a:solidFill>
                  <a:latin typeface="Calibri"/>
                  <a:ea typeface="Calibri"/>
                  <a:cs typeface="Calibri"/>
                  <a:sym typeface="Calibri"/>
                </a:rPr>
                <a:t>It is a management system document, similar to:</a:t>
              </a:r>
              <a:endParaRPr sz="2600">
                <a:solidFill>
                  <a:schemeClr val="lt1"/>
                </a:solidFill>
                <a:latin typeface="Calibri"/>
                <a:ea typeface="Calibri"/>
                <a:cs typeface="Calibri"/>
                <a:sym typeface="Calibri"/>
              </a:endParaRPr>
            </a:p>
          </p:txBody>
        </p:sp>
        <p:sp>
          <p:nvSpPr>
            <p:cNvPr id="328" name="Google Shape;328;p8"/>
            <p:cNvSpPr/>
            <p:nvPr/>
          </p:nvSpPr>
          <p:spPr>
            <a:xfrm>
              <a:off x="0" y="1333506"/>
              <a:ext cx="10515600" cy="6996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8"/>
            <p:cNvSpPr txBox="1"/>
            <p:nvPr/>
          </p:nvSpPr>
          <p:spPr>
            <a:xfrm>
              <a:off x="0" y="1333506"/>
              <a:ext cx="10515600" cy="699660"/>
            </a:xfrm>
            <a:prstGeom prst="rect">
              <a:avLst/>
            </a:prstGeom>
            <a:noFill/>
            <a:ln>
              <a:noFill/>
            </a:ln>
          </p:spPr>
          <p:txBody>
            <a:bodyPr spcFirstLastPara="1" wrap="square" lIns="333850" tIns="33000" rIns="184900" bIns="33000" anchor="t" anchorCtr="0">
              <a:noAutofit/>
            </a:bodyPr>
            <a:lstStyle/>
            <a:p>
              <a:pPr marL="228600" marR="0" lvl="1" indent="-228600" algn="l" rtl="0">
                <a:lnSpc>
                  <a:spcPct val="9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Quality Manual	</a:t>
              </a:r>
              <a:endParaRPr sz="20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4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Food Safety Manual</a:t>
              </a:r>
              <a:endParaRPr sz="2000" b="0" i="0" u="none" strike="noStrike" cap="none">
                <a:solidFill>
                  <a:schemeClr val="dk1"/>
                </a:solidFill>
                <a:latin typeface="Calibri"/>
                <a:ea typeface="Calibri"/>
                <a:cs typeface="Calibri"/>
                <a:sym typeface="Calibri"/>
              </a:endParaRPr>
            </a:p>
          </p:txBody>
        </p:sp>
        <p:sp>
          <p:nvSpPr>
            <p:cNvPr id="330" name="Google Shape;330;p8"/>
            <p:cNvSpPr/>
            <p:nvPr/>
          </p:nvSpPr>
          <p:spPr>
            <a:xfrm>
              <a:off x="0" y="2033166"/>
              <a:ext cx="10515600" cy="62361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txBox="1"/>
            <p:nvPr/>
          </p:nvSpPr>
          <p:spPr>
            <a:xfrm>
              <a:off x="30442" y="2063608"/>
              <a:ext cx="1045471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600">
                  <a:solidFill>
                    <a:schemeClr val="lt1"/>
                  </a:solidFill>
                  <a:latin typeface="Calibri"/>
                  <a:ea typeface="Calibri"/>
                  <a:cs typeface="Calibri"/>
                  <a:sym typeface="Calibri"/>
                </a:rPr>
                <a:t>It explains:</a:t>
              </a:r>
              <a:endParaRPr sz="2600">
                <a:solidFill>
                  <a:schemeClr val="lt1"/>
                </a:solidFill>
                <a:latin typeface="Calibri"/>
                <a:ea typeface="Calibri"/>
                <a:cs typeface="Calibri"/>
                <a:sym typeface="Calibri"/>
              </a:endParaRPr>
            </a:p>
          </p:txBody>
        </p:sp>
        <p:sp>
          <p:nvSpPr>
            <p:cNvPr id="332" name="Google Shape;332;p8"/>
            <p:cNvSpPr/>
            <p:nvPr/>
          </p:nvSpPr>
          <p:spPr>
            <a:xfrm>
              <a:off x="0" y="2656776"/>
              <a:ext cx="10515600" cy="10494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txBox="1"/>
            <p:nvPr/>
          </p:nvSpPr>
          <p:spPr>
            <a:xfrm>
              <a:off x="0" y="2656776"/>
              <a:ext cx="10515600" cy="1049490"/>
            </a:xfrm>
            <a:prstGeom prst="rect">
              <a:avLst/>
            </a:prstGeom>
            <a:noFill/>
            <a:ln>
              <a:noFill/>
            </a:ln>
          </p:spPr>
          <p:txBody>
            <a:bodyPr spcFirstLastPara="1" wrap="square" lIns="333850" tIns="33000" rIns="184900" bIns="33000" anchor="t" anchorCtr="0">
              <a:noAutofit/>
            </a:bodyPr>
            <a:lstStyle/>
            <a:p>
              <a:pPr marL="228600" marR="0" lvl="1" indent="-228600" algn="l" rtl="0">
                <a:lnSpc>
                  <a:spcPct val="9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How halal risks are controlled</a:t>
              </a:r>
              <a:endParaRPr sz="20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4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Who is responsible</a:t>
              </a:r>
              <a:endParaRPr sz="20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4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What records are required</a:t>
              </a:r>
              <a:endParaRPr sz="2000" b="0" i="0" u="none" strike="noStrike" cap="none">
                <a:solidFill>
                  <a:schemeClr val="dk1"/>
                </a:solidFill>
                <a:latin typeface="Calibri"/>
                <a:ea typeface="Calibri"/>
                <a:cs typeface="Calibri"/>
                <a:sym typeface="Calibri"/>
              </a:endParaRPr>
            </a:p>
          </p:txBody>
        </p:sp>
      </p:grpSp>
      <p:sp>
        <p:nvSpPr>
          <p:cNvPr id="334" name="Google Shape;334;p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335" name="Google Shape;335;p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336" name="Google Shape;336;p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337" name="Google Shape;337;p8"/>
          <p:cNvSpPr txBox="1"/>
          <p:nvPr/>
        </p:nvSpPr>
        <p:spPr>
          <a:xfrm>
            <a:off x="838201" y="5267552"/>
            <a:ext cx="10515600" cy="400110"/>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Halal compliance is achieved through </a:t>
            </a:r>
            <a:r>
              <a:rPr lang="en-US" sz="2000" b="1">
                <a:solidFill>
                  <a:schemeClr val="dk1"/>
                </a:solidFill>
                <a:latin typeface="Calibri"/>
                <a:ea typeface="Calibri"/>
                <a:cs typeface="Calibri"/>
                <a:sym typeface="Calibri"/>
              </a:rPr>
              <a:t>system and discipline</a:t>
            </a:r>
            <a:r>
              <a:rPr lang="en-US" sz="2000">
                <a:solidFill>
                  <a:schemeClr val="dk1"/>
                </a:solidFill>
                <a:latin typeface="Calibri"/>
                <a:ea typeface="Calibri"/>
                <a:cs typeface="Calibri"/>
                <a:sym typeface="Calibri"/>
              </a:rPr>
              <a:t>, not religious belief</a:t>
            </a:r>
            <a:endParaRPr sz="2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9"/>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IMPORTANCE OF HALAL MANUAL</a:t>
            </a:r>
            <a:endParaRPr/>
          </a:p>
        </p:txBody>
      </p:sp>
      <p:sp>
        <p:nvSpPr>
          <p:cNvPr id="343" name="Google Shape;343;p9"/>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 </a:t>
            </a:r>
            <a:r>
              <a:rPr lang="en-US" b="1"/>
              <a:t>Audit Example</a:t>
            </a:r>
            <a:endParaRPr/>
          </a:p>
          <a:p>
            <a:pPr marL="0" lvl="0" indent="0" algn="l" rtl="0">
              <a:lnSpc>
                <a:spcPct val="90000"/>
              </a:lnSpc>
              <a:spcBef>
                <a:spcPts val="1001"/>
              </a:spcBef>
              <a:spcAft>
                <a:spcPts val="0"/>
              </a:spcAft>
              <a:buClr>
                <a:schemeClr val="dk1"/>
              </a:buClr>
              <a:buSzPts val="2800"/>
              <a:buNone/>
            </a:pPr>
            <a:endParaRPr b="1"/>
          </a:p>
        </p:txBody>
      </p:sp>
      <p:sp>
        <p:nvSpPr>
          <p:cNvPr id="344" name="Google Shape;344;p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345" name="Google Shape;345;p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346" name="Google Shape;346;p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347" name="Google Shape;347;p9"/>
          <p:cNvPicPr preferRelativeResize="0"/>
          <p:nvPr/>
        </p:nvPicPr>
        <p:blipFill rotWithShape="1">
          <a:blip r:embed="rId3">
            <a:alphaModFix/>
          </a:blip>
          <a:srcRect/>
          <a:stretch/>
        </p:blipFill>
        <p:spPr>
          <a:xfrm>
            <a:off x="995681" y="1863242"/>
            <a:ext cx="6827520" cy="4156973"/>
          </a:xfrm>
          <a:prstGeom prst="rect">
            <a:avLst/>
          </a:prstGeom>
          <a:noFill/>
          <a:ln>
            <a:noFill/>
          </a:ln>
        </p:spPr>
      </p:pic>
      <p:sp>
        <p:nvSpPr>
          <p:cNvPr id="348" name="Google Shape;348;p9"/>
          <p:cNvSpPr txBox="1"/>
          <p:nvPr/>
        </p:nvSpPr>
        <p:spPr>
          <a:xfrm>
            <a:off x="7980680" y="1863242"/>
            <a:ext cx="3700043" cy="424731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800"/>
              <a:buFont typeface="Calibri"/>
              <a:buNone/>
            </a:pPr>
            <a:r>
              <a:rPr lang="en-US" sz="1800">
                <a:solidFill>
                  <a:schemeClr val="dk1"/>
                </a:solidFill>
                <a:latin typeface="Calibri"/>
                <a:ea typeface="Calibri"/>
                <a:cs typeface="Calibri"/>
                <a:sym typeface="Calibri"/>
              </a:rPr>
              <a:t>Rather than giving a vague or personal explanation, she points to the </a:t>
            </a:r>
            <a:r>
              <a:rPr lang="en-US" sz="1800" b="1">
                <a:solidFill>
                  <a:schemeClr val="dk1"/>
                </a:solidFill>
                <a:latin typeface="Calibri"/>
                <a:ea typeface="Calibri"/>
                <a:cs typeface="Calibri"/>
                <a:sym typeface="Calibri"/>
              </a:rPr>
              <a:t>official documentation</a:t>
            </a:r>
            <a:r>
              <a:rPr lang="en-US" sz="1800">
                <a:solidFill>
                  <a:schemeClr val="dk1"/>
                </a:solidFill>
                <a:latin typeface="Calibri"/>
                <a:ea typeface="Calibri"/>
                <a:cs typeface="Calibri"/>
                <a:sym typeface="Calibri"/>
              </a:rPr>
              <a:t>.</a:t>
            </a:r>
            <a:endParaRPr/>
          </a:p>
          <a:p>
            <a:pPr marL="0" marR="0" lvl="0" indent="0" algn="just"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Arial"/>
              <a:buChar char="•"/>
            </a:pPr>
            <a:r>
              <a:rPr lang="en-US" sz="1800" b="1">
                <a:solidFill>
                  <a:schemeClr val="dk1"/>
                </a:solidFill>
                <a:latin typeface="Calibri"/>
                <a:ea typeface="Calibri"/>
                <a:cs typeface="Calibri"/>
                <a:sym typeface="Calibri"/>
              </a:rPr>
              <a:t>The Halal Manual:</a:t>
            </a:r>
            <a:r>
              <a:rPr lang="en-US" sz="1800">
                <a:solidFill>
                  <a:schemeClr val="dk1"/>
                </a:solidFill>
                <a:latin typeface="Calibri"/>
                <a:ea typeface="Calibri"/>
                <a:cs typeface="Calibri"/>
                <a:sym typeface="Calibri"/>
              </a:rPr>
              <a:t> There is a physical binder on the desk labeled "Halal Manual," showing that the factory has a structured, written system in place.</a:t>
            </a:r>
            <a:endParaRPr/>
          </a:p>
          <a:p>
            <a:pPr marL="285750" marR="0" lvl="0" indent="-285750" algn="just"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By citing "Chapter 3 and 4," she demonstrates that the factory’s risk management is standardized and that employees are trained to follow specific, documented protocols.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0"/>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IMPORTANCE OF HALAL MANUAL</a:t>
            </a:r>
            <a:endParaRPr/>
          </a:p>
        </p:txBody>
      </p:sp>
      <p:sp>
        <p:nvSpPr>
          <p:cNvPr id="354" name="Google Shape;354;p10"/>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highlight>
                  <a:srgbClr val="00FFFF"/>
                </a:highlight>
              </a:rPr>
              <a:t>Factory produces:</a:t>
            </a:r>
            <a:endParaRPr/>
          </a:p>
          <a:p>
            <a:pPr marL="228604" lvl="0" indent="-228604" algn="l" rtl="0">
              <a:lnSpc>
                <a:spcPct val="90000"/>
              </a:lnSpc>
              <a:spcBef>
                <a:spcPts val="1001"/>
              </a:spcBef>
              <a:spcAft>
                <a:spcPts val="0"/>
              </a:spcAft>
              <a:buClr>
                <a:schemeClr val="dk1"/>
              </a:buClr>
              <a:buSzPts val="2800"/>
              <a:buChar char="•"/>
            </a:pPr>
            <a:r>
              <a:rPr lang="en-US"/>
              <a:t>Product A: Halal export</a:t>
            </a:r>
            <a:endParaRPr/>
          </a:p>
          <a:p>
            <a:pPr marL="228604" lvl="0" indent="-228604" algn="l" rtl="0">
              <a:lnSpc>
                <a:spcPct val="90000"/>
              </a:lnSpc>
              <a:spcBef>
                <a:spcPts val="1001"/>
              </a:spcBef>
              <a:spcAft>
                <a:spcPts val="0"/>
              </a:spcAft>
              <a:buClr>
                <a:schemeClr val="dk1"/>
              </a:buClr>
              <a:buSzPts val="2800"/>
              <a:buChar char="•"/>
            </a:pPr>
            <a:r>
              <a:rPr lang="en-US"/>
              <a:t>Product B: Non-certified halal domestic</a:t>
            </a:r>
            <a:endParaRPr/>
          </a:p>
          <a:p>
            <a:pPr marL="228604" lvl="0" indent="-50803"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highlight>
                  <a:srgbClr val="00FFFF"/>
                </a:highlight>
              </a:rPr>
              <a:t>Halal Manual explains:</a:t>
            </a:r>
            <a:endParaRPr/>
          </a:p>
          <a:p>
            <a:pPr marL="228604" lvl="0" indent="-228604" algn="l" rtl="0">
              <a:lnSpc>
                <a:spcPct val="90000"/>
              </a:lnSpc>
              <a:spcBef>
                <a:spcPts val="1001"/>
              </a:spcBef>
              <a:spcAft>
                <a:spcPts val="0"/>
              </a:spcAft>
              <a:buClr>
                <a:schemeClr val="dk1"/>
              </a:buClr>
              <a:buSzPts val="2800"/>
              <a:buChar char="•"/>
            </a:pPr>
            <a:r>
              <a:rPr lang="en-US"/>
              <a:t>Separate storage</a:t>
            </a:r>
            <a:endParaRPr/>
          </a:p>
          <a:p>
            <a:pPr marL="228604" lvl="0" indent="-228604" algn="l" rtl="0">
              <a:lnSpc>
                <a:spcPct val="90000"/>
              </a:lnSpc>
              <a:spcBef>
                <a:spcPts val="1001"/>
              </a:spcBef>
              <a:spcAft>
                <a:spcPts val="0"/>
              </a:spcAft>
              <a:buClr>
                <a:schemeClr val="dk1"/>
              </a:buClr>
              <a:buSzPts val="2800"/>
              <a:buChar char="•"/>
            </a:pPr>
            <a:r>
              <a:rPr lang="en-US"/>
              <a:t>Cleaning procedures</a:t>
            </a:r>
            <a:endParaRPr/>
          </a:p>
          <a:p>
            <a:pPr marL="228604" lvl="0" indent="-228604" algn="l" rtl="0">
              <a:lnSpc>
                <a:spcPct val="90000"/>
              </a:lnSpc>
              <a:spcBef>
                <a:spcPts val="1001"/>
              </a:spcBef>
              <a:spcAft>
                <a:spcPts val="0"/>
              </a:spcAft>
              <a:buClr>
                <a:schemeClr val="dk1"/>
              </a:buClr>
              <a:buSzPts val="2800"/>
              <a:buChar char="•"/>
            </a:pPr>
            <a:r>
              <a:rPr lang="en-US"/>
              <a:t>Documentation required</a:t>
            </a:r>
            <a:endParaRPr/>
          </a:p>
          <a:p>
            <a:pPr marL="228604" lvl="0" indent="-50803" algn="l" rtl="0">
              <a:lnSpc>
                <a:spcPct val="90000"/>
              </a:lnSpc>
              <a:spcBef>
                <a:spcPts val="1001"/>
              </a:spcBef>
              <a:spcAft>
                <a:spcPts val="0"/>
              </a:spcAft>
              <a:buClr>
                <a:schemeClr val="dk1"/>
              </a:buClr>
              <a:buSzPts val="2800"/>
              <a:buNone/>
            </a:pPr>
            <a:endParaRPr/>
          </a:p>
        </p:txBody>
      </p:sp>
      <p:sp>
        <p:nvSpPr>
          <p:cNvPr id="355" name="Google Shape;355;p1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356" name="Google Shape;356;p1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357" name="Google Shape;357;p1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358" name="Google Shape;358;p10"/>
          <p:cNvPicPr preferRelativeResize="0"/>
          <p:nvPr/>
        </p:nvPicPr>
        <p:blipFill rotWithShape="1">
          <a:blip r:embed="rId3">
            <a:alphaModFix/>
          </a:blip>
          <a:srcRect/>
          <a:stretch/>
        </p:blipFill>
        <p:spPr>
          <a:xfrm>
            <a:off x="5624610" y="3135287"/>
            <a:ext cx="5571872" cy="30416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1"/>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INTRODUCTION</a:t>
            </a:r>
            <a:endParaRPr/>
          </a:p>
        </p:txBody>
      </p:sp>
      <p:grpSp>
        <p:nvGrpSpPr>
          <p:cNvPr id="364" name="Google Shape;364;p11"/>
          <p:cNvGrpSpPr/>
          <p:nvPr/>
        </p:nvGrpSpPr>
        <p:grpSpPr>
          <a:xfrm>
            <a:off x="1957926" y="1267281"/>
            <a:ext cx="8276151" cy="4909681"/>
            <a:chOff x="1119724" y="0"/>
            <a:chExt cx="8276151" cy="4909681"/>
          </a:xfrm>
        </p:grpSpPr>
        <p:sp>
          <p:nvSpPr>
            <p:cNvPr id="365" name="Google Shape;365;p11"/>
            <p:cNvSpPr/>
            <p:nvPr/>
          </p:nvSpPr>
          <p:spPr>
            <a:xfrm>
              <a:off x="5724219" y="3620890"/>
              <a:ext cx="611942" cy="583024"/>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chemeClr val="accent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1"/>
            <p:cNvSpPr txBox="1"/>
            <p:nvPr/>
          </p:nvSpPr>
          <p:spPr>
            <a:xfrm>
              <a:off x="6009060" y="3891272"/>
              <a:ext cx="42260" cy="4226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67" name="Google Shape;367;p11"/>
            <p:cNvSpPr/>
            <p:nvPr/>
          </p:nvSpPr>
          <p:spPr>
            <a:xfrm>
              <a:off x="5724219" y="3037865"/>
              <a:ext cx="611942" cy="583024"/>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chemeClr val="accent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1"/>
            <p:cNvSpPr txBox="1"/>
            <p:nvPr/>
          </p:nvSpPr>
          <p:spPr>
            <a:xfrm>
              <a:off x="6009060" y="3308247"/>
              <a:ext cx="42260" cy="4226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69" name="Google Shape;369;p11"/>
            <p:cNvSpPr/>
            <p:nvPr/>
          </p:nvSpPr>
          <p:spPr>
            <a:xfrm>
              <a:off x="2052563" y="2454840"/>
              <a:ext cx="611942" cy="1166049"/>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1"/>
            <p:cNvSpPr txBox="1"/>
            <p:nvPr/>
          </p:nvSpPr>
          <p:spPr>
            <a:xfrm>
              <a:off x="2325612" y="3004943"/>
              <a:ext cx="65843" cy="6584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71" name="Google Shape;371;p11"/>
            <p:cNvSpPr/>
            <p:nvPr/>
          </p:nvSpPr>
          <p:spPr>
            <a:xfrm>
              <a:off x="2052563" y="2409121"/>
              <a:ext cx="611942" cy="91440"/>
            </a:xfrm>
            <a:custGeom>
              <a:avLst/>
              <a:gdLst/>
              <a:ahLst/>
              <a:cxnLst/>
              <a:rect l="l" t="t" r="r" b="b"/>
              <a:pathLst>
                <a:path w="120000" h="120000" extrusionOk="0">
                  <a:moveTo>
                    <a:pt x="0" y="60000"/>
                  </a:moveTo>
                  <a:lnTo>
                    <a:pt x="120000" y="6000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1"/>
            <p:cNvSpPr txBox="1"/>
            <p:nvPr/>
          </p:nvSpPr>
          <p:spPr>
            <a:xfrm>
              <a:off x="2343236" y="2439542"/>
              <a:ext cx="30597" cy="30597"/>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73" name="Google Shape;373;p11"/>
            <p:cNvSpPr/>
            <p:nvPr/>
          </p:nvSpPr>
          <p:spPr>
            <a:xfrm>
              <a:off x="2052563" y="1288791"/>
              <a:ext cx="611942" cy="1166049"/>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1"/>
            <p:cNvSpPr txBox="1"/>
            <p:nvPr/>
          </p:nvSpPr>
          <p:spPr>
            <a:xfrm>
              <a:off x="2325612" y="1838894"/>
              <a:ext cx="65843" cy="6584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75" name="Google Shape;375;p11"/>
            <p:cNvSpPr/>
            <p:nvPr/>
          </p:nvSpPr>
          <p:spPr>
            <a:xfrm rot="-5400000">
              <a:off x="-868697" y="1988421"/>
              <a:ext cx="4909681" cy="932839"/>
            </a:xfrm>
            <a:prstGeom prst="rect">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1"/>
            <p:cNvSpPr txBox="1"/>
            <p:nvPr/>
          </p:nvSpPr>
          <p:spPr>
            <a:xfrm rot="-5400000">
              <a:off x="-868697" y="1988421"/>
              <a:ext cx="4909681" cy="932839"/>
            </a:xfrm>
            <a:prstGeom prst="rect">
              <a:avLst/>
            </a:prstGeom>
            <a:noFill/>
            <a:ln>
              <a:noFill/>
            </a:ln>
          </p:spPr>
          <p:txBody>
            <a:bodyPr spcFirstLastPara="1" wrap="square" lIns="26025" tIns="26025" rIns="26025" bIns="26025" anchor="ctr" anchorCtr="0">
              <a:noAutofit/>
            </a:bodyPr>
            <a:lstStyle/>
            <a:p>
              <a:pPr marL="0" marR="0" lvl="0" indent="0" algn="ctr" rtl="0">
                <a:lnSpc>
                  <a:spcPct val="90000"/>
                </a:lnSpc>
                <a:spcBef>
                  <a:spcPts val="0"/>
                </a:spcBef>
                <a:spcAft>
                  <a:spcPts val="0"/>
                </a:spcAft>
                <a:buClr>
                  <a:schemeClr val="lt1"/>
                </a:buClr>
                <a:buSzPts val="4100"/>
                <a:buFont typeface="Calibri"/>
                <a:buNone/>
              </a:pPr>
              <a:r>
                <a:rPr lang="en-US" sz="4100" b="1">
                  <a:solidFill>
                    <a:schemeClr val="lt1"/>
                  </a:solidFill>
                  <a:latin typeface="Calibri"/>
                  <a:ea typeface="Calibri"/>
                  <a:cs typeface="Calibri"/>
                  <a:sym typeface="Calibri"/>
                </a:rPr>
                <a:t>What is a Halal Policy?</a:t>
              </a:r>
              <a:endParaRPr sz="4100">
                <a:solidFill>
                  <a:schemeClr val="lt1"/>
                </a:solidFill>
                <a:latin typeface="Calibri"/>
                <a:ea typeface="Calibri"/>
                <a:cs typeface="Calibri"/>
                <a:sym typeface="Calibri"/>
              </a:endParaRPr>
            </a:p>
          </p:txBody>
        </p:sp>
        <p:sp>
          <p:nvSpPr>
            <p:cNvPr id="377" name="Google Shape;377;p11"/>
            <p:cNvSpPr/>
            <p:nvPr/>
          </p:nvSpPr>
          <p:spPr>
            <a:xfrm>
              <a:off x="2664505" y="822371"/>
              <a:ext cx="3059713" cy="932839"/>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1"/>
            <p:cNvSpPr txBox="1"/>
            <p:nvPr/>
          </p:nvSpPr>
          <p:spPr>
            <a:xfrm>
              <a:off x="2664505" y="822371"/>
              <a:ext cx="3059713" cy="932839"/>
            </a:xfrm>
            <a:prstGeom prst="rect">
              <a:avLst/>
            </a:prstGeom>
            <a:noFill/>
            <a:ln>
              <a:noFill/>
            </a:ln>
          </p:spPr>
          <p:txBody>
            <a:bodyPr spcFirstLastPara="1" wrap="square" lIns="19675" tIns="19675" rIns="19675" bIns="19675"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n-US" sz="3100">
                  <a:solidFill>
                    <a:schemeClr val="lt1"/>
                  </a:solidFill>
                  <a:latin typeface="Calibri"/>
                  <a:ea typeface="Calibri"/>
                  <a:cs typeface="Calibri"/>
                  <a:sym typeface="Calibri"/>
                </a:rPr>
                <a:t>A </a:t>
              </a:r>
              <a:r>
                <a:rPr lang="en-US" sz="3100" b="1">
                  <a:solidFill>
                    <a:schemeClr val="lt1"/>
                  </a:solidFill>
                  <a:latin typeface="Calibri"/>
                  <a:ea typeface="Calibri"/>
                  <a:cs typeface="Calibri"/>
                  <a:sym typeface="Calibri"/>
                </a:rPr>
                <a:t>formal written commitment</a:t>
              </a:r>
              <a:endParaRPr sz="3100">
                <a:solidFill>
                  <a:schemeClr val="lt1"/>
                </a:solidFill>
                <a:latin typeface="Calibri"/>
                <a:ea typeface="Calibri"/>
                <a:cs typeface="Calibri"/>
                <a:sym typeface="Calibri"/>
              </a:endParaRPr>
            </a:p>
          </p:txBody>
        </p:sp>
        <p:sp>
          <p:nvSpPr>
            <p:cNvPr id="379" name="Google Shape;379;p11"/>
            <p:cNvSpPr/>
            <p:nvPr/>
          </p:nvSpPr>
          <p:spPr>
            <a:xfrm>
              <a:off x="2664505" y="1988421"/>
              <a:ext cx="3059713" cy="932839"/>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1"/>
            <p:cNvSpPr txBox="1"/>
            <p:nvPr/>
          </p:nvSpPr>
          <p:spPr>
            <a:xfrm>
              <a:off x="2664505" y="1988421"/>
              <a:ext cx="3059713" cy="932839"/>
            </a:xfrm>
            <a:prstGeom prst="rect">
              <a:avLst/>
            </a:prstGeom>
            <a:noFill/>
            <a:ln>
              <a:noFill/>
            </a:ln>
          </p:spPr>
          <p:txBody>
            <a:bodyPr spcFirstLastPara="1" wrap="square" lIns="19675" tIns="19675" rIns="19675" bIns="19675"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n-US" sz="3100">
                  <a:solidFill>
                    <a:schemeClr val="lt1"/>
                  </a:solidFill>
                  <a:latin typeface="Calibri"/>
                  <a:ea typeface="Calibri"/>
                  <a:cs typeface="Calibri"/>
                  <a:sym typeface="Calibri"/>
                </a:rPr>
                <a:t>Signed by CEO / General Director</a:t>
              </a:r>
              <a:endParaRPr sz="3100">
                <a:solidFill>
                  <a:schemeClr val="lt1"/>
                </a:solidFill>
                <a:latin typeface="Calibri"/>
                <a:ea typeface="Calibri"/>
                <a:cs typeface="Calibri"/>
                <a:sym typeface="Calibri"/>
              </a:endParaRPr>
            </a:p>
          </p:txBody>
        </p:sp>
        <p:sp>
          <p:nvSpPr>
            <p:cNvPr id="381" name="Google Shape;381;p11"/>
            <p:cNvSpPr/>
            <p:nvPr/>
          </p:nvSpPr>
          <p:spPr>
            <a:xfrm>
              <a:off x="2664505" y="3154470"/>
              <a:ext cx="3059713" cy="932839"/>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1"/>
            <p:cNvSpPr txBox="1"/>
            <p:nvPr/>
          </p:nvSpPr>
          <p:spPr>
            <a:xfrm>
              <a:off x="2664505" y="3154470"/>
              <a:ext cx="3059713" cy="932839"/>
            </a:xfrm>
            <a:prstGeom prst="rect">
              <a:avLst/>
            </a:prstGeom>
            <a:noFill/>
            <a:ln>
              <a:noFill/>
            </a:ln>
          </p:spPr>
          <p:txBody>
            <a:bodyPr spcFirstLastPara="1" wrap="square" lIns="19675" tIns="19675" rIns="19675" bIns="19675"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n-US" sz="3100">
                  <a:solidFill>
                    <a:schemeClr val="lt1"/>
                  </a:solidFill>
                  <a:latin typeface="Calibri"/>
                  <a:ea typeface="Calibri"/>
                  <a:cs typeface="Calibri"/>
                  <a:sym typeface="Calibri"/>
                </a:rPr>
                <a:t>To shows auditors:</a:t>
              </a:r>
              <a:endParaRPr sz="3100">
                <a:solidFill>
                  <a:schemeClr val="lt1"/>
                </a:solidFill>
                <a:latin typeface="Calibri"/>
                <a:ea typeface="Calibri"/>
                <a:cs typeface="Calibri"/>
                <a:sym typeface="Calibri"/>
              </a:endParaRPr>
            </a:p>
          </p:txBody>
        </p:sp>
        <p:sp>
          <p:nvSpPr>
            <p:cNvPr id="383" name="Google Shape;383;p11"/>
            <p:cNvSpPr/>
            <p:nvPr/>
          </p:nvSpPr>
          <p:spPr>
            <a:xfrm>
              <a:off x="6336162" y="2571445"/>
              <a:ext cx="3059713" cy="93283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1"/>
            <p:cNvSpPr txBox="1"/>
            <p:nvPr/>
          </p:nvSpPr>
          <p:spPr>
            <a:xfrm>
              <a:off x="6336162" y="2571445"/>
              <a:ext cx="3059713" cy="932839"/>
            </a:xfrm>
            <a:prstGeom prst="rect">
              <a:avLst/>
            </a:prstGeom>
            <a:noFill/>
            <a:ln>
              <a:noFill/>
            </a:ln>
          </p:spPr>
          <p:txBody>
            <a:bodyPr spcFirstLastPara="1" wrap="square" lIns="19675" tIns="19675" rIns="19675" bIns="19675"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n-US" sz="3100">
                  <a:solidFill>
                    <a:schemeClr val="lt1"/>
                  </a:solidFill>
                  <a:latin typeface="Calibri"/>
                  <a:ea typeface="Calibri"/>
                  <a:cs typeface="Calibri"/>
                  <a:sym typeface="Calibri"/>
                </a:rPr>
                <a:t>Management seriousness</a:t>
              </a:r>
              <a:endParaRPr sz="3100">
                <a:solidFill>
                  <a:schemeClr val="lt1"/>
                </a:solidFill>
                <a:latin typeface="Calibri"/>
                <a:ea typeface="Calibri"/>
                <a:cs typeface="Calibri"/>
                <a:sym typeface="Calibri"/>
              </a:endParaRPr>
            </a:p>
          </p:txBody>
        </p:sp>
        <p:sp>
          <p:nvSpPr>
            <p:cNvPr id="385" name="Google Shape;385;p11"/>
            <p:cNvSpPr/>
            <p:nvPr/>
          </p:nvSpPr>
          <p:spPr>
            <a:xfrm>
              <a:off x="6336162" y="3737495"/>
              <a:ext cx="3059713" cy="93283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1"/>
            <p:cNvSpPr txBox="1"/>
            <p:nvPr/>
          </p:nvSpPr>
          <p:spPr>
            <a:xfrm>
              <a:off x="6336162" y="3737495"/>
              <a:ext cx="3059713" cy="932839"/>
            </a:xfrm>
            <a:prstGeom prst="rect">
              <a:avLst/>
            </a:prstGeom>
            <a:noFill/>
            <a:ln>
              <a:noFill/>
            </a:ln>
          </p:spPr>
          <p:txBody>
            <a:bodyPr spcFirstLastPara="1" wrap="square" lIns="19675" tIns="19675" rIns="19675" bIns="19675" anchor="ctr" anchorCtr="0">
              <a:noAutofit/>
            </a:bodyPr>
            <a:lstStyle/>
            <a:p>
              <a:pPr marL="0" marR="0" lvl="0" indent="0" algn="ctr" rtl="0">
                <a:lnSpc>
                  <a:spcPct val="90000"/>
                </a:lnSpc>
                <a:spcBef>
                  <a:spcPts val="0"/>
                </a:spcBef>
                <a:spcAft>
                  <a:spcPts val="0"/>
                </a:spcAft>
                <a:buClr>
                  <a:schemeClr val="lt1"/>
                </a:buClr>
                <a:buSzPts val="3100"/>
                <a:buFont typeface="Calibri"/>
                <a:buNone/>
              </a:pPr>
              <a:r>
                <a:rPr lang="en-US" sz="3100">
                  <a:solidFill>
                    <a:schemeClr val="lt1"/>
                  </a:solidFill>
                  <a:latin typeface="Calibri"/>
                  <a:ea typeface="Calibri"/>
                  <a:cs typeface="Calibri"/>
                  <a:sym typeface="Calibri"/>
                </a:rPr>
                <a:t>Accountability</a:t>
              </a:r>
              <a:endParaRPr sz="3100">
                <a:solidFill>
                  <a:schemeClr val="lt1"/>
                </a:solidFill>
                <a:latin typeface="Calibri"/>
                <a:ea typeface="Calibri"/>
                <a:cs typeface="Calibri"/>
                <a:sym typeface="Calibri"/>
              </a:endParaRPr>
            </a:p>
          </p:txBody>
        </p:sp>
      </p:grpSp>
      <p:sp>
        <p:nvSpPr>
          <p:cNvPr id="387" name="Google Shape;387;p1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388" name="Google Shape;388;p1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389" name="Google Shape;389;p1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390" name="Google Shape;390;p11"/>
          <p:cNvSpPr txBox="1"/>
          <p:nvPr/>
        </p:nvSpPr>
        <p:spPr>
          <a:xfrm>
            <a:off x="7315202" y="1309400"/>
            <a:ext cx="3529779" cy="1077218"/>
          </a:xfrm>
          <a:prstGeom prst="rect">
            <a:avLst/>
          </a:prstGeom>
          <a:solidFill>
            <a:srgbClr val="D8D8D8"/>
          </a:solidFill>
          <a:ln w="9525" cap="flat" cmpd="sng">
            <a:solidFill>
              <a:schemeClr val="dk1"/>
            </a:solidFill>
            <a:prstDash val="dash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alibri"/>
                <a:ea typeface="Calibri"/>
                <a:cs typeface="Calibri"/>
                <a:sym typeface="Calibri"/>
              </a:rPr>
              <a:t>If no signed policy → </a:t>
            </a:r>
            <a:r>
              <a:rPr lang="en-US" sz="3200" b="1">
                <a:solidFill>
                  <a:schemeClr val="dk1"/>
                </a:solidFill>
                <a:latin typeface="Calibri"/>
                <a:ea typeface="Calibri"/>
                <a:cs typeface="Calibri"/>
                <a:sym typeface="Calibri"/>
              </a:rPr>
              <a:t>Major NCR risk</a:t>
            </a:r>
            <a:endParaRPr sz="3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2"/>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INTRODUCTION</a:t>
            </a:r>
            <a:endParaRPr/>
          </a:p>
        </p:txBody>
      </p:sp>
      <p:grpSp>
        <p:nvGrpSpPr>
          <p:cNvPr id="396" name="Google Shape;396;p12"/>
          <p:cNvGrpSpPr/>
          <p:nvPr/>
        </p:nvGrpSpPr>
        <p:grpSpPr>
          <a:xfrm>
            <a:off x="838198" y="2010850"/>
            <a:ext cx="3586318" cy="3926879"/>
            <a:chOff x="0" y="14902"/>
            <a:chExt cx="3586318" cy="3926879"/>
          </a:xfrm>
        </p:grpSpPr>
        <p:sp>
          <p:nvSpPr>
            <p:cNvPr id="397" name="Google Shape;397;p12"/>
            <p:cNvSpPr/>
            <p:nvPr/>
          </p:nvSpPr>
          <p:spPr>
            <a:xfrm>
              <a:off x="0" y="14902"/>
              <a:ext cx="3586318" cy="954719"/>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2"/>
            <p:cNvSpPr txBox="1"/>
            <p:nvPr/>
          </p:nvSpPr>
          <p:spPr>
            <a:xfrm>
              <a:off x="46606" y="61508"/>
              <a:ext cx="3493106" cy="861507"/>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Appoint Internal Halal Committee (IHC)</a:t>
              </a:r>
              <a:endParaRPr sz="2400">
                <a:solidFill>
                  <a:schemeClr val="lt1"/>
                </a:solidFill>
                <a:latin typeface="Calibri"/>
                <a:ea typeface="Calibri"/>
                <a:cs typeface="Calibri"/>
                <a:sym typeface="Calibri"/>
              </a:endParaRPr>
            </a:p>
          </p:txBody>
        </p:sp>
        <p:sp>
          <p:nvSpPr>
            <p:cNvPr id="399" name="Google Shape;399;p12"/>
            <p:cNvSpPr/>
            <p:nvPr/>
          </p:nvSpPr>
          <p:spPr>
            <a:xfrm>
              <a:off x="0" y="1038742"/>
              <a:ext cx="3586318" cy="954719"/>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2"/>
            <p:cNvSpPr txBox="1"/>
            <p:nvPr/>
          </p:nvSpPr>
          <p:spPr>
            <a:xfrm>
              <a:off x="46606" y="1085348"/>
              <a:ext cx="3493106" cy="861507"/>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Provide:</a:t>
              </a:r>
              <a:endParaRPr sz="2400">
                <a:solidFill>
                  <a:schemeClr val="lt1"/>
                </a:solidFill>
                <a:latin typeface="Calibri"/>
                <a:ea typeface="Calibri"/>
                <a:cs typeface="Calibri"/>
                <a:sym typeface="Calibri"/>
              </a:endParaRPr>
            </a:p>
          </p:txBody>
        </p:sp>
        <p:sp>
          <p:nvSpPr>
            <p:cNvPr id="401" name="Google Shape;401;p12"/>
            <p:cNvSpPr/>
            <p:nvPr/>
          </p:nvSpPr>
          <p:spPr>
            <a:xfrm>
              <a:off x="0" y="1993462"/>
              <a:ext cx="3586318" cy="9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2"/>
            <p:cNvSpPr txBox="1"/>
            <p:nvPr/>
          </p:nvSpPr>
          <p:spPr>
            <a:xfrm>
              <a:off x="0" y="1993462"/>
              <a:ext cx="3586318" cy="993600"/>
            </a:xfrm>
            <a:prstGeom prst="rect">
              <a:avLst/>
            </a:prstGeom>
            <a:noFill/>
            <a:ln>
              <a:noFill/>
            </a:ln>
          </p:spPr>
          <p:txBody>
            <a:bodyPr spcFirstLastPara="1" wrap="square" lIns="113850" tIns="30475" rIns="170675" bIns="30475" anchor="t" anchorCtr="0">
              <a:noAutofit/>
            </a:bodyPr>
            <a:lstStyle/>
            <a:p>
              <a:pPr marL="171450" marR="0" lvl="1" indent="-171450" algn="l" rtl="0">
                <a:lnSpc>
                  <a:spcPct val="90000"/>
                </a:lnSpc>
                <a:spcBef>
                  <a:spcPts val="0"/>
                </a:spcBef>
                <a:spcAft>
                  <a:spcPts val="0"/>
                </a:spcAft>
                <a:buClr>
                  <a:schemeClr val="dk1"/>
                </a:buClr>
                <a:buSzPts val="1900"/>
                <a:buFont typeface="Calibri"/>
                <a:buChar char="•"/>
              </a:pPr>
              <a:r>
                <a:rPr lang="en-US" sz="1900" b="0" i="0" u="none" strike="noStrike" cap="none">
                  <a:solidFill>
                    <a:schemeClr val="dk1"/>
                  </a:solidFill>
                  <a:latin typeface="Calibri"/>
                  <a:ea typeface="Calibri"/>
                  <a:cs typeface="Calibri"/>
                  <a:sym typeface="Calibri"/>
                </a:rPr>
                <a:t>Training</a:t>
              </a:r>
              <a:endParaRPr sz="19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380"/>
                </a:spcBef>
                <a:spcAft>
                  <a:spcPts val="0"/>
                </a:spcAft>
                <a:buClr>
                  <a:schemeClr val="dk1"/>
                </a:buClr>
                <a:buSzPts val="1900"/>
                <a:buFont typeface="Calibri"/>
                <a:buChar char="•"/>
              </a:pPr>
              <a:r>
                <a:rPr lang="en-US" sz="1900" b="0" i="0" u="none" strike="noStrike" cap="none">
                  <a:solidFill>
                    <a:schemeClr val="dk1"/>
                  </a:solidFill>
                  <a:latin typeface="Calibri"/>
                  <a:ea typeface="Calibri"/>
                  <a:cs typeface="Calibri"/>
                  <a:sym typeface="Calibri"/>
                </a:rPr>
                <a:t>Budget</a:t>
              </a:r>
              <a:endParaRPr sz="19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380"/>
                </a:spcBef>
                <a:spcAft>
                  <a:spcPts val="0"/>
                </a:spcAft>
                <a:buClr>
                  <a:schemeClr val="dk1"/>
                </a:buClr>
                <a:buSzPts val="1900"/>
                <a:buFont typeface="Calibri"/>
                <a:buChar char="•"/>
              </a:pPr>
              <a:r>
                <a:rPr lang="en-US" sz="1900" b="0" i="0" u="none" strike="noStrike" cap="none">
                  <a:solidFill>
                    <a:schemeClr val="dk1"/>
                  </a:solidFill>
                  <a:latin typeface="Calibri"/>
                  <a:ea typeface="Calibri"/>
                  <a:cs typeface="Calibri"/>
                  <a:sym typeface="Calibri"/>
                </a:rPr>
                <a:t>Authority</a:t>
              </a:r>
              <a:endParaRPr sz="1900" b="0" i="0" u="none" strike="noStrike" cap="none">
                <a:solidFill>
                  <a:schemeClr val="dk1"/>
                </a:solidFill>
                <a:latin typeface="Calibri"/>
                <a:ea typeface="Calibri"/>
                <a:cs typeface="Calibri"/>
                <a:sym typeface="Calibri"/>
              </a:endParaRPr>
            </a:p>
          </p:txBody>
        </p:sp>
        <p:sp>
          <p:nvSpPr>
            <p:cNvPr id="403" name="Google Shape;403;p12"/>
            <p:cNvSpPr/>
            <p:nvPr/>
          </p:nvSpPr>
          <p:spPr>
            <a:xfrm>
              <a:off x="0" y="2987062"/>
              <a:ext cx="3586318" cy="954719"/>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2"/>
            <p:cNvSpPr txBox="1"/>
            <p:nvPr/>
          </p:nvSpPr>
          <p:spPr>
            <a:xfrm>
              <a:off x="46606" y="3033668"/>
              <a:ext cx="3493106" cy="861507"/>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Calibri"/>
                <a:buNone/>
              </a:pPr>
              <a:r>
                <a:rPr lang="en-US" sz="2400">
                  <a:solidFill>
                    <a:schemeClr val="lt1"/>
                  </a:solidFill>
                  <a:latin typeface="Calibri"/>
                  <a:ea typeface="Calibri"/>
                  <a:cs typeface="Calibri"/>
                  <a:sym typeface="Calibri"/>
                </a:rPr>
                <a:t>Support corrective actions</a:t>
              </a:r>
              <a:endParaRPr sz="2400">
                <a:solidFill>
                  <a:schemeClr val="lt1"/>
                </a:solidFill>
                <a:latin typeface="Calibri"/>
                <a:ea typeface="Calibri"/>
                <a:cs typeface="Calibri"/>
                <a:sym typeface="Calibri"/>
              </a:endParaRPr>
            </a:p>
          </p:txBody>
        </p:sp>
      </p:grpSp>
      <p:sp>
        <p:nvSpPr>
          <p:cNvPr id="405" name="Google Shape;405;p1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06" name="Google Shape;406;p1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07" name="Google Shape;407;p1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408" name="Google Shape;408;p12"/>
          <p:cNvSpPr txBox="1"/>
          <p:nvPr/>
        </p:nvSpPr>
        <p:spPr>
          <a:xfrm>
            <a:off x="838198" y="1327806"/>
            <a:ext cx="612058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What Management Must Do</a:t>
            </a:r>
            <a:endParaRPr/>
          </a:p>
        </p:txBody>
      </p:sp>
      <p:pic>
        <p:nvPicPr>
          <p:cNvPr id="409" name="Google Shape;409;p12"/>
          <p:cNvPicPr preferRelativeResize="0"/>
          <p:nvPr/>
        </p:nvPicPr>
        <p:blipFill rotWithShape="1">
          <a:blip r:embed="rId3">
            <a:alphaModFix/>
          </a:blip>
          <a:srcRect/>
          <a:stretch/>
        </p:blipFill>
        <p:spPr>
          <a:xfrm>
            <a:off x="4572000" y="2011498"/>
            <a:ext cx="6781799" cy="39566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13"/>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INTRODUCTION</a:t>
            </a:r>
            <a:endParaRPr/>
          </a:p>
        </p:txBody>
      </p:sp>
      <p:sp>
        <p:nvSpPr>
          <p:cNvPr id="415" name="Google Shape;415;p13"/>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a:t>Good Practice Example</a:t>
            </a:r>
            <a:endParaRPr/>
          </a:p>
          <a:p>
            <a:pPr marL="228604" lvl="0" indent="-228604" algn="l" rtl="0">
              <a:lnSpc>
                <a:spcPct val="90000"/>
              </a:lnSpc>
              <a:spcBef>
                <a:spcPts val="1001"/>
              </a:spcBef>
              <a:spcAft>
                <a:spcPts val="0"/>
              </a:spcAft>
              <a:buClr>
                <a:schemeClr val="dk1"/>
              </a:buClr>
              <a:buSzPts val="2000"/>
              <a:buChar char="•"/>
            </a:pPr>
            <a:r>
              <a:rPr lang="en-US" sz="2000"/>
              <a:t>CEO signs Halal Policy</a:t>
            </a:r>
            <a:endParaRPr/>
          </a:p>
          <a:p>
            <a:pPr marL="228604" lvl="0" indent="-228604" algn="l" rtl="0">
              <a:lnSpc>
                <a:spcPct val="90000"/>
              </a:lnSpc>
              <a:spcBef>
                <a:spcPts val="1001"/>
              </a:spcBef>
              <a:spcAft>
                <a:spcPts val="0"/>
              </a:spcAft>
              <a:buClr>
                <a:schemeClr val="dk1"/>
              </a:buClr>
              <a:buSzPts val="2000"/>
              <a:buChar char="•"/>
            </a:pPr>
            <a:r>
              <a:rPr lang="en-US" sz="2000"/>
              <a:t>Policy displayed at:</a:t>
            </a:r>
            <a:endParaRPr/>
          </a:p>
          <a:p>
            <a:pPr marL="685809" lvl="1" indent="-228604" algn="l" rtl="0">
              <a:lnSpc>
                <a:spcPct val="90000"/>
              </a:lnSpc>
              <a:spcBef>
                <a:spcPts val="500"/>
              </a:spcBef>
              <a:spcAft>
                <a:spcPts val="0"/>
              </a:spcAft>
              <a:buClr>
                <a:schemeClr val="dk1"/>
              </a:buClr>
              <a:buSzPts val="2000"/>
              <a:buChar char="•"/>
            </a:pPr>
            <a:r>
              <a:rPr lang="en-US" sz="2000"/>
              <a:t>Production area</a:t>
            </a:r>
            <a:endParaRPr/>
          </a:p>
          <a:p>
            <a:pPr marL="685809" lvl="1" indent="-228604" algn="l" rtl="0">
              <a:lnSpc>
                <a:spcPct val="90000"/>
              </a:lnSpc>
              <a:spcBef>
                <a:spcPts val="500"/>
              </a:spcBef>
              <a:spcAft>
                <a:spcPts val="0"/>
              </a:spcAft>
              <a:buClr>
                <a:schemeClr val="dk1"/>
              </a:buClr>
              <a:buSzPts val="2000"/>
              <a:buChar char="•"/>
            </a:pPr>
            <a:r>
              <a:rPr lang="en-US" sz="2000"/>
              <a:t>QA office</a:t>
            </a:r>
            <a:endParaRPr/>
          </a:p>
          <a:p>
            <a:pPr marL="228604" lvl="0" indent="-228604" algn="l" rtl="0">
              <a:lnSpc>
                <a:spcPct val="90000"/>
              </a:lnSpc>
              <a:spcBef>
                <a:spcPts val="1001"/>
              </a:spcBef>
              <a:spcAft>
                <a:spcPts val="0"/>
              </a:spcAft>
              <a:buClr>
                <a:schemeClr val="dk1"/>
              </a:buClr>
              <a:buSzPts val="2000"/>
              <a:buChar char="•"/>
            </a:pPr>
            <a:r>
              <a:rPr lang="en-US" sz="2000"/>
              <a:t>Employees trained on policy</a:t>
            </a:r>
            <a:endParaRPr/>
          </a:p>
          <a:p>
            <a:pPr marL="0" lvl="0" indent="0" algn="l" rtl="0">
              <a:lnSpc>
                <a:spcPct val="90000"/>
              </a:lnSpc>
              <a:spcBef>
                <a:spcPts val="1001"/>
              </a:spcBef>
              <a:spcAft>
                <a:spcPts val="0"/>
              </a:spcAft>
              <a:buClr>
                <a:schemeClr val="dk1"/>
              </a:buClr>
              <a:buSzPts val="2000"/>
              <a:buNone/>
            </a:pPr>
            <a:r>
              <a:rPr lang="en-US" sz="2000"/>
              <a:t>❌ Bad Practice</a:t>
            </a:r>
            <a:endParaRPr/>
          </a:p>
          <a:p>
            <a:pPr marL="228604" lvl="0" indent="-228604" algn="l" rtl="0">
              <a:lnSpc>
                <a:spcPct val="90000"/>
              </a:lnSpc>
              <a:spcBef>
                <a:spcPts val="1001"/>
              </a:spcBef>
              <a:spcAft>
                <a:spcPts val="0"/>
              </a:spcAft>
              <a:buClr>
                <a:schemeClr val="dk1"/>
              </a:buClr>
              <a:buSzPts val="2000"/>
              <a:buChar char="•"/>
            </a:pPr>
            <a:r>
              <a:rPr lang="en-US" sz="2000"/>
              <a:t>Policy exists but not signed, </a:t>
            </a:r>
            <a:endParaRPr/>
          </a:p>
          <a:p>
            <a:pPr marL="228604" lvl="0" indent="-228604" algn="l" rtl="0">
              <a:lnSpc>
                <a:spcPct val="90000"/>
              </a:lnSpc>
              <a:spcBef>
                <a:spcPts val="1001"/>
              </a:spcBef>
              <a:spcAft>
                <a:spcPts val="0"/>
              </a:spcAft>
              <a:buClr>
                <a:schemeClr val="dk1"/>
              </a:buClr>
              <a:buSzPts val="2000"/>
              <a:buChar char="•"/>
            </a:pPr>
            <a:r>
              <a:rPr lang="en-US" sz="2000"/>
              <a:t>employees unaware, </a:t>
            </a:r>
            <a:endParaRPr/>
          </a:p>
          <a:p>
            <a:pPr marL="228604" lvl="0" indent="-228604" algn="l" rtl="0">
              <a:lnSpc>
                <a:spcPct val="90000"/>
              </a:lnSpc>
              <a:spcBef>
                <a:spcPts val="1001"/>
              </a:spcBef>
              <a:spcAft>
                <a:spcPts val="0"/>
              </a:spcAft>
              <a:buClr>
                <a:schemeClr val="dk1"/>
              </a:buClr>
              <a:buSzPts val="2000"/>
              <a:buChar char="•"/>
            </a:pPr>
            <a:r>
              <a:rPr lang="en-US" sz="2000"/>
              <a:t>only kept for audit</a:t>
            </a:r>
            <a:endParaRPr sz="2000"/>
          </a:p>
        </p:txBody>
      </p:sp>
      <p:sp>
        <p:nvSpPr>
          <p:cNvPr id="416" name="Google Shape;416;p1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17" name="Google Shape;417;p1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18" name="Google Shape;418;p1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419" name="Google Shape;419;p13"/>
          <p:cNvPicPr preferRelativeResize="0"/>
          <p:nvPr/>
        </p:nvPicPr>
        <p:blipFill rotWithShape="1">
          <a:blip r:embed="rId3">
            <a:alphaModFix/>
          </a:blip>
          <a:srcRect/>
          <a:stretch/>
        </p:blipFill>
        <p:spPr>
          <a:xfrm>
            <a:off x="4297681" y="1285168"/>
            <a:ext cx="7056118" cy="43841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14"/>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INTRODUCTION</a:t>
            </a:r>
            <a:endParaRPr/>
          </a:p>
        </p:txBody>
      </p:sp>
      <p:sp>
        <p:nvSpPr>
          <p:cNvPr id="425" name="Google Shape;425;p14"/>
          <p:cNvSpPr txBox="1">
            <a:spLocks noGrp="1"/>
          </p:cNvSpPr>
          <p:nvPr>
            <p:ph type="body" idx="1"/>
          </p:nvPr>
        </p:nvSpPr>
        <p:spPr>
          <a:xfrm>
            <a:off x="838202" y="1920239"/>
            <a:ext cx="3406280" cy="425672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b="1"/>
              <a:t>Role of Employees </a:t>
            </a:r>
            <a:endParaRPr/>
          </a:p>
          <a:p>
            <a:pPr marL="0" lvl="0" indent="0" algn="l" rtl="0">
              <a:lnSpc>
                <a:spcPct val="90000"/>
              </a:lnSpc>
              <a:spcBef>
                <a:spcPts val="1001"/>
              </a:spcBef>
              <a:spcAft>
                <a:spcPts val="0"/>
              </a:spcAft>
              <a:buClr>
                <a:schemeClr val="dk1"/>
              </a:buClr>
              <a:buSzPts val="2000"/>
              <a:buNone/>
            </a:pPr>
            <a:r>
              <a:rPr lang="en-US" sz="2000"/>
              <a:t>Employees </a:t>
            </a:r>
            <a:r>
              <a:rPr lang="en-US" sz="2000" b="1"/>
              <a:t>do NOT need to understand religion</a:t>
            </a:r>
            <a:r>
              <a:rPr lang="en-US" sz="2000"/>
              <a:t>, but must:</a:t>
            </a:r>
            <a:endParaRPr/>
          </a:p>
          <a:p>
            <a:pPr marL="228604" lvl="0" indent="-228604" algn="l" rtl="0">
              <a:lnSpc>
                <a:spcPct val="90000"/>
              </a:lnSpc>
              <a:spcBef>
                <a:spcPts val="1001"/>
              </a:spcBef>
              <a:spcAft>
                <a:spcPts val="0"/>
              </a:spcAft>
              <a:buClr>
                <a:schemeClr val="dk1"/>
              </a:buClr>
              <a:buSzPts val="2000"/>
              <a:buChar char="•"/>
            </a:pPr>
            <a:r>
              <a:rPr lang="en-US" sz="2000"/>
              <a:t>Follow SOP</a:t>
            </a:r>
            <a:endParaRPr/>
          </a:p>
          <a:p>
            <a:pPr marL="228604" lvl="0" indent="-228604" algn="l" rtl="0">
              <a:lnSpc>
                <a:spcPct val="90000"/>
              </a:lnSpc>
              <a:spcBef>
                <a:spcPts val="1001"/>
              </a:spcBef>
              <a:spcAft>
                <a:spcPts val="0"/>
              </a:spcAft>
              <a:buClr>
                <a:schemeClr val="dk1"/>
              </a:buClr>
              <a:buSzPts val="2000"/>
              <a:buChar char="•"/>
            </a:pPr>
            <a:r>
              <a:rPr lang="en-US" sz="2000"/>
              <a:t>Use approved materials</a:t>
            </a:r>
            <a:endParaRPr/>
          </a:p>
          <a:p>
            <a:pPr marL="228604" lvl="0" indent="-228604" algn="l" rtl="0">
              <a:lnSpc>
                <a:spcPct val="90000"/>
              </a:lnSpc>
              <a:spcBef>
                <a:spcPts val="1001"/>
              </a:spcBef>
              <a:spcAft>
                <a:spcPts val="0"/>
              </a:spcAft>
              <a:buClr>
                <a:schemeClr val="dk1"/>
              </a:buClr>
              <a:buSzPts val="2000"/>
              <a:buChar char="•"/>
            </a:pPr>
            <a:r>
              <a:rPr lang="en-US" sz="2000"/>
              <a:t>Report abnormalities</a:t>
            </a:r>
            <a:endParaRPr/>
          </a:p>
          <a:p>
            <a:pPr marL="0" lvl="0" indent="0" algn="l" rtl="0">
              <a:lnSpc>
                <a:spcPct val="90000"/>
              </a:lnSpc>
              <a:spcBef>
                <a:spcPts val="1001"/>
              </a:spcBef>
              <a:spcAft>
                <a:spcPts val="0"/>
              </a:spcAft>
              <a:buClr>
                <a:schemeClr val="dk1"/>
              </a:buClr>
              <a:buSzPts val="2000"/>
              <a:buNone/>
            </a:pPr>
            <a:endParaRPr sz="2000"/>
          </a:p>
          <a:p>
            <a:pPr marL="228604" lvl="0" indent="-50803" algn="l" rtl="0">
              <a:lnSpc>
                <a:spcPct val="90000"/>
              </a:lnSpc>
              <a:spcBef>
                <a:spcPts val="1001"/>
              </a:spcBef>
              <a:spcAft>
                <a:spcPts val="0"/>
              </a:spcAft>
              <a:buClr>
                <a:schemeClr val="dk1"/>
              </a:buClr>
              <a:buSzPts val="2800"/>
              <a:buNone/>
            </a:pPr>
            <a:endParaRPr/>
          </a:p>
        </p:txBody>
      </p:sp>
      <p:sp>
        <p:nvSpPr>
          <p:cNvPr id="426" name="Google Shape;426;p1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27" name="Google Shape;427;p1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28" name="Google Shape;428;p1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429" name="Google Shape;429;p14"/>
          <p:cNvPicPr preferRelativeResize="0"/>
          <p:nvPr/>
        </p:nvPicPr>
        <p:blipFill rotWithShape="1">
          <a:blip r:embed="rId3">
            <a:alphaModFix/>
          </a:blip>
          <a:srcRect/>
          <a:stretch/>
        </p:blipFill>
        <p:spPr>
          <a:xfrm>
            <a:off x="4244482" y="1809995"/>
            <a:ext cx="7038195" cy="38421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15"/>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grpSp>
        <p:nvGrpSpPr>
          <p:cNvPr id="435" name="Google Shape;435;p15"/>
          <p:cNvGrpSpPr/>
          <p:nvPr/>
        </p:nvGrpSpPr>
        <p:grpSpPr>
          <a:xfrm>
            <a:off x="838202" y="1699901"/>
            <a:ext cx="10515600" cy="3541770"/>
            <a:chOff x="0" y="8754"/>
            <a:chExt cx="10515600" cy="3541770"/>
          </a:xfrm>
        </p:grpSpPr>
        <p:sp>
          <p:nvSpPr>
            <p:cNvPr id="436" name="Google Shape;436;p15"/>
            <p:cNvSpPr/>
            <p:nvPr/>
          </p:nvSpPr>
          <p:spPr>
            <a:xfrm>
              <a:off x="0" y="8754"/>
              <a:ext cx="10515600" cy="835200"/>
            </a:xfrm>
            <a:prstGeom prst="rect">
              <a:avLst/>
            </a:prstGeom>
            <a:solidFill>
              <a:srgbClr val="4372C3"/>
            </a:solidFill>
            <a:ln w="12700"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5"/>
            <p:cNvSpPr txBox="1"/>
            <p:nvPr/>
          </p:nvSpPr>
          <p:spPr>
            <a:xfrm>
              <a:off x="0" y="8754"/>
              <a:ext cx="10515600" cy="835200"/>
            </a:xfrm>
            <a:prstGeom prst="rect">
              <a:avLst/>
            </a:prstGeom>
            <a:noFill/>
            <a:ln>
              <a:noFill/>
            </a:ln>
          </p:spPr>
          <p:txBody>
            <a:bodyPr spcFirstLastPara="1" wrap="square" lIns="206225" tIns="117850" rIns="206225" bIns="117850" anchor="ctr" anchorCtr="0">
              <a:noAutofit/>
            </a:bodyPr>
            <a:lstStyle/>
            <a:p>
              <a:pPr marL="0" marR="0" lvl="0" indent="0" algn="ctr" rtl="0">
                <a:lnSpc>
                  <a:spcPct val="90000"/>
                </a:lnSpc>
                <a:spcBef>
                  <a:spcPts val="0"/>
                </a:spcBef>
                <a:spcAft>
                  <a:spcPts val="0"/>
                </a:spcAft>
                <a:buClr>
                  <a:schemeClr val="lt1"/>
                </a:buClr>
                <a:buSzPts val="2900"/>
                <a:buFont typeface="Calibri"/>
                <a:buNone/>
              </a:pPr>
              <a:r>
                <a:rPr lang="en-US" sz="2900">
                  <a:solidFill>
                    <a:schemeClr val="lt1"/>
                  </a:solidFill>
                  <a:latin typeface="Calibri"/>
                  <a:ea typeface="Calibri"/>
                  <a:cs typeface="Calibri"/>
                  <a:sym typeface="Calibri"/>
                </a:rPr>
                <a:t>WHAT IS A HALAL POLICY?</a:t>
              </a:r>
              <a:endParaRPr sz="2900">
                <a:solidFill>
                  <a:schemeClr val="lt1"/>
                </a:solidFill>
                <a:latin typeface="Calibri"/>
                <a:ea typeface="Calibri"/>
                <a:cs typeface="Calibri"/>
                <a:sym typeface="Calibri"/>
              </a:endParaRPr>
            </a:p>
          </p:txBody>
        </p:sp>
        <p:sp>
          <p:nvSpPr>
            <p:cNvPr id="438" name="Google Shape;438;p15"/>
            <p:cNvSpPr/>
            <p:nvPr/>
          </p:nvSpPr>
          <p:spPr>
            <a:xfrm>
              <a:off x="0" y="843954"/>
              <a:ext cx="10515600" cy="2706570"/>
            </a:xfrm>
            <a:prstGeom prst="rect">
              <a:avLst/>
            </a:prstGeom>
            <a:solidFill>
              <a:srgbClr val="CCD3EA">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5"/>
            <p:cNvSpPr txBox="1"/>
            <p:nvPr/>
          </p:nvSpPr>
          <p:spPr>
            <a:xfrm>
              <a:off x="0" y="843954"/>
              <a:ext cx="10515600" cy="2706570"/>
            </a:xfrm>
            <a:prstGeom prst="rect">
              <a:avLst/>
            </a:prstGeom>
            <a:noFill/>
            <a:ln>
              <a:noFill/>
            </a:ln>
          </p:spPr>
          <p:txBody>
            <a:bodyPr spcFirstLastPara="1" wrap="square" lIns="154675" tIns="154675" rIns="206225" bIns="232025" anchor="t" anchorCtr="0">
              <a:noAutofit/>
            </a:bodyPr>
            <a:lstStyle/>
            <a:p>
              <a:pPr marL="285750" marR="0" lvl="1" indent="-285750" algn="l" rtl="0">
                <a:lnSpc>
                  <a:spcPct val="90000"/>
                </a:lnSpc>
                <a:spcBef>
                  <a:spcPts val="0"/>
                </a:spcBef>
                <a:spcAft>
                  <a:spcPts val="0"/>
                </a:spcAft>
                <a:buClr>
                  <a:schemeClr val="dk1"/>
                </a:buClr>
                <a:buSzPts val="2900"/>
                <a:buFont typeface="Calibri"/>
                <a:buChar char="•"/>
              </a:pPr>
              <a:r>
                <a:rPr lang="en-US" sz="2900" b="0" i="0" u="none" strike="noStrike" cap="none">
                  <a:solidFill>
                    <a:schemeClr val="dk1"/>
                  </a:solidFill>
                  <a:latin typeface="Calibri"/>
                  <a:ea typeface="Calibri"/>
                  <a:cs typeface="Calibri"/>
                  <a:sym typeface="Calibri"/>
                </a:rPr>
                <a:t>A Halal Policy is a </a:t>
              </a:r>
              <a:r>
                <a:rPr lang="en-US" sz="2900" b="1" i="0" u="none" strike="noStrike" cap="none">
                  <a:solidFill>
                    <a:schemeClr val="dk1"/>
                  </a:solidFill>
                  <a:latin typeface="Calibri"/>
                  <a:ea typeface="Calibri"/>
                  <a:cs typeface="Calibri"/>
                  <a:sym typeface="Calibri"/>
                </a:rPr>
                <a:t>top management commitment statement</a:t>
              </a:r>
              <a:r>
                <a:rPr lang="en-US" sz="2900" b="0" i="0" u="none" strike="noStrike" cap="none">
                  <a:solidFill>
                    <a:schemeClr val="dk1"/>
                  </a:solidFill>
                  <a:latin typeface="Calibri"/>
                  <a:ea typeface="Calibri"/>
                  <a:cs typeface="Calibri"/>
                  <a:sym typeface="Calibri"/>
                </a:rPr>
                <a:t>.</a:t>
              </a:r>
              <a:endParaRPr sz="2900" b="0" i="0" u="none" strike="noStrike" cap="none">
                <a:solidFill>
                  <a:schemeClr val="dk1"/>
                </a:solidFill>
                <a:latin typeface="Calibri"/>
                <a:ea typeface="Calibri"/>
                <a:cs typeface="Calibri"/>
                <a:sym typeface="Calibri"/>
              </a:endParaRPr>
            </a:p>
            <a:p>
              <a:pPr marL="285750" marR="0" lvl="1" indent="-285750" algn="l" rtl="0">
                <a:lnSpc>
                  <a:spcPct val="90000"/>
                </a:lnSpc>
                <a:spcBef>
                  <a:spcPts val="435"/>
                </a:spcBef>
                <a:spcAft>
                  <a:spcPts val="0"/>
                </a:spcAft>
                <a:buClr>
                  <a:schemeClr val="dk1"/>
                </a:buClr>
                <a:buSzPts val="2900"/>
                <a:buFont typeface="Calibri"/>
                <a:buChar char="•"/>
              </a:pPr>
              <a:r>
                <a:rPr lang="en-US" sz="2900" b="0" i="0" u="none" strike="noStrike" cap="none">
                  <a:solidFill>
                    <a:schemeClr val="dk1"/>
                  </a:solidFill>
                  <a:latin typeface="Calibri"/>
                  <a:ea typeface="Calibri"/>
                  <a:cs typeface="Calibri"/>
                  <a:sym typeface="Calibri"/>
                </a:rPr>
                <a:t>It is not a religious declaration.</a:t>
              </a:r>
              <a:endParaRPr sz="2900" b="0" i="0" u="none" strike="noStrike" cap="none">
                <a:solidFill>
                  <a:schemeClr val="dk1"/>
                </a:solidFill>
                <a:latin typeface="Calibri"/>
                <a:ea typeface="Calibri"/>
                <a:cs typeface="Calibri"/>
                <a:sym typeface="Calibri"/>
              </a:endParaRPr>
            </a:p>
            <a:p>
              <a:pPr marL="285750" marR="0" lvl="1" indent="-285750" algn="l" rtl="0">
                <a:lnSpc>
                  <a:spcPct val="90000"/>
                </a:lnSpc>
                <a:spcBef>
                  <a:spcPts val="435"/>
                </a:spcBef>
                <a:spcAft>
                  <a:spcPts val="0"/>
                </a:spcAft>
                <a:buClr>
                  <a:schemeClr val="dk1"/>
                </a:buClr>
                <a:buSzPts val="2900"/>
                <a:buFont typeface="Calibri"/>
                <a:buChar char="•"/>
              </a:pPr>
              <a:r>
                <a:rPr lang="en-US" sz="2900" b="0" i="0" u="none" strike="noStrike" cap="none">
                  <a:solidFill>
                    <a:schemeClr val="dk1"/>
                  </a:solidFill>
                  <a:latin typeface="Calibri"/>
                  <a:ea typeface="Calibri"/>
                  <a:cs typeface="Calibri"/>
                  <a:sym typeface="Calibri"/>
                </a:rPr>
                <a:t>It is a business and compliance policy, like:</a:t>
              </a:r>
              <a:endParaRPr sz="2900" b="0" i="0" u="none" strike="noStrike" cap="none">
                <a:solidFill>
                  <a:schemeClr val="dk1"/>
                </a:solidFill>
                <a:latin typeface="Calibri"/>
                <a:ea typeface="Calibri"/>
                <a:cs typeface="Calibri"/>
                <a:sym typeface="Calibri"/>
              </a:endParaRPr>
            </a:p>
            <a:p>
              <a:pPr marL="571500" marR="0" lvl="2" indent="-285750" algn="l" rtl="0">
                <a:lnSpc>
                  <a:spcPct val="90000"/>
                </a:lnSpc>
                <a:spcBef>
                  <a:spcPts val="435"/>
                </a:spcBef>
                <a:spcAft>
                  <a:spcPts val="0"/>
                </a:spcAft>
                <a:buClr>
                  <a:schemeClr val="dk1"/>
                </a:buClr>
                <a:buSzPts val="2900"/>
                <a:buFont typeface="Calibri"/>
                <a:buChar char="•"/>
              </a:pPr>
              <a:r>
                <a:rPr lang="en-US" sz="2900" b="0" i="0" u="none" strike="noStrike" cap="none">
                  <a:solidFill>
                    <a:schemeClr val="dk1"/>
                  </a:solidFill>
                  <a:latin typeface="Calibri"/>
                  <a:ea typeface="Calibri"/>
                  <a:cs typeface="Calibri"/>
                  <a:sym typeface="Calibri"/>
                </a:rPr>
                <a:t>Quality Policy</a:t>
              </a:r>
              <a:endParaRPr sz="2900" b="0" i="0" u="none" strike="noStrike" cap="none">
                <a:solidFill>
                  <a:schemeClr val="dk1"/>
                </a:solidFill>
                <a:latin typeface="Calibri"/>
                <a:ea typeface="Calibri"/>
                <a:cs typeface="Calibri"/>
                <a:sym typeface="Calibri"/>
              </a:endParaRPr>
            </a:p>
            <a:p>
              <a:pPr marL="571500" marR="0" lvl="2" indent="-285750" algn="l" rtl="0">
                <a:lnSpc>
                  <a:spcPct val="90000"/>
                </a:lnSpc>
                <a:spcBef>
                  <a:spcPts val="435"/>
                </a:spcBef>
                <a:spcAft>
                  <a:spcPts val="0"/>
                </a:spcAft>
                <a:buClr>
                  <a:schemeClr val="dk1"/>
                </a:buClr>
                <a:buSzPts val="2900"/>
                <a:buFont typeface="Calibri"/>
                <a:buChar char="•"/>
              </a:pPr>
              <a:r>
                <a:rPr lang="en-US" sz="2900" b="0" i="0" u="none" strike="noStrike" cap="none">
                  <a:solidFill>
                    <a:schemeClr val="dk1"/>
                  </a:solidFill>
                  <a:latin typeface="Calibri"/>
                  <a:ea typeface="Calibri"/>
                  <a:cs typeface="Calibri"/>
                  <a:sym typeface="Calibri"/>
                </a:rPr>
                <a:t>Food Safety Policy</a:t>
              </a:r>
              <a:endParaRPr sz="2900" b="0" i="0" u="none" strike="noStrike" cap="none">
                <a:solidFill>
                  <a:schemeClr val="dk1"/>
                </a:solidFill>
                <a:latin typeface="Calibri"/>
                <a:ea typeface="Calibri"/>
                <a:cs typeface="Calibri"/>
                <a:sym typeface="Calibri"/>
              </a:endParaRPr>
            </a:p>
          </p:txBody>
        </p:sp>
      </p:grpSp>
      <p:sp>
        <p:nvSpPr>
          <p:cNvPr id="440" name="Google Shape;440;p1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41" name="Google Shape;441;p1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42" name="Google Shape;442;p1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443" name="Google Shape;443;p15"/>
          <p:cNvSpPr txBox="1"/>
          <p:nvPr/>
        </p:nvSpPr>
        <p:spPr>
          <a:xfrm>
            <a:off x="838199" y="5480223"/>
            <a:ext cx="10515599" cy="461665"/>
          </a:xfrm>
          <a:prstGeom prst="rect">
            <a:avLst/>
          </a:prstGeom>
          <a:solidFill>
            <a:schemeClr val="accen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lt1"/>
                </a:solidFill>
                <a:latin typeface="Calibri"/>
                <a:ea typeface="Calibri"/>
                <a:cs typeface="Calibri"/>
                <a:sym typeface="Calibri"/>
              </a:rPr>
              <a:t>If top management does not commit, the system will not be effective.</a:t>
            </a:r>
            <a:endParaRPr sz="2400" b="1">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16"/>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grpSp>
        <p:nvGrpSpPr>
          <p:cNvPr id="449" name="Google Shape;449;p16"/>
          <p:cNvGrpSpPr/>
          <p:nvPr/>
        </p:nvGrpSpPr>
        <p:grpSpPr>
          <a:xfrm>
            <a:off x="942550" y="2017444"/>
            <a:ext cx="9677638" cy="3931541"/>
            <a:chOff x="418980" y="1833"/>
            <a:chExt cx="9677638" cy="3931541"/>
          </a:xfrm>
        </p:grpSpPr>
        <p:sp>
          <p:nvSpPr>
            <p:cNvPr id="450" name="Google Shape;450;p16"/>
            <p:cNvSpPr/>
            <p:nvPr/>
          </p:nvSpPr>
          <p:spPr>
            <a:xfrm>
              <a:off x="418980" y="1833"/>
              <a:ext cx="3024261" cy="1814557"/>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6"/>
            <p:cNvSpPr txBox="1"/>
            <p:nvPr/>
          </p:nvSpPr>
          <p:spPr>
            <a:xfrm>
              <a:off x="418980" y="1833"/>
              <a:ext cx="3024261" cy="1814557"/>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Organization Commitment Statement</a:t>
              </a:r>
              <a:endParaRPr/>
            </a:p>
          </p:txBody>
        </p:sp>
        <p:sp>
          <p:nvSpPr>
            <p:cNvPr id="452" name="Google Shape;452;p16"/>
            <p:cNvSpPr/>
            <p:nvPr/>
          </p:nvSpPr>
          <p:spPr>
            <a:xfrm>
              <a:off x="3745669" y="1833"/>
              <a:ext cx="3024261" cy="1814557"/>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6"/>
            <p:cNvSpPr txBox="1"/>
            <p:nvPr/>
          </p:nvSpPr>
          <p:spPr>
            <a:xfrm>
              <a:off x="3745669" y="1833"/>
              <a:ext cx="3024261" cy="1814557"/>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Compliance &amp; Standards Reference</a:t>
              </a:r>
              <a:endParaRPr/>
            </a:p>
          </p:txBody>
        </p:sp>
        <p:sp>
          <p:nvSpPr>
            <p:cNvPr id="454" name="Google Shape;454;p16"/>
            <p:cNvSpPr/>
            <p:nvPr/>
          </p:nvSpPr>
          <p:spPr>
            <a:xfrm>
              <a:off x="7072357" y="1833"/>
              <a:ext cx="3024261" cy="1814557"/>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6"/>
            <p:cNvSpPr txBox="1"/>
            <p:nvPr/>
          </p:nvSpPr>
          <p:spPr>
            <a:xfrm>
              <a:off x="7072357" y="1833"/>
              <a:ext cx="3024261" cy="1814557"/>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Control of Materials &amp; Processes</a:t>
              </a:r>
              <a:endParaRPr/>
            </a:p>
          </p:txBody>
        </p:sp>
        <p:sp>
          <p:nvSpPr>
            <p:cNvPr id="456" name="Google Shape;456;p16"/>
            <p:cNvSpPr/>
            <p:nvPr/>
          </p:nvSpPr>
          <p:spPr>
            <a:xfrm>
              <a:off x="418980" y="2118817"/>
              <a:ext cx="3024261" cy="1814557"/>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6"/>
            <p:cNvSpPr txBox="1"/>
            <p:nvPr/>
          </p:nvSpPr>
          <p:spPr>
            <a:xfrm>
              <a:off x="418980" y="2118817"/>
              <a:ext cx="3024261" cy="1814557"/>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Continuous Improvement Commitment</a:t>
              </a:r>
              <a:endParaRPr/>
            </a:p>
          </p:txBody>
        </p:sp>
        <p:sp>
          <p:nvSpPr>
            <p:cNvPr id="458" name="Google Shape;458;p16"/>
            <p:cNvSpPr/>
            <p:nvPr/>
          </p:nvSpPr>
          <p:spPr>
            <a:xfrm>
              <a:off x="3745669" y="2118817"/>
              <a:ext cx="3024261" cy="1814557"/>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6"/>
            <p:cNvSpPr txBox="1"/>
            <p:nvPr/>
          </p:nvSpPr>
          <p:spPr>
            <a:xfrm>
              <a:off x="3745669" y="2118817"/>
              <a:ext cx="3024261" cy="1814557"/>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Roles, Resources &amp; Responsibility</a:t>
              </a:r>
              <a:endParaRPr/>
            </a:p>
          </p:txBody>
        </p:sp>
        <p:sp>
          <p:nvSpPr>
            <p:cNvPr id="460" name="Google Shape;460;p16"/>
            <p:cNvSpPr/>
            <p:nvPr/>
          </p:nvSpPr>
          <p:spPr>
            <a:xfrm>
              <a:off x="7072357" y="2118817"/>
              <a:ext cx="3024261" cy="1814557"/>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6"/>
            <p:cNvSpPr txBox="1"/>
            <p:nvPr/>
          </p:nvSpPr>
          <p:spPr>
            <a:xfrm>
              <a:off x="7072357" y="2118817"/>
              <a:ext cx="3024261" cy="1814557"/>
            </a:xfrm>
            <a:prstGeom prst="rect">
              <a:avLst/>
            </a:prstGeom>
            <a:noFill/>
            <a:ln>
              <a:noFill/>
            </a:ln>
          </p:spPr>
          <p:txBody>
            <a:bodyPr spcFirstLastPara="1" wrap="square" lIns="121900" tIns="121900" rIns="121900" bIns="121900" anchor="ctr" anchorCtr="0">
              <a:noAutofit/>
            </a:bodyPr>
            <a:lstStyle/>
            <a:p>
              <a:pPr marL="0" marR="0" lvl="0" indent="0" algn="ctr" rtl="0">
                <a:lnSpc>
                  <a:spcPct val="90000"/>
                </a:lnSpc>
                <a:spcBef>
                  <a:spcPts val="0"/>
                </a:spcBef>
                <a:spcAft>
                  <a:spcPts val="0"/>
                </a:spcAft>
                <a:buClr>
                  <a:schemeClr val="lt1"/>
                </a:buClr>
                <a:buSzPts val="3200"/>
                <a:buFont typeface="Calibri"/>
                <a:buNone/>
              </a:pPr>
              <a:r>
                <a:rPr lang="en-US" sz="3200" b="1">
                  <a:solidFill>
                    <a:schemeClr val="lt1"/>
                  </a:solidFill>
                  <a:latin typeface="Calibri"/>
                  <a:ea typeface="Calibri"/>
                  <a:cs typeface="Calibri"/>
                  <a:sym typeface="Calibri"/>
                </a:rPr>
                <a:t>Communication &amp; Implementation</a:t>
              </a:r>
              <a:endParaRPr/>
            </a:p>
          </p:txBody>
        </p:sp>
      </p:grpSp>
      <p:sp>
        <p:nvSpPr>
          <p:cNvPr id="462" name="Google Shape;462;p1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63" name="Google Shape;463;p1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64" name="Google Shape;464;p1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465" name="Google Shape;465;p16"/>
          <p:cNvSpPr txBox="1"/>
          <p:nvPr/>
        </p:nvSpPr>
        <p:spPr>
          <a:xfrm>
            <a:off x="838199" y="1398327"/>
            <a:ext cx="612058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HALAL POLICY STRUCTURE: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7"/>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471" name="Google Shape;471;p17"/>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AutoNum type="arabicPeriod"/>
            </a:pPr>
            <a:r>
              <a:rPr lang="en-US" b="1">
                <a:highlight>
                  <a:srgbClr val="00FFFF"/>
                </a:highlight>
              </a:rPr>
              <a:t>Organization Commitment Statement</a:t>
            </a:r>
            <a:endParaRPr/>
          </a:p>
          <a:p>
            <a:pPr marL="0" lvl="0" indent="0" algn="l" rtl="0">
              <a:lnSpc>
                <a:spcPct val="90000"/>
              </a:lnSpc>
              <a:spcBef>
                <a:spcPts val="1001"/>
              </a:spcBef>
              <a:spcAft>
                <a:spcPts val="0"/>
              </a:spcAft>
              <a:buClr>
                <a:schemeClr val="dk1"/>
              </a:buClr>
              <a:buSzPts val="2800"/>
              <a:buNone/>
            </a:pPr>
            <a:endParaRPr>
              <a:highlight>
                <a:srgbClr val="00FFFF"/>
              </a:highlight>
            </a:endParaRPr>
          </a:p>
          <a:p>
            <a:pPr marL="228604" lvl="0" indent="-228604" algn="l" rtl="0">
              <a:lnSpc>
                <a:spcPct val="90000"/>
              </a:lnSpc>
              <a:spcBef>
                <a:spcPts val="1001"/>
              </a:spcBef>
              <a:spcAft>
                <a:spcPts val="0"/>
              </a:spcAft>
              <a:buClr>
                <a:schemeClr val="dk1"/>
              </a:buClr>
              <a:buSzPts val="2800"/>
              <a:buChar char="•"/>
            </a:pPr>
            <a:r>
              <a:rPr lang="en-US"/>
              <a:t>States who is committing</a:t>
            </a:r>
            <a:endParaRPr/>
          </a:p>
          <a:p>
            <a:pPr marL="228604" lvl="0" indent="-228604" algn="l" rtl="0">
              <a:lnSpc>
                <a:spcPct val="90000"/>
              </a:lnSpc>
              <a:spcBef>
                <a:spcPts val="1001"/>
              </a:spcBef>
              <a:spcAft>
                <a:spcPts val="0"/>
              </a:spcAft>
              <a:buClr>
                <a:schemeClr val="dk1"/>
              </a:buClr>
              <a:buSzPts val="2800"/>
              <a:buChar char="•"/>
            </a:pPr>
            <a:r>
              <a:rPr lang="en-US"/>
              <a:t>Mentions halal compliance clearly</a:t>
            </a:r>
            <a:endParaRPr/>
          </a:p>
          <a:p>
            <a:pPr marL="0" lvl="0" indent="0"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t>🔹 Required wording elements:</a:t>
            </a:r>
            <a:endParaRPr/>
          </a:p>
          <a:p>
            <a:pPr marL="685809" lvl="1" indent="-228604" algn="l" rtl="0">
              <a:lnSpc>
                <a:spcPct val="90000"/>
              </a:lnSpc>
              <a:spcBef>
                <a:spcPts val="500"/>
              </a:spcBef>
              <a:spcAft>
                <a:spcPts val="0"/>
              </a:spcAft>
              <a:buClr>
                <a:schemeClr val="dk1"/>
              </a:buClr>
              <a:buSzPts val="2400"/>
              <a:buChar char="•"/>
            </a:pPr>
            <a:r>
              <a:rPr lang="en-US"/>
              <a:t>Company name</a:t>
            </a:r>
            <a:endParaRPr/>
          </a:p>
          <a:p>
            <a:pPr marL="685809" lvl="1" indent="-228604" algn="l" rtl="0">
              <a:lnSpc>
                <a:spcPct val="90000"/>
              </a:lnSpc>
              <a:spcBef>
                <a:spcPts val="500"/>
              </a:spcBef>
              <a:spcAft>
                <a:spcPts val="0"/>
              </a:spcAft>
              <a:buClr>
                <a:schemeClr val="dk1"/>
              </a:buClr>
              <a:buSzPts val="2400"/>
              <a:buChar char="•"/>
            </a:pPr>
            <a:r>
              <a:rPr lang="en-US"/>
              <a:t>Commitment to halal markets</a:t>
            </a:r>
            <a:endParaRPr/>
          </a:p>
          <a:p>
            <a:pPr marL="685809" lvl="1" indent="-228604" algn="l" rtl="0">
              <a:lnSpc>
                <a:spcPct val="90000"/>
              </a:lnSpc>
              <a:spcBef>
                <a:spcPts val="500"/>
              </a:spcBef>
              <a:spcAft>
                <a:spcPts val="0"/>
              </a:spcAft>
              <a:buClr>
                <a:schemeClr val="dk1"/>
              </a:buClr>
              <a:buSzPts val="2400"/>
              <a:buChar char="•"/>
            </a:pPr>
            <a:r>
              <a:rPr lang="en-US"/>
              <a:t>Compliance obligation</a:t>
            </a:r>
            <a:endParaRPr/>
          </a:p>
        </p:txBody>
      </p:sp>
      <p:sp>
        <p:nvSpPr>
          <p:cNvPr id="472" name="Google Shape;47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73" name="Google Shape;47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74" name="Google Shape;47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475" name="Google Shape;475;p17"/>
          <p:cNvPicPr preferRelativeResize="0"/>
          <p:nvPr/>
        </p:nvPicPr>
        <p:blipFill rotWithShape="1">
          <a:blip r:embed="rId3">
            <a:alphaModFix/>
          </a:blip>
          <a:srcRect r="12064"/>
          <a:stretch/>
        </p:blipFill>
        <p:spPr>
          <a:xfrm>
            <a:off x="7061200" y="3512113"/>
            <a:ext cx="4292598" cy="26648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18"/>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481" name="Google Shape;481;p18"/>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b="1">
                <a:highlight>
                  <a:srgbClr val="00FFFF"/>
                </a:highlight>
              </a:rPr>
              <a:t>2. Compliance &amp; Standards Reference</a:t>
            </a:r>
            <a:endParaRPr/>
          </a:p>
          <a:p>
            <a:pPr marL="0" lvl="0" indent="0" algn="l" rtl="0">
              <a:lnSpc>
                <a:spcPct val="90000"/>
              </a:lnSpc>
              <a:spcBef>
                <a:spcPts val="1001"/>
              </a:spcBef>
              <a:spcAft>
                <a:spcPts val="0"/>
              </a:spcAft>
              <a:buClr>
                <a:schemeClr val="dk1"/>
              </a:buClr>
              <a:buSzPts val="2800"/>
              <a:buNone/>
            </a:pPr>
            <a:endParaRPr b="1">
              <a:highlight>
                <a:srgbClr val="00FFFF"/>
              </a:highlight>
            </a:endParaRPr>
          </a:p>
          <a:p>
            <a:pPr marL="228604" lvl="0" indent="-228604" algn="l" rtl="0">
              <a:lnSpc>
                <a:spcPct val="90000"/>
              </a:lnSpc>
              <a:spcBef>
                <a:spcPts val="1001"/>
              </a:spcBef>
              <a:spcAft>
                <a:spcPts val="0"/>
              </a:spcAft>
              <a:buClr>
                <a:schemeClr val="dk1"/>
              </a:buClr>
              <a:buSzPts val="2800"/>
              <a:buChar char="•"/>
            </a:pPr>
            <a:r>
              <a:rPr lang="en-US"/>
              <a:t>Mentions applicable halal standards</a:t>
            </a:r>
            <a:endParaRPr/>
          </a:p>
          <a:p>
            <a:pPr marL="228604" lvl="0" indent="-228604" algn="l" rtl="0">
              <a:lnSpc>
                <a:spcPct val="90000"/>
              </a:lnSpc>
              <a:spcBef>
                <a:spcPts val="1001"/>
              </a:spcBef>
              <a:spcAft>
                <a:spcPts val="0"/>
              </a:spcAft>
              <a:buClr>
                <a:schemeClr val="dk1"/>
              </a:buClr>
              <a:buSzPts val="2800"/>
              <a:buChar char="•"/>
            </a:pPr>
            <a:r>
              <a:rPr lang="en-US"/>
              <a:t>Shows awareness of certification authority</a:t>
            </a:r>
            <a:endParaRPr/>
          </a:p>
          <a:p>
            <a:pPr marL="0" lvl="0" indent="0"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t>🔹 Examples:</a:t>
            </a:r>
            <a:endParaRPr/>
          </a:p>
          <a:p>
            <a:pPr marL="228604" lvl="0" indent="-228604" algn="l" rtl="0">
              <a:lnSpc>
                <a:spcPct val="90000"/>
              </a:lnSpc>
              <a:spcBef>
                <a:spcPts val="1001"/>
              </a:spcBef>
              <a:spcAft>
                <a:spcPts val="0"/>
              </a:spcAft>
              <a:buClr>
                <a:schemeClr val="dk1"/>
              </a:buClr>
              <a:buSzPts val="2800"/>
              <a:buChar char="•"/>
            </a:pPr>
            <a:r>
              <a:rPr lang="en-US"/>
              <a:t>TCVN 12944:2020</a:t>
            </a:r>
            <a:endParaRPr/>
          </a:p>
          <a:p>
            <a:pPr marL="228604" lvl="0" indent="-228604" algn="l" rtl="0">
              <a:lnSpc>
                <a:spcPct val="90000"/>
              </a:lnSpc>
              <a:spcBef>
                <a:spcPts val="1001"/>
              </a:spcBef>
              <a:spcAft>
                <a:spcPts val="0"/>
              </a:spcAft>
              <a:buClr>
                <a:schemeClr val="dk1"/>
              </a:buClr>
              <a:buSzPts val="2800"/>
              <a:buChar char="•"/>
            </a:pPr>
            <a:r>
              <a:rPr lang="en-US"/>
              <a:t>TCVN 13708:2023</a:t>
            </a:r>
            <a:endParaRPr/>
          </a:p>
          <a:p>
            <a:pPr marL="228604" lvl="0" indent="-228604" algn="l" rtl="0">
              <a:lnSpc>
                <a:spcPct val="90000"/>
              </a:lnSpc>
              <a:spcBef>
                <a:spcPts val="1001"/>
              </a:spcBef>
              <a:spcAft>
                <a:spcPts val="0"/>
              </a:spcAft>
              <a:buClr>
                <a:schemeClr val="dk1"/>
              </a:buClr>
              <a:buSzPts val="2800"/>
              <a:buChar char="•"/>
            </a:pPr>
            <a:r>
              <a:rPr lang="en-US"/>
              <a:t>MS 1500</a:t>
            </a:r>
            <a:endParaRPr/>
          </a:p>
          <a:p>
            <a:pPr marL="228604" lvl="0" indent="-228604" algn="l" rtl="0">
              <a:lnSpc>
                <a:spcPct val="90000"/>
              </a:lnSpc>
              <a:spcBef>
                <a:spcPts val="1001"/>
              </a:spcBef>
              <a:spcAft>
                <a:spcPts val="0"/>
              </a:spcAft>
              <a:buClr>
                <a:schemeClr val="dk1"/>
              </a:buClr>
              <a:buSzPts val="2800"/>
              <a:buChar char="•"/>
            </a:pPr>
            <a:r>
              <a:rPr lang="en-US"/>
              <a:t>Recognised halal certification bodies</a:t>
            </a:r>
            <a:endParaRPr/>
          </a:p>
          <a:p>
            <a:pPr marL="228604" lvl="0" indent="-50803" algn="l" rtl="0">
              <a:lnSpc>
                <a:spcPct val="90000"/>
              </a:lnSpc>
              <a:spcBef>
                <a:spcPts val="1001"/>
              </a:spcBef>
              <a:spcAft>
                <a:spcPts val="0"/>
              </a:spcAft>
              <a:buClr>
                <a:schemeClr val="dk1"/>
              </a:buClr>
              <a:buSzPts val="2800"/>
              <a:buNone/>
            </a:pPr>
            <a:endParaRPr/>
          </a:p>
        </p:txBody>
      </p:sp>
      <p:sp>
        <p:nvSpPr>
          <p:cNvPr id="482" name="Google Shape;482;p1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83" name="Google Shape;483;p1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84" name="Google Shape;484;p1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485" name="Google Shape;485;p18"/>
          <p:cNvPicPr preferRelativeResize="0"/>
          <p:nvPr/>
        </p:nvPicPr>
        <p:blipFill rotWithShape="1">
          <a:blip r:embed="rId3">
            <a:alphaModFix/>
          </a:blip>
          <a:srcRect l="13319" r="11408"/>
          <a:stretch/>
        </p:blipFill>
        <p:spPr>
          <a:xfrm>
            <a:off x="7432038" y="2527479"/>
            <a:ext cx="3921760" cy="32562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19"/>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491" name="Google Shape;491;p19"/>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highlight>
                  <a:srgbClr val="00FFFF"/>
                </a:highlight>
              </a:rPr>
              <a:t>3. Control of Materials &amp; Processes</a:t>
            </a:r>
            <a:endParaRPr/>
          </a:p>
          <a:p>
            <a:pPr marL="0" lvl="0" indent="0" algn="l" rtl="0">
              <a:lnSpc>
                <a:spcPct val="90000"/>
              </a:lnSpc>
              <a:spcBef>
                <a:spcPts val="1001"/>
              </a:spcBef>
              <a:spcAft>
                <a:spcPts val="0"/>
              </a:spcAft>
              <a:buClr>
                <a:schemeClr val="dk1"/>
              </a:buClr>
              <a:buSzPts val="2800"/>
              <a:buNone/>
            </a:pPr>
            <a:endParaRPr b="1">
              <a:highlight>
                <a:srgbClr val="00FFFF"/>
              </a:highlight>
            </a:endParaRPr>
          </a:p>
          <a:p>
            <a:pPr marL="228604" lvl="0" indent="-228604" algn="l" rtl="0">
              <a:lnSpc>
                <a:spcPct val="90000"/>
              </a:lnSpc>
              <a:spcBef>
                <a:spcPts val="1001"/>
              </a:spcBef>
              <a:spcAft>
                <a:spcPts val="0"/>
              </a:spcAft>
              <a:buClr>
                <a:schemeClr val="dk1"/>
              </a:buClr>
              <a:buSzPts val="2800"/>
              <a:buChar char="•"/>
            </a:pPr>
            <a:r>
              <a:rPr lang="en-US"/>
              <a:t>Focus on </a:t>
            </a:r>
            <a:r>
              <a:rPr lang="en-US" b="1"/>
              <a:t>technical controls</a:t>
            </a:r>
            <a:r>
              <a:rPr lang="en-US"/>
              <a:t>, not beliefs</a:t>
            </a:r>
            <a:endParaRPr/>
          </a:p>
          <a:p>
            <a:pPr marL="228604" lvl="0" indent="-228604" algn="l" rtl="0">
              <a:lnSpc>
                <a:spcPct val="90000"/>
              </a:lnSpc>
              <a:spcBef>
                <a:spcPts val="1001"/>
              </a:spcBef>
              <a:spcAft>
                <a:spcPts val="0"/>
              </a:spcAft>
              <a:buClr>
                <a:schemeClr val="dk1"/>
              </a:buClr>
              <a:buSzPts val="2800"/>
              <a:buChar char="•"/>
            </a:pPr>
            <a:r>
              <a:rPr lang="en-US"/>
              <a:t>Very important for non-Muslim factories</a:t>
            </a:r>
            <a:endParaRPr/>
          </a:p>
          <a:p>
            <a:pPr marL="0" lvl="0" indent="0"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t>🔹 Must mention:</a:t>
            </a:r>
            <a:endParaRPr/>
          </a:p>
          <a:p>
            <a:pPr marL="228604" lvl="0" indent="-228604" algn="l" rtl="0">
              <a:lnSpc>
                <a:spcPct val="90000"/>
              </a:lnSpc>
              <a:spcBef>
                <a:spcPts val="1001"/>
              </a:spcBef>
              <a:spcAft>
                <a:spcPts val="0"/>
              </a:spcAft>
              <a:buClr>
                <a:schemeClr val="dk1"/>
              </a:buClr>
              <a:buSzPts val="2800"/>
              <a:buChar char="•"/>
            </a:pPr>
            <a:r>
              <a:rPr lang="en-US"/>
              <a:t>Approved materials</a:t>
            </a:r>
            <a:endParaRPr/>
          </a:p>
          <a:p>
            <a:pPr marL="228604" lvl="0" indent="-228604" algn="l" rtl="0">
              <a:lnSpc>
                <a:spcPct val="90000"/>
              </a:lnSpc>
              <a:spcBef>
                <a:spcPts val="1001"/>
              </a:spcBef>
              <a:spcAft>
                <a:spcPts val="0"/>
              </a:spcAft>
              <a:buClr>
                <a:schemeClr val="dk1"/>
              </a:buClr>
              <a:buSzPts val="2800"/>
              <a:buChar char="•"/>
            </a:pPr>
            <a:r>
              <a:rPr lang="en-US"/>
              <a:t>Prevention of contamination</a:t>
            </a:r>
            <a:endParaRPr/>
          </a:p>
          <a:p>
            <a:pPr marL="228604" lvl="0" indent="-228604" algn="l" rtl="0">
              <a:lnSpc>
                <a:spcPct val="90000"/>
              </a:lnSpc>
              <a:spcBef>
                <a:spcPts val="1001"/>
              </a:spcBef>
              <a:spcAft>
                <a:spcPts val="0"/>
              </a:spcAft>
              <a:buClr>
                <a:schemeClr val="dk1"/>
              </a:buClr>
              <a:buSzPts val="2800"/>
              <a:buChar char="•"/>
            </a:pPr>
            <a:r>
              <a:rPr lang="en-US"/>
              <a:t>Process control</a:t>
            </a:r>
            <a:endParaRPr/>
          </a:p>
          <a:p>
            <a:pPr marL="228604" lvl="0" indent="-50803" algn="l" rtl="0">
              <a:lnSpc>
                <a:spcPct val="90000"/>
              </a:lnSpc>
              <a:spcBef>
                <a:spcPts val="1001"/>
              </a:spcBef>
              <a:spcAft>
                <a:spcPts val="0"/>
              </a:spcAft>
              <a:buClr>
                <a:schemeClr val="dk1"/>
              </a:buClr>
              <a:buSzPts val="2800"/>
              <a:buNone/>
            </a:pPr>
            <a:endParaRPr/>
          </a:p>
        </p:txBody>
      </p:sp>
      <p:sp>
        <p:nvSpPr>
          <p:cNvPr id="492" name="Google Shape;492;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493" name="Google Shape;493;p1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494" name="Google Shape;494;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495" name="Google Shape;495;p19"/>
          <p:cNvPicPr preferRelativeResize="0"/>
          <p:nvPr/>
        </p:nvPicPr>
        <p:blipFill rotWithShape="1">
          <a:blip r:embed="rId3">
            <a:alphaModFix/>
          </a:blip>
          <a:srcRect t="12149" b="24000"/>
          <a:stretch/>
        </p:blipFill>
        <p:spPr>
          <a:xfrm>
            <a:off x="6930804" y="3352800"/>
            <a:ext cx="4422993" cy="28241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20"/>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501" name="Google Shape;501;p20"/>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highlight>
                  <a:srgbClr val="00FFFF"/>
                </a:highlight>
              </a:rPr>
              <a:t>4. Roles, Resources &amp; Responsibility</a:t>
            </a:r>
            <a:endParaRPr/>
          </a:p>
          <a:p>
            <a:pPr marL="228604" lvl="0" indent="-50803" algn="l" rtl="0">
              <a:lnSpc>
                <a:spcPct val="90000"/>
              </a:lnSpc>
              <a:spcBef>
                <a:spcPts val="1001"/>
              </a:spcBef>
              <a:spcAft>
                <a:spcPts val="0"/>
              </a:spcAft>
              <a:buClr>
                <a:schemeClr val="dk1"/>
              </a:buClr>
              <a:buSzPts val="2800"/>
              <a:buNone/>
            </a:pPr>
            <a:endParaRPr b="1"/>
          </a:p>
          <a:p>
            <a:pPr marL="228604" lvl="0" indent="-228604" algn="l" rtl="0">
              <a:lnSpc>
                <a:spcPct val="90000"/>
              </a:lnSpc>
              <a:spcBef>
                <a:spcPts val="1001"/>
              </a:spcBef>
              <a:spcAft>
                <a:spcPts val="0"/>
              </a:spcAft>
              <a:buClr>
                <a:schemeClr val="dk1"/>
              </a:buClr>
              <a:buSzPts val="2800"/>
              <a:buChar char="•"/>
            </a:pPr>
            <a:r>
              <a:rPr lang="en-US"/>
              <a:t>Shows management support</a:t>
            </a:r>
            <a:endParaRPr/>
          </a:p>
          <a:p>
            <a:pPr marL="228604" lvl="0" indent="-228604" algn="l" rtl="0">
              <a:lnSpc>
                <a:spcPct val="90000"/>
              </a:lnSpc>
              <a:spcBef>
                <a:spcPts val="1001"/>
              </a:spcBef>
              <a:spcAft>
                <a:spcPts val="0"/>
              </a:spcAft>
              <a:buClr>
                <a:schemeClr val="dk1"/>
              </a:buClr>
              <a:buSzPts val="2800"/>
              <a:buChar char="•"/>
            </a:pPr>
            <a:r>
              <a:rPr lang="en-US"/>
              <a:t>Auditors look for this line</a:t>
            </a:r>
            <a:endParaRPr/>
          </a:p>
          <a:p>
            <a:pPr marL="0" lvl="0" indent="0"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t>🔹 Must include:</a:t>
            </a:r>
            <a:endParaRPr/>
          </a:p>
          <a:p>
            <a:pPr marL="228604" lvl="0" indent="-228604" algn="l" rtl="0">
              <a:lnSpc>
                <a:spcPct val="90000"/>
              </a:lnSpc>
              <a:spcBef>
                <a:spcPts val="1001"/>
              </a:spcBef>
              <a:spcAft>
                <a:spcPts val="0"/>
              </a:spcAft>
              <a:buClr>
                <a:schemeClr val="dk1"/>
              </a:buClr>
              <a:buSzPts val="2800"/>
              <a:buChar char="•"/>
            </a:pPr>
            <a:r>
              <a:rPr lang="en-US"/>
              <a:t>Appointment of IHC/Halal Management Team</a:t>
            </a:r>
            <a:endParaRPr/>
          </a:p>
          <a:p>
            <a:pPr marL="228604" lvl="0" indent="-228604" algn="l" rtl="0">
              <a:lnSpc>
                <a:spcPct val="90000"/>
              </a:lnSpc>
              <a:spcBef>
                <a:spcPts val="1001"/>
              </a:spcBef>
              <a:spcAft>
                <a:spcPts val="0"/>
              </a:spcAft>
              <a:buClr>
                <a:schemeClr val="dk1"/>
              </a:buClr>
              <a:buSzPts val="2800"/>
              <a:buChar char="•"/>
            </a:pPr>
            <a:r>
              <a:rPr lang="en-US"/>
              <a:t>Training</a:t>
            </a:r>
            <a:endParaRPr/>
          </a:p>
          <a:p>
            <a:pPr marL="228604" lvl="0" indent="-228604" algn="l" rtl="0">
              <a:lnSpc>
                <a:spcPct val="90000"/>
              </a:lnSpc>
              <a:spcBef>
                <a:spcPts val="1001"/>
              </a:spcBef>
              <a:spcAft>
                <a:spcPts val="0"/>
              </a:spcAft>
              <a:buClr>
                <a:schemeClr val="dk1"/>
              </a:buClr>
              <a:buSzPts val="2800"/>
              <a:buChar char="•"/>
            </a:pPr>
            <a:r>
              <a:rPr lang="en-US"/>
              <a:t>Authority to act</a:t>
            </a:r>
            <a:endParaRPr/>
          </a:p>
          <a:p>
            <a:pPr marL="228604" lvl="0" indent="-50803" algn="l" rtl="0">
              <a:lnSpc>
                <a:spcPct val="90000"/>
              </a:lnSpc>
              <a:spcBef>
                <a:spcPts val="1001"/>
              </a:spcBef>
              <a:spcAft>
                <a:spcPts val="0"/>
              </a:spcAft>
              <a:buClr>
                <a:schemeClr val="dk1"/>
              </a:buClr>
              <a:buSzPts val="2800"/>
              <a:buNone/>
            </a:pPr>
            <a:endParaRPr/>
          </a:p>
        </p:txBody>
      </p:sp>
      <p:sp>
        <p:nvSpPr>
          <p:cNvPr id="502" name="Google Shape;502;p2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03" name="Google Shape;503;p2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04" name="Google Shape;504;p2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pic>
        <p:nvPicPr>
          <p:cNvPr id="505" name="Google Shape;505;p20"/>
          <p:cNvPicPr preferRelativeResize="0"/>
          <p:nvPr/>
        </p:nvPicPr>
        <p:blipFill rotWithShape="1">
          <a:blip r:embed="rId3">
            <a:alphaModFix/>
          </a:blip>
          <a:srcRect l="66177" t="34695" r="6850" b="14112"/>
          <a:stretch/>
        </p:blipFill>
        <p:spPr>
          <a:xfrm>
            <a:off x="8032955" y="1235226"/>
            <a:ext cx="3067665" cy="482144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21"/>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511" name="Google Shape;511;p21"/>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highlight>
                  <a:srgbClr val="00FFFF"/>
                </a:highlight>
              </a:rPr>
              <a:t>5. Continuous Improvement Commitment</a:t>
            </a:r>
            <a:endParaRPr/>
          </a:p>
          <a:p>
            <a:pPr marL="0" lvl="0" indent="0" algn="l" rtl="0">
              <a:lnSpc>
                <a:spcPct val="90000"/>
              </a:lnSpc>
              <a:spcBef>
                <a:spcPts val="1001"/>
              </a:spcBef>
              <a:spcAft>
                <a:spcPts val="0"/>
              </a:spcAft>
              <a:buClr>
                <a:schemeClr val="dk1"/>
              </a:buClr>
              <a:buSzPts val="2800"/>
              <a:buNone/>
            </a:pPr>
            <a:endParaRPr b="1">
              <a:highlight>
                <a:srgbClr val="00FFFF"/>
              </a:highlight>
            </a:endParaRPr>
          </a:p>
          <a:p>
            <a:pPr marL="228604" lvl="0" indent="-228604" algn="l" rtl="0">
              <a:lnSpc>
                <a:spcPct val="90000"/>
              </a:lnSpc>
              <a:spcBef>
                <a:spcPts val="1001"/>
              </a:spcBef>
              <a:spcAft>
                <a:spcPts val="0"/>
              </a:spcAft>
              <a:buClr>
                <a:schemeClr val="dk1"/>
              </a:buClr>
              <a:buSzPts val="2800"/>
              <a:buChar char="•"/>
            </a:pPr>
            <a:r>
              <a:rPr lang="en-US"/>
              <a:t>Shows system thinking</a:t>
            </a:r>
            <a:endParaRPr/>
          </a:p>
          <a:p>
            <a:pPr marL="228604" lvl="0" indent="-228604" algn="l" rtl="0">
              <a:lnSpc>
                <a:spcPct val="90000"/>
              </a:lnSpc>
              <a:spcBef>
                <a:spcPts val="1001"/>
              </a:spcBef>
              <a:spcAft>
                <a:spcPts val="0"/>
              </a:spcAft>
              <a:buClr>
                <a:schemeClr val="dk1"/>
              </a:buClr>
              <a:buSzPts val="2800"/>
              <a:buChar char="•"/>
            </a:pPr>
            <a:r>
              <a:rPr lang="en-US"/>
              <a:t>Aligns with ISO principles</a:t>
            </a:r>
            <a:endParaRPr/>
          </a:p>
          <a:p>
            <a:pPr marL="228604" lvl="0" indent="-50803"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t>🔹 Must include:</a:t>
            </a:r>
            <a:endParaRPr/>
          </a:p>
          <a:p>
            <a:pPr marL="228604" lvl="0" indent="-228604" algn="l" rtl="0">
              <a:lnSpc>
                <a:spcPct val="90000"/>
              </a:lnSpc>
              <a:spcBef>
                <a:spcPts val="1001"/>
              </a:spcBef>
              <a:spcAft>
                <a:spcPts val="0"/>
              </a:spcAft>
              <a:buClr>
                <a:schemeClr val="dk1"/>
              </a:buClr>
              <a:buSzPts val="2800"/>
              <a:buChar char="•"/>
            </a:pPr>
            <a:r>
              <a:rPr lang="en-US"/>
              <a:t>Review</a:t>
            </a:r>
            <a:endParaRPr/>
          </a:p>
          <a:p>
            <a:pPr marL="228604" lvl="0" indent="-228604" algn="l" rtl="0">
              <a:lnSpc>
                <a:spcPct val="90000"/>
              </a:lnSpc>
              <a:spcBef>
                <a:spcPts val="1001"/>
              </a:spcBef>
              <a:spcAft>
                <a:spcPts val="0"/>
              </a:spcAft>
              <a:buClr>
                <a:schemeClr val="dk1"/>
              </a:buClr>
              <a:buSzPts val="2800"/>
              <a:buChar char="•"/>
            </a:pPr>
            <a:r>
              <a:rPr lang="en-US"/>
              <a:t>Improvement</a:t>
            </a:r>
            <a:endParaRPr/>
          </a:p>
          <a:p>
            <a:pPr marL="228604" lvl="0" indent="-228604" algn="l" rtl="0">
              <a:lnSpc>
                <a:spcPct val="90000"/>
              </a:lnSpc>
              <a:spcBef>
                <a:spcPts val="1001"/>
              </a:spcBef>
              <a:spcAft>
                <a:spcPts val="0"/>
              </a:spcAft>
              <a:buClr>
                <a:schemeClr val="dk1"/>
              </a:buClr>
              <a:buSzPts val="2800"/>
              <a:buChar char="•"/>
            </a:pPr>
            <a:r>
              <a:rPr lang="en-US"/>
              <a:t>Corrective action</a:t>
            </a:r>
            <a:endParaRPr/>
          </a:p>
          <a:p>
            <a:pPr marL="228604" lvl="0" indent="-50803" algn="l" rtl="0">
              <a:lnSpc>
                <a:spcPct val="90000"/>
              </a:lnSpc>
              <a:spcBef>
                <a:spcPts val="1001"/>
              </a:spcBef>
              <a:spcAft>
                <a:spcPts val="0"/>
              </a:spcAft>
              <a:buClr>
                <a:schemeClr val="dk1"/>
              </a:buClr>
              <a:buSzPts val="2800"/>
              <a:buNone/>
            </a:pPr>
            <a:endParaRPr/>
          </a:p>
        </p:txBody>
      </p:sp>
      <p:sp>
        <p:nvSpPr>
          <p:cNvPr id="512" name="Google Shape;512;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13" name="Google Shape;513;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14" name="Google Shape;514;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pic>
        <p:nvPicPr>
          <p:cNvPr id="515" name="Google Shape;515;p21"/>
          <p:cNvPicPr preferRelativeResize="0"/>
          <p:nvPr/>
        </p:nvPicPr>
        <p:blipFill rotWithShape="1">
          <a:blip r:embed="rId3">
            <a:alphaModFix/>
          </a:blip>
          <a:srcRect/>
          <a:stretch/>
        </p:blipFill>
        <p:spPr>
          <a:xfrm>
            <a:off x="8153402" y="1757681"/>
            <a:ext cx="2952030" cy="1964442"/>
          </a:xfrm>
          <a:prstGeom prst="rect">
            <a:avLst/>
          </a:prstGeom>
          <a:noFill/>
          <a:ln>
            <a:noFill/>
          </a:ln>
        </p:spPr>
      </p:pic>
      <p:pic>
        <p:nvPicPr>
          <p:cNvPr id="516" name="Google Shape;516;p21"/>
          <p:cNvPicPr preferRelativeResize="0"/>
          <p:nvPr/>
        </p:nvPicPr>
        <p:blipFill rotWithShape="1">
          <a:blip r:embed="rId4">
            <a:alphaModFix/>
          </a:blip>
          <a:srcRect/>
          <a:stretch/>
        </p:blipFill>
        <p:spPr>
          <a:xfrm>
            <a:off x="8153402" y="3735844"/>
            <a:ext cx="2962275" cy="1543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22"/>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522" name="Google Shape;522;p22"/>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highlight>
                  <a:srgbClr val="00FFFF"/>
                </a:highlight>
              </a:rPr>
              <a:t>6. Communication &amp; Implementation</a:t>
            </a:r>
            <a:endParaRPr/>
          </a:p>
          <a:p>
            <a:pPr marL="0" lvl="0" indent="0" algn="l" rtl="0">
              <a:lnSpc>
                <a:spcPct val="90000"/>
              </a:lnSpc>
              <a:spcBef>
                <a:spcPts val="1001"/>
              </a:spcBef>
              <a:spcAft>
                <a:spcPts val="0"/>
              </a:spcAft>
              <a:buClr>
                <a:schemeClr val="dk1"/>
              </a:buClr>
              <a:buSzPts val="2800"/>
              <a:buNone/>
            </a:pPr>
            <a:endParaRPr b="1">
              <a:highlight>
                <a:srgbClr val="00FFFF"/>
              </a:highlight>
            </a:endParaRPr>
          </a:p>
          <a:p>
            <a:pPr marL="228604" lvl="0" indent="-228604" algn="l" rtl="0">
              <a:lnSpc>
                <a:spcPct val="90000"/>
              </a:lnSpc>
              <a:spcBef>
                <a:spcPts val="1001"/>
              </a:spcBef>
              <a:spcAft>
                <a:spcPts val="0"/>
              </a:spcAft>
              <a:buClr>
                <a:schemeClr val="dk1"/>
              </a:buClr>
              <a:buSzPts val="2800"/>
              <a:buChar char="•"/>
            </a:pPr>
            <a:r>
              <a:rPr lang="en-US"/>
              <a:t>Shows policy is not just paper</a:t>
            </a:r>
            <a:endParaRPr/>
          </a:p>
          <a:p>
            <a:pPr marL="228604" lvl="0" indent="-228604" algn="l" rtl="0">
              <a:lnSpc>
                <a:spcPct val="90000"/>
              </a:lnSpc>
              <a:spcBef>
                <a:spcPts val="1001"/>
              </a:spcBef>
              <a:spcAft>
                <a:spcPts val="0"/>
              </a:spcAft>
              <a:buClr>
                <a:schemeClr val="dk1"/>
              </a:buClr>
              <a:buSzPts val="2800"/>
              <a:buChar char="•"/>
            </a:pPr>
            <a:r>
              <a:rPr lang="en-US"/>
              <a:t>Very common audit question</a:t>
            </a:r>
            <a:endParaRPr/>
          </a:p>
          <a:p>
            <a:pPr marL="0" lvl="0" indent="0"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t>🔹 Must mention:</a:t>
            </a:r>
            <a:endParaRPr/>
          </a:p>
          <a:p>
            <a:pPr marL="228604" lvl="0" indent="-228604" algn="l" rtl="0">
              <a:lnSpc>
                <a:spcPct val="90000"/>
              </a:lnSpc>
              <a:spcBef>
                <a:spcPts val="1001"/>
              </a:spcBef>
              <a:spcAft>
                <a:spcPts val="0"/>
              </a:spcAft>
              <a:buClr>
                <a:schemeClr val="dk1"/>
              </a:buClr>
              <a:buSzPts val="2800"/>
              <a:buChar char="•"/>
            </a:pPr>
            <a:r>
              <a:rPr lang="en-US"/>
              <a:t>Communication to employees</a:t>
            </a:r>
            <a:endParaRPr/>
          </a:p>
          <a:p>
            <a:pPr marL="228604" lvl="0" indent="-228604" algn="l" rtl="0">
              <a:lnSpc>
                <a:spcPct val="90000"/>
              </a:lnSpc>
              <a:spcBef>
                <a:spcPts val="1001"/>
              </a:spcBef>
              <a:spcAft>
                <a:spcPts val="0"/>
              </a:spcAft>
              <a:buClr>
                <a:schemeClr val="dk1"/>
              </a:buClr>
              <a:buSzPts val="2800"/>
              <a:buChar char="•"/>
            </a:pPr>
            <a:r>
              <a:rPr lang="en-US"/>
              <a:t>Availability to stakeholders</a:t>
            </a:r>
            <a:endParaRPr/>
          </a:p>
          <a:p>
            <a:pPr marL="228604" lvl="0" indent="-50803" algn="l" rtl="0">
              <a:lnSpc>
                <a:spcPct val="90000"/>
              </a:lnSpc>
              <a:spcBef>
                <a:spcPts val="1001"/>
              </a:spcBef>
              <a:spcAft>
                <a:spcPts val="0"/>
              </a:spcAft>
              <a:buClr>
                <a:schemeClr val="dk1"/>
              </a:buClr>
              <a:buSzPts val="2800"/>
              <a:buNone/>
            </a:pPr>
            <a:endParaRPr/>
          </a:p>
        </p:txBody>
      </p:sp>
      <p:sp>
        <p:nvSpPr>
          <p:cNvPr id="523" name="Google Shape;523;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24" name="Google Shape;524;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25" name="Google Shape;525;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526" name="Google Shape;526;p22"/>
          <p:cNvPicPr preferRelativeResize="0"/>
          <p:nvPr/>
        </p:nvPicPr>
        <p:blipFill rotWithShape="1">
          <a:blip r:embed="rId3">
            <a:alphaModFix/>
          </a:blip>
          <a:srcRect l="1975" r="2780"/>
          <a:stretch/>
        </p:blipFill>
        <p:spPr>
          <a:xfrm>
            <a:off x="7350758" y="1087893"/>
            <a:ext cx="4003040" cy="2796858"/>
          </a:xfrm>
          <a:prstGeom prst="rect">
            <a:avLst/>
          </a:prstGeom>
          <a:noFill/>
          <a:ln>
            <a:noFill/>
          </a:ln>
        </p:spPr>
      </p:pic>
      <p:pic>
        <p:nvPicPr>
          <p:cNvPr id="527" name="Google Shape;527;p22" descr="ERP Project Implementation: A Strategic ..."/>
          <p:cNvPicPr preferRelativeResize="0"/>
          <p:nvPr/>
        </p:nvPicPr>
        <p:blipFill rotWithShape="1">
          <a:blip r:embed="rId4">
            <a:alphaModFix/>
          </a:blip>
          <a:srcRect/>
          <a:stretch/>
        </p:blipFill>
        <p:spPr>
          <a:xfrm>
            <a:off x="7531173" y="3884751"/>
            <a:ext cx="3361820" cy="22371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23"/>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grpSp>
        <p:nvGrpSpPr>
          <p:cNvPr id="533" name="Google Shape;533;p23"/>
          <p:cNvGrpSpPr/>
          <p:nvPr/>
        </p:nvGrpSpPr>
        <p:grpSpPr>
          <a:xfrm>
            <a:off x="838202" y="3011100"/>
            <a:ext cx="10515600" cy="3153600"/>
            <a:chOff x="0" y="12261"/>
            <a:chExt cx="10515600" cy="3153600"/>
          </a:xfrm>
        </p:grpSpPr>
        <p:sp>
          <p:nvSpPr>
            <p:cNvPr id="534" name="Google Shape;534;p23"/>
            <p:cNvSpPr/>
            <p:nvPr/>
          </p:nvSpPr>
          <p:spPr>
            <a:xfrm>
              <a:off x="0" y="12261"/>
              <a:ext cx="10515600" cy="56160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3"/>
            <p:cNvSpPr txBox="1"/>
            <p:nvPr/>
          </p:nvSpPr>
          <p:spPr>
            <a:xfrm>
              <a:off x="27415" y="39676"/>
              <a:ext cx="10460770" cy="506770"/>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“shall ensure”</a:t>
              </a:r>
              <a:endParaRPr sz="2000">
                <a:solidFill>
                  <a:schemeClr val="lt1"/>
                </a:solidFill>
                <a:latin typeface="Calibri"/>
                <a:ea typeface="Calibri"/>
                <a:cs typeface="Calibri"/>
                <a:sym typeface="Calibri"/>
              </a:endParaRPr>
            </a:p>
          </p:txBody>
        </p:sp>
        <p:sp>
          <p:nvSpPr>
            <p:cNvPr id="536" name="Google Shape;536;p23"/>
            <p:cNvSpPr/>
            <p:nvPr/>
          </p:nvSpPr>
          <p:spPr>
            <a:xfrm>
              <a:off x="0" y="660261"/>
              <a:ext cx="10515600" cy="56160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3"/>
            <p:cNvSpPr txBox="1"/>
            <p:nvPr/>
          </p:nvSpPr>
          <p:spPr>
            <a:xfrm>
              <a:off x="27415" y="687676"/>
              <a:ext cx="10460770" cy="506770"/>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“are committed to”</a:t>
              </a:r>
              <a:endParaRPr sz="2000">
                <a:solidFill>
                  <a:schemeClr val="lt1"/>
                </a:solidFill>
                <a:latin typeface="Calibri"/>
                <a:ea typeface="Calibri"/>
                <a:cs typeface="Calibri"/>
                <a:sym typeface="Calibri"/>
              </a:endParaRPr>
            </a:p>
          </p:txBody>
        </p:sp>
        <p:sp>
          <p:nvSpPr>
            <p:cNvPr id="538" name="Google Shape;538;p23"/>
            <p:cNvSpPr/>
            <p:nvPr/>
          </p:nvSpPr>
          <p:spPr>
            <a:xfrm>
              <a:off x="0" y="1308261"/>
              <a:ext cx="10515600" cy="56160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3"/>
            <p:cNvSpPr txBox="1"/>
            <p:nvPr/>
          </p:nvSpPr>
          <p:spPr>
            <a:xfrm>
              <a:off x="27415" y="1335676"/>
              <a:ext cx="10460770" cy="506770"/>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“maintain”</a:t>
              </a:r>
              <a:endParaRPr sz="2000">
                <a:solidFill>
                  <a:schemeClr val="lt1"/>
                </a:solidFill>
                <a:latin typeface="Calibri"/>
                <a:ea typeface="Calibri"/>
                <a:cs typeface="Calibri"/>
                <a:sym typeface="Calibri"/>
              </a:endParaRPr>
            </a:p>
          </p:txBody>
        </p:sp>
        <p:sp>
          <p:nvSpPr>
            <p:cNvPr id="540" name="Google Shape;540;p23"/>
            <p:cNvSpPr/>
            <p:nvPr/>
          </p:nvSpPr>
          <p:spPr>
            <a:xfrm>
              <a:off x="0" y="1956261"/>
              <a:ext cx="10515600" cy="56160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3"/>
            <p:cNvSpPr txBox="1"/>
            <p:nvPr/>
          </p:nvSpPr>
          <p:spPr>
            <a:xfrm>
              <a:off x="27415" y="1983676"/>
              <a:ext cx="10460770" cy="506770"/>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“comply with”</a:t>
              </a:r>
              <a:endParaRPr sz="2000">
                <a:solidFill>
                  <a:schemeClr val="lt1"/>
                </a:solidFill>
                <a:latin typeface="Calibri"/>
                <a:ea typeface="Calibri"/>
                <a:cs typeface="Calibri"/>
                <a:sym typeface="Calibri"/>
              </a:endParaRPr>
            </a:p>
          </p:txBody>
        </p:sp>
        <p:sp>
          <p:nvSpPr>
            <p:cNvPr id="542" name="Google Shape;542;p23"/>
            <p:cNvSpPr/>
            <p:nvPr/>
          </p:nvSpPr>
          <p:spPr>
            <a:xfrm>
              <a:off x="0" y="2604261"/>
              <a:ext cx="10515600" cy="561600"/>
            </a:xfrm>
            <a:prstGeom prst="roundRect">
              <a:avLst>
                <a:gd name="adj" fmla="val 16667"/>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3"/>
            <p:cNvSpPr txBox="1"/>
            <p:nvPr/>
          </p:nvSpPr>
          <p:spPr>
            <a:xfrm>
              <a:off x="27415" y="2631676"/>
              <a:ext cx="10460770" cy="506770"/>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“prevent”</a:t>
              </a:r>
              <a:endParaRPr sz="2000">
                <a:solidFill>
                  <a:schemeClr val="lt1"/>
                </a:solidFill>
                <a:latin typeface="Calibri"/>
                <a:ea typeface="Calibri"/>
                <a:cs typeface="Calibri"/>
                <a:sym typeface="Calibri"/>
              </a:endParaRPr>
            </a:p>
          </p:txBody>
        </p:sp>
      </p:grpSp>
      <p:sp>
        <p:nvSpPr>
          <p:cNvPr id="544" name="Google Shape;544;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45" name="Google Shape;545;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46" name="Google Shape;546;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547" name="Google Shape;547;p23"/>
          <p:cNvGrpSpPr/>
          <p:nvPr/>
        </p:nvGrpSpPr>
        <p:grpSpPr>
          <a:xfrm>
            <a:off x="838200" y="1543665"/>
            <a:ext cx="10515600" cy="561998"/>
            <a:chOff x="0" y="52178"/>
            <a:chExt cx="10515600" cy="1079325"/>
          </a:xfrm>
        </p:grpSpPr>
        <p:sp>
          <p:nvSpPr>
            <p:cNvPr id="548" name="Google Shape;548;p23"/>
            <p:cNvSpPr/>
            <p:nvPr/>
          </p:nvSpPr>
          <p:spPr>
            <a:xfrm>
              <a:off x="0" y="52178"/>
              <a:ext cx="10515600" cy="1079325"/>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lt1"/>
                </a:solidFill>
                <a:latin typeface="Calibri"/>
                <a:ea typeface="Calibri"/>
                <a:cs typeface="Calibri"/>
                <a:sym typeface="Calibri"/>
              </a:endParaRPr>
            </a:p>
          </p:txBody>
        </p:sp>
        <p:sp>
          <p:nvSpPr>
            <p:cNvPr id="549" name="Google Shape;549;p23"/>
            <p:cNvSpPr txBox="1"/>
            <p:nvPr/>
          </p:nvSpPr>
          <p:spPr>
            <a:xfrm>
              <a:off x="52688" y="104866"/>
              <a:ext cx="10410224" cy="973949"/>
            </a:xfrm>
            <a:prstGeom prst="rect">
              <a:avLst/>
            </a:prstGeom>
            <a:noFill/>
            <a:ln>
              <a:noFill/>
            </a:ln>
          </p:spPr>
          <p:txBody>
            <a:bodyPr spcFirstLastPara="1" wrap="square" lIns="171450" tIns="171450" rIns="171450" bIns="171450" anchor="ctr" anchorCtr="0">
              <a:noAutofit/>
            </a:bodyPr>
            <a:lstStyle/>
            <a:p>
              <a:pPr marL="0" marR="0" lvl="0" indent="0" algn="l" rtl="0">
                <a:lnSpc>
                  <a:spcPct val="90000"/>
                </a:lnSpc>
                <a:spcBef>
                  <a:spcPts val="0"/>
                </a:spcBef>
                <a:spcAft>
                  <a:spcPts val="0"/>
                </a:spcAft>
                <a:buClr>
                  <a:schemeClr val="lt1"/>
                </a:buClr>
                <a:buSzPts val="2800"/>
                <a:buFont typeface="Calibri"/>
                <a:buNone/>
              </a:pPr>
              <a:r>
                <a:rPr lang="en-US" sz="2800" b="1">
                  <a:solidFill>
                    <a:schemeClr val="lt1"/>
                  </a:solidFill>
                  <a:latin typeface="Calibri"/>
                  <a:ea typeface="Calibri"/>
                  <a:cs typeface="Calibri"/>
                  <a:sym typeface="Calibri"/>
                </a:rPr>
                <a:t>WORDING – WHAT LANGUAGE TO USE</a:t>
              </a:r>
              <a:endParaRPr sz="2800">
                <a:solidFill>
                  <a:schemeClr val="lt1"/>
                </a:solidFill>
                <a:latin typeface="Calibri"/>
                <a:ea typeface="Calibri"/>
                <a:cs typeface="Calibri"/>
                <a:sym typeface="Calibri"/>
              </a:endParaRPr>
            </a:p>
          </p:txBody>
        </p:sp>
      </p:grpSp>
      <p:grpSp>
        <p:nvGrpSpPr>
          <p:cNvPr id="550" name="Google Shape;550;p23"/>
          <p:cNvGrpSpPr/>
          <p:nvPr/>
        </p:nvGrpSpPr>
        <p:grpSpPr>
          <a:xfrm>
            <a:off x="464574" y="2105663"/>
            <a:ext cx="10889226" cy="3725999"/>
            <a:chOff x="-373626" y="1131503"/>
            <a:chExt cx="10889226" cy="3725999"/>
          </a:xfrm>
        </p:grpSpPr>
        <p:sp>
          <p:nvSpPr>
            <p:cNvPr id="551" name="Google Shape;551;p23"/>
            <p:cNvSpPr/>
            <p:nvPr/>
          </p:nvSpPr>
          <p:spPr>
            <a:xfrm>
              <a:off x="0" y="1131503"/>
              <a:ext cx="10515600" cy="3725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2" name="Google Shape;552;p23"/>
            <p:cNvSpPr txBox="1"/>
            <p:nvPr/>
          </p:nvSpPr>
          <p:spPr>
            <a:xfrm>
              <a:off x="-373626" y="1310892"/>
              <a:ext cx="10515600" cy="561998"/>
            </a:xfrm>
            <a:prstGeom prst="rect">
              <a:avLst/>
            </a:prstGeom>
            <a:noFill/>
            <a:ln>
              <a:noFill/>
            </a:ln>
          </p:spPr>
          <p:txBody>
            <a:bodyPr spcFirstLastPara="1" wrap="square" lIns="333850" tIns="57150" rIns="320025" bIns="57150" anchor="t" anchorCtr="0">
              <a:noAutofit/>
            </a:bodyPr>
            <a:lstStyle/>
            <a:p>
              <a:pPr marL="0" marR="0" lvl="1" indent="0" algn="l" rtl="0">
                <a:lnSpc>
                  <a:spcPct val="90000"/>
                </a:lnSpc>
                <a:spcBef>
                  <a:spcPts val="0"/>
                </a:spcBef>
                <a:spcAft>
                  <a:spcPts val="0"/>
                </a:spcAft>
                <a:buNone/>
              </a:pPr>
              <a:r>
                <a:rPr lang="en-US" sz="2400" b="1" i="0" u="none" strike="noStrike" cap="none">
                  <a:solidFill>
                    <a:schemeClr val="dk1"/>
                  </a:solidFill>
                  <a:latin typeface="Calibri"/>
                  <a:ea typeface="Calibri"/>
                  <a:cs typeface="Calibri"/>
                  <a:sym typeface="Calibri"/>
                </a:rPr>
                <a:t>✅ GOOD WORDING </a:t>
              </a:r>
              <a:endParaRPr sz="24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24"/>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grpSp>
        <p:nvGrpSpPr>
          <p:cNvPr id="558" name="Google Shape;558;p24"/>
          <p:cNvGrpSpPr/>
          <p:nvPr/>
        </p:nvGrpSpPr>
        <p:grpSpPr>
          <a:xfrm>
            <a:off x="838202" y="2326289"/>
            <a:ext cx="10515600" cy="3272221"/>
            <a:chOff x="0" y="5876"/>
            <a:chExt cx="10515600" cy="3272221"/>
          </a:xfrm>
        </p:grpSpPr>
        <p:sp>
          <p:nvSpPr>
            <p:cNvPr id="559" name="Google Shape;559;p24"/>
            <p:cNvSpPr/>
            <p:nvPr/>
          </p:nvSpPr>
          <p:spPr>
            <a:xfrm>
              <a:off x="0" y="5876"/>
              <a:ext cx="10515600" cy="104832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4"/>
            <p:cNvSpPr txBox="1"/>
            <p:nvPr/>
          </p:nvSpPr>
          <p:spPr>
            <a:xfrm>
              <a:off x="51175" y="57051"/>
              <a:ext cx="10413250" cy="945970"/>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Emotional phrases</a:t>
              </a:r>
              <a:endParaRPr sz="2000">
                <a:solidFill>
                  <a:schemeClr val="lt1"/>
                </a:solidFill>
                <a:latin typeface="Calibri"/>
                <a:ea typeface="Calibri"/>
                <a:cs typeface="Calibri"/>
                <a:sym typeface="Calibri"/>
              </a:endParaRPr>
            </a:p>
          </p:txBody>
        </p:sp>
        <p:sp>
          <p:nvSpPr>
            <p:cNvPr id="561" name="Google Shape;561;p24"/>
            <p:cNvSpPr/>
            <p:nvPr/>
          </p:nvSpPr>
          <p:spPr>
            <a:xfrm>
              <a:off x="0" y="1215477"/>
              <a:ext cx="10515600" cy="104832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4"/>
            <p:cNvSpPr txBox="1"/>
            <p:nvPr/>
          </p:nvSpPr>
          <p:spPr>
            <a:xfrm>
              <a:off x="51175" y="1266652"/>
              <a:ext cx="10413250" cy="945970"/>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Vague commitments like:</a:t>
              </a:r>
              <a:endParaRPr sz="2000">
                <a:solidFill>
                  <a:schemeClr val="lt1"/>
                </a:solidFill>
                <a:latin typeface="Calibri"/>
                <a:ea typeface="Calibri"/>
                <a:cs typeface="Calibri"/>
                <a:sym typeface="Calibri"/>
              </a:endParaRPr>
            </a:p>
          </p:txBody>
        </p:sp>
        <p:sp>
          <p:nvSpPr>
            <p:cNvPr id="563" name="Google Shape;563;p24"/>
            <p:cNvSpPr/>
            <p:nvPr/>
          </p:nvSpPr>
          <p:spPr>
            <a:xfrm>
              <a:off x="0" y="2263797"/>
              <a:ext cx="10515600" cy="101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4"/>
            <p:cNvSpPr txBox="1"/>
            <p:nvPr/>
          </p:nvSpPr>
          <p:spPr>
            <a:xfrm>
              <a:off x="0" y="2263797"/>
              <a:ext cx="10515600" cy="1014300"/>
            </a:xfrm>
            <a:prstGeom prst="rect">
              <a:avLst/>
            </a:prstGeom>
            <a:noFill/>
            <a:ln>
              <a:noFill/>
            </a:ln>
          </p:spPr>
          <p:txBody>
            <a:bodyPr spcFirstLastPara="1" wrap="square" lIns="333850" tIns="25400" rIns="142225" bIns="25400" anchor="t" anchorCtr="0">
              <a:noAutofit/>
            </a:bodyPr>
            <a:lstStyle/>
            <a:p>
              <a:pPr marL="228600" marR="0" lvl="1" indent="-228600" algn="l" rtl="0">
                <a:lnSpc>
                  <a:spcPct val="9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“try to”</a:t>
              </a:r>
              <a:endParaRPr sz="20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4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“as much as possible”</a:t>
              </a:r>
              <a:endParaRPr sz="2000" b="0" i="0" u="none" strike="noStrike" cap="none">
                <a:solidFill>
                  <a:schemeClr val="dk1"/>
                </a:solidFill>
                <a:latin typeface="Calibri"/>
                <a:ea typeface="Calibri"/>
                <a:cs typeface="Calibri"/>
                <a:sym typeface="Calibri"/>
              </a:endParaRPr>
            </a:p>
            <a:p>
              <a:pPr marL="228600" marR="0" lvl="1" indent="-228600" algn="l" rtl="0">
                <a:lnSpc>
                  <a:spcPct val="90000"/>
                </a:lnSpc>
                <a:spcBef>
                  <a:spcPts val="40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“where applicable” (without control)</a:t>
              </a:r>
              <a:endParaRPr sz="2000" b="0" i="0" u="none" strike="noStrike" cap="none">
                <a:solidFill>
                  <a:schemeClr val="dk1"/>
                </a:solidFill>
                <a:latin typeface="Calibri"/>
                <a:ea typeface="Calibri"/>
                <a:cs typeface="Calibri"/>
                <a:sym typeface="Calibri"/>
              </a:endParaRPr>
            </a:p>
          </p:txBody>
        </p:sp>
      </p:grpSp>
      <p:sp>
        <p:nvSpPr>
          <p:cNvPr id="565" name="Google Shape;565;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66" name="Google Shape;566;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67" name="Google Shape;567;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568" name="Google Shape;568;p24"/>
          <p:cNvSpPr txBox="1"/>
          <p:nvPr/>
        </p:nvSpPr>
        <p:spPr>
          <a:xfrm>
            <a:off x="838199" y="1528430"/>
            <a:ext cx="612058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 AVOID WORDING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5"/>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574" name="Google Shape;574;p25"/>
          <p:cNvSpPr txBox="1">
            <a:spLocks noGrp="1"/>
          </p:cNvSpPr>
          <p:nvPr>
            <p:ph type="body" idx="1"/>
          </p:nvPr>
        </p:nvSpPr>
        <p:spPr>
          <a:xfrm>
            <a:off x="838202" y="1681315"/>
            <a:ext cx="10515600" cy="4495647"/>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1400" b="1"/>
              <a:t>HALAL POLICY</a:t>
            </a:r>
            <a:endParaRPr sz="1400"/>
          </a:p>
          <a:p>
            <a:pPr marL="0" lvl="0" indent="0" algn="l" rtl="0">
              <a:lnSpc>
                <a:spcPct val="90000"/>
              </a:lnSpc>
              <a:spcBef>
                <a:spcPts val="1001"/>
              </a:spcBef>
              <a:spcAft>
                <a:spcPts val="0"/>
              </a:spcAft>
              <a:buClr>
                <a:schemeClr val="dk1"/>
              </a:buClr>
              <a:buSzPct val="100000"/>
              <a:buNone/>
            </a:pPr>
            <a:r>
              <a:rPr lang="en-US" sz="1400"/>
              <a:t>We, </a:t>
            </a:r>
            <a:r>
              <a:rPr lang="en-US" sz="1400" b="1"/>
              <a:t>[Company Name]</a:t>
            </a:r>
            <a:r>
              <a:rPr lang="en-US" sz="1400"/>
              <a:t>, are committed to ensuring that all products manufactured comply with applicable halal requirements and regulatory standards.</a:t>
            </a:r>
            <a:endParaRPr/>
          </a:p>
          <a:p>
            <a:pPr marL="0" lvl="0" indent="0" algn="l" rtl="0">
              <a:lnSpc>
                <a:spcPct val="90000"/>
              </a:lnSpc>
              <a:spcBef>
                <a:spcPts val="1001"/>
              </a:spcBef>
              <a:spcAft>
                <a:spcPts val="0"/>
              </a:spcAft>
              <a:buClr>
                <a:schemeClr val="dk1"/>
              </a:buClr>
              <a:buSzPct val="100000"/>
              <a:buNone/>
            </a:pPr>
            <a:endParaRPr sz="1400"/>
          </a:p>
          <a:p>
            <a:pPr marL="0" lvl="0" indent="0" algn="l" rtl="0">
              <a:lnSpc>
                <a:spcPct val="90000"/>
              </a:lnSpc>
              <a:spcBef>
                <a:spcPts val="1001"/>
              </a:spcBef>
              <a:spcAft>
                <a:spcPts val="0"/>
              </a:spcAft>
              <a:buClr>
                <a:schemeClr val="dk1"/>
              </a:buClr>
              <a:buSzPct val="100000"/>
              <a:buNone/>
            </a:pPr>
            <a:r>
              <a:rPr lang="en-US" sz="1400"/>
              <a:t>We shall ensure that:</a:t>
            </a:r>
            <a:endParaRPr/>
          </a:p>
          <a:p>
            <a:pPr marL="514350" lvl="0" indent="-514350" algn="l" rtl="0">
              <a:lnSpc>
                <a:spcPct val="90000"/>
              </a:lnSpc>
              <a:spcBef>
                <a:spcPts val="1001"/>
              </a:spcBef>
              <a:spcAft>
                <a:spcPts val="0"/>
              </a:spcAft>
              <a:buClr>
                <a:schemeClr val="dk1"/>
              </a:buClr>
              <a:buSzPct val="100000"/>
              <a:buFont typeface="Calibri"/>
              <a:buAutoNum type="arabicPeriod"/>
            </a:pPr>
            <a:r>
              <a:rPr lang="en-US" sz="1400"/>
              <a:t>Only </a:t>
            </a:r>
            <a:r>
              <a:rPr lang="en-US" sz="1400" b="1"/>
              <a:t>approved halal raw materials, ingredients, and suppliers</a:t>
            </a:r>
            <a:r>
              <a:rPr lang="en-US" sz="1400"/>
              <a:t> are used.</a:t>
            </a:r>
            <a:endParaRPr/>
          </a:p>
          <a:p>
            <a:pPr marL="514350" lvl="0" indent="-514350" algn="l" rtl="0">
              <a:lnSpc>
                <a:spcPct val="90000"/>
              </a:lnSpc>
              <a:spcBef>
                <a:spcPts val="1001"/>
              </a:spcBef>
              <a:spcAft>
                <a:spcPts val="0"/>
              </a:spcAft>
              <a:buClr>
                <a:schemeClr val="dk1"/>
              </a:buClr>
              <a:buSzPct val="100000"/>
              <a:buFont typeface="Calibri"/>
              <a:buAutoNum type="arabicPeriod"/>
            </a:pPr>
            <a:r>
              <a:rPr lang="en-US" sz="1400" b="1"/>
              <a:t>Halal integrity</a:t>
            </a:r>
            <a:r>
              <a:rPr lang="en-US" sz="1400"/>
              <a:t> is maintained throughout receiving, storage, processing, packaging, and distribution.</a:t>
            </a:r>
            <a:endParaRPr/>
          </a:p>
          <a:p>
            <a:pPr marL="514350" lvl="0" indent="-514350" algn="l" rtl="0">
              <a:lnSpc>
                <a:spcPct val="90000"/>
              </a:lnSpc>
              <a:spcBef>
                <a:spcPts val="1001"/>
              </a:spcBef>
              <a:spcAft>
                <a:spcPts val="0"/>
              </a:spcAft>
              <a:buClr>
                <a:schemeClr val="dk1"/>
              </a:buClr>
              <a:buSzPct val="100000"/>
              <a:buFont typeface="Calibri"/>
              <a:buAutoNum type="arabicPeriod"/>
            </a:pPr>
            <a:r>
              <a:rPr lang="en-US" sz="1400" b="1"/>
              <a:t>Cross-contamination with non-halal materials</a:t>
            </a:r>
            <a:r>
              <a:rPr lang="en-US" sz="1400"/>
              <a:t> is prevented through effective controls and procedures.</a:t>
            </a:r>
            <a:endParaRPr/>
          </a:p>
          <a:p>
            <a:pPr marL="514350" lvl="0" indent="-514350" algn="l" rtl="0">
              <a:lnSpc>
                <a:spcPct val="90000"/>
              </a:lnSpc>
              <a:spcBef>
                <a:spcPts val="1001"/>
              </a:spcBef>
              <a:spcAft>
                <a:spcPts val="0"/>
              </a:spcAft>
              <a:buClr>
                <a:schemeClr val="dk1"/>
              </a:buClr>
              <a:buSzPct val="100000"/>
              <a:buFont typeface="Calibri"/>
              <a:buAutoNum type="arabicPeriod"/>
            </a:pPr>
            <a:r>
              <a:rPr lang="en-US" sz="1400"/>
              <a:t>A </a:t>
            </a:r>
            <a:r>
              <a:rPr lang="en-US" sz="1400" b="1"/>
              <a:t>Halal Assurance System (HAS)</a:t>
            </a:r>
            <a:r>
              <a:rPr lang="en-US" sz="1400"/>
              <a:t> is established, implemented, and maintained.</a:t>
            </a:r>
            <a:endParaRPr/>
          </a:p>
          <a:p>
            <a:pPr marL="514350" lvl="0" indent="-514350" algn="l" rtl="0">
              <a:lnSpc>
                <a:spcPct val="90000"/>
              </a:lnSpc>
              <a:spcBef>
                <a:spcPts val="1001"/>
              </a:spcBef>
              <a:spcAft>
                <a:spcPts val="0"/>
              </a:spcAft>
              <a:buClr>
                <a:schemeClr val="dk1"/>
              </a:buClr>
              <a:buSzPct val="100000"/>
              <a:buFont typeface="Calibri"/>
              <a:buAutoNum type="arabicPeriod"/>
            </a:pPr>
            <a:r>
              <a:rPr lang="en-US" sz="1400"/>
              <a:t>Adequate </a:t>
            </a:r>
            <a:r>
              <a:rPr lang="en-US" sz="1400" b="1"/>
              <a:t>resources, training, and authority</a:t>
            </a:r>
            <a:r>
              <a:rPr lang="en-US" sz="1400"/>
              <a:t> are provided to the Internal Halal Committee (IHC) and relevant personnel.</a:t>
            </a:r>
            <a:endParaRPr/>
          </a:p>
          <a:p>
            <a:pPr marL="514350" lvl="0" indent="-514350" algn="l" rtl="0">
              <a:lnSpc>
                <a:spcPct val="90000"/>
              </a:lnSpc>
              <a:spcBef>
                <a:spcPts val="1001"/>
              </a:spcBef>
              <a:spcAft>
                <a:spcPts val="0"/>
              </a:spcAft>
              <a:buClr>
                <a:schemeClr val="dk1"/>
              </a:buClr>
              <a:buSzPct val="100000"/>
              <a:buFont typeface="Calibri"/>
              <a:buAutoNum type="arabicPeriod"/>
            </a:pPr>
            <a:r>
              <a:rPr lang="en-US" sz="1400"/>
              <a:t>The effectiveness of halal controls is </a:t>
            </a:r>
            <a:r>
              <a:rPr lang="en-US" sz="1400" b="1"/>
              <a:t>reviewed and continuously improved</a:t>
            </a:r>
            <a:r>
              <a:rPr lang="en-US" sz="1400"/>
              <a:t>.</a:t>
            </a:r>
            <a:endParaRPr/>
          </a:p>
          <a:p>
            <a:pPr marL="514350" lvl="0" indent="-514350" algn="l" rtl="0">
              <a:lnSpc>
                <a:spcPct val="90000"/>
              </a:lnSpc>
              <a:spcBef>
                <a:spcPts val="1001"/>
              </a:spcBef>
              <a:spcAft>
                <a:spcPts val="0"/>
              </a:spcAft>
              <a:buClr>
                <a:schemeClr val="dk1"/>
              </a:buClr>
              <a:buSzPct val="100000"/>
              <a:buFont typeface="Calibri"/>
              <a:buAutoNum type="arabicPeriod"/>
            </a:pPr>
            <a:r>
              <a:rPr lang="en-US" sz="1400"/>
              <a:t>This Halal Policy is communicated to all employees and made available to relevant stakeholders.</a:t>
            </a:r>
            <a:endParaRPr/>
          </a:p>
          <a:p>
            <a:pPr marL="514350" lvl="0" indent="-432117" algn="l" rtl="0">
              <a:lnSpc>
                <a:spcPct val="90000"/>
              </a:lnSpc>
              <a:spcBef>
                <a:spcPts val="1001"/>
              </a:spcBef>
              <a:spcAft>
                <a:spcPts val="0"/>
              </a:spcAft>
              <a:buClr>
                <a:schemeClr val="dk1"/>
              </a:buClr>
              <a:buSzPct val="100000"/>
              <a:buFont typeface="Calibri"/>
              <a:buNone/>
            </a:pPr>
            <a:endParaRPr sz="1400"/>
          </a:p>
          <a:p>
            <a:pPr marL="0" lvl="0" indent="0" algn="l" rtl="0">
              <a:lnSpc>
                <a:spcPct val="90000"/>
              </a:lnSpc>
              <a:spcBef>
                <a:spcPts val="1001"/>
              </a:spcBef>
              <a:spcAft>
                <a:spcPts val="0"/>
              </a:spcAft>
              <a:buClr>
                <a:schemeClr val="dk1"/>
              </a:buClr>
              <a:buSzPct val="100000"/>
              <a:buNone/>
            </a:pPr>
            <a:r>
              <a:rPr lang="en-US" sz="1400" b="1"/>
              <a:t>Signed by:</a:t>
            </a:r>
            <a:br>
              <a:rPr lang="en-US" sz="1400"/>
            </a:br>
            <a:r>
              <a:rPr lang="en-US" sz="1400"/>
              <a:t>Name: ________________________</a:t>
            </a:r>
            <a:br>
              <a:rPr lang="en-US" sz="1400"/>
            </a:br>
            <a:r>
              <a:rPr lang="en-US" sz="1400"/>
              <a:t>Designation: [Chief Executive Officer]</a:t>
            </a:r>
            <a:br>
              <a:rPr lang="en-US" sz="1400"/>
            </a:br>
            <a:r>
              <a:rPr lang="en-US" sz="1400"/>
              <a:t>Signature: ____________________</a:t>
            </a:r>
            <a:br>
              <a:rPr lang="en-US" sz="1400"/>
            </a:br>
            <a:r>
              <a:rPr lang="en-US" sz="1400"/>
              <a:t>Date: ________________________</a:t>
            </a:r>
            <a:endParaRPr sz="1400"/>
          </a:p>
        </p:txBody>
      </p:sp>
      <p:sp>
        <p:nvSpPr>
          <p:cNvPr id="575" name="Google Shape;575;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76" name="Google Shape;576;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77" name="Google Shape;577;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578" name="Google Shape;578;p25"/>
          <p:cNvSpPr txBox="1"/>
          <p:nvPr/>
        </p:nvSpPr>
        <p:spPr>
          <a:xfrm>
            <a:off x="759541" y="1208881"/>
            <a:ext cx="612058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Calibri"/>
              <a:buNone/>
            </a:pPr>
            <a:r>
              <a:rPr lang="en-US" sz="2000" b="1">
                <a:solidFill>
                  <a:schemeClr val="dk1"/>
                </a:solidFill>
                <a:latin typeface="Calibri"/>
                <a:ea typeface="Calibri"/>
                <a:cs typeface="Calibri"/>
                <a:sym typeface="Calibri"/>
              </a:rPr>
              <a:t>HALAL POLICY – DRAFTING TEMPLATE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26"/>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POLICY &amp; MANAGEMENT COMMITMENT </a:t>
            </a:r>
            <a:r>
              <a:rPr lang="en-US">
                <a:solidFill>
                  <a:srgbClr val="A5A5A5"/>
                </a:solidFill>
              </a:rPr>
              <a:t>ESTABLISHMENT</a:t>
            </a:r>
            <a:endParaRPr/>
          </a:p>
        </p:txBody>
      </p:sp>
      <p:sp>
        <p:nvSpPr>
          <p:cNvPr id="584" name="Google Shape;584;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85" name="Google Shape;585;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86" name="Google Shape;586;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587" name="Google Shape;587;p26" descr="Halal Policy"/>
          <p:cNvPicPr preferRelativeResize="0">
            <a:picLocks noGrp="1"/>
          </p:cNvPicPr>
          <p:nvPr>
            <p:ph type="body" idx="1"/>
          </p:nvPr>
        </p:nvPicPr>
        <p:blipFill rotWithShape="1">
          <a:blip r:embed="rId3">
            <a:alphaModFix/>
          </a:blip>
          <a:srcRect/>
          <a:stretch/>
        </p:blipFill>
        <p:spPr>
          <a:xfrm>
            <a:off x="838199" y="1234209"/>
            <a:ext cx="3399326" cy="4910138"/>
          </a:xfrm>
          <a:prstGeom prst="rect">
            <a:avLst/>
          </a:prstGeom>
          <a:noFill/>
          <a:ln>
            <a:noFill/>
          </a:ln>
        </p:spPr>
      </p:pic>
      <p:pic>
        <p:nvPicPr>
          <p:cNvPr id="588" name="Google Shape;588;p26" descr="Our Policy | Ajinomoto Malaysia"/>
          <p:cNvPicPr preferRelativeResize="0"/>
          <p:nvPr/>
        </p:nvPicPr>
        <p:blipFill rotWithShape="1">
          <a:blip r:embed="rId4">
            <a:alphaModFix/>
          </a:blip>
          <a:srcRect/>
          <a:stretch/>
        </p:blipFill>
        <p:spPr>
          <a:xfrm>
            <a:off x="4352063" y="1145108"/>
            <a:ext cx="3612246" cy="5118039"/>
          </a:xfrm>
          <a:prstGeom prst="rect">
            <a:avLst/>
          </a:prstGeom>
          <a:noFill/>
          <a:ln>
            <a:noFill/>
          </a:ln>
        </p:spPr>
      </p:pic>
      <p:pic>
        <p:nvPicPr>
          <p:cNvPr id="589" name="Google Shape;589;p26"/>
          <p:cNvPicPr preferRelativeResize="0"/>
          <p:nvPr/>
        </p:nvPicPr>
        <p:blipFill rotWithShape="1">
          <a:blip r:embed="rId5">
            <a:alphaModFix/>
          </a:blip>
          <a:srcRect/>
          <a:stretch/>
        </p:blipFill>
        <p:spPr>
          <a:xfrm>
            <a:off x="7964309" y="1234209"/>
            <a:ext cx="3275907" cy="49101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7"/>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ASSURANCE SYSTEM (HAS) OVERVIEW</a:t>
            </a:r>
            <a:br>
              <a:rPr lang="en-US"/>
            </a:br>
            <a:r>
              <a:rPr lang="en-US">
                <a:solidFill>
                  <a:srgbClr val="A5A5A5"/>
                </a:solidFill>
              </a:rPr>
              <a:t>INTRODUCTION</a:t>
            </a:r>
            <a:endParaRPr>
              <a:solidFill>
                <a:srgbClr val="A5A5A5"/>
              </a:solidFill>
            </a:endParaRPr>
          </a:p>
        </p:txBody>
      </p:sp>
      <p:sp>
        <p:nvSpPr>
          <p:cNvPr id="595" name="Google Shape;595;p27"/>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What is the Halal Assurance System (HAS)?</a:t>
            </a:r>
            <a:endParaRPr/>
          </a:p>
          <a:p>
            <a:pPr marL="0" lvl="0" indent="0" algn="l" rtl="0">
              <a:lnSpc>
                <a:spcPct val="90000"/>
              </a:lnSpc>
              <a:spcBef>
                <a:spcPts val="1001"/>
              </a:spcBef>
              <a:spcAft>
                <a:spcPts val="0"/>
              </a:spcAft>
              <a:buClr>
                <a:schemeClr val="dk1"/>
              </a:buClr>
              <a:buSzPts val="1200"/>
              <a:buNone/>
            </a:pPr>
            <a:endParaRPr sz="1200" b="1"/>
          </a:p>
          <a:p>
            <a:pPr marL="0" lvl="0" indent="0" algn="l" rtl="0">
              <a:lnSpc>
                <a:spcPct val="90000"/>
              </a:lnSpc>
              <a:spcBef>
                <a:spcPts val="1001"/>
              </a:spcBef>
              <a:spcAft>
                <a:spcPts val="0"/>
              </a:spcAft>
              <a:buClr>
                <a:schemeClr val="dk1"/>
              </a:buClr>
              <a:buSzPts val="2400"/>
              <a:buNone/>
            </a:pPr>
            <a:r>
              <a:rPr lang="en-US" sz="2400" b="1"/>
              <a:t>Conceptual Explanation</a:t>
            </a:r>
            <a:endParaRPr/>
          </a:p>
          <a:p>
            <a:pPr marL="228604" lvl="0" indent="-228604" algn="l" rtl="0">
              <a:lnSpc>
                <a:spcPct val="90000"/>
              </a:lnSpc>
              <a:spcBef>
                <a:spcPts val="1001"/>
              </a:spcBef>
              <a:spcAft>
                <a:spcPts val="0"/>
              </a:spcAft>
              <a:buClr>
                <a:schemeClr val="dk1"/>
              </a:buClr>
              <a:buSzPts val="2400"/>
              <a:buChar char="•"/>
            </a:pPr>
            <a:r>
              <a:rPr lang="en-US" sz="2400"/>
              <a:t>The Halal Assurance System (HAS) is a </a:t>
            </a:r>
            <a:r>
              <a:rPr lang="en-US" sz="2400" b="1"/>
              <a:t>systematic, documented, and preventive management system</a:t>
            </a:r>
            <a:r>
              <a:rPr lang="en-US" sz="2400"/>
              <a:t> established to ensure that products manufactured for halal markets continuously comply with halal requirements.</a:t>
            </a:r>
            <a:endParaRPr/>
          </a:p>
          <a:p>
            <a:pPr marL="228604" lvl="0" indent="-50803" algn="l" rtl="0">
              <a:lnSpc>
                <a:spcPct val="90000"/>
              </a:lnSpc>
              <a:spcBef>
                <a:spcPts val="1001"/>
              </a:spcBef>
              <a:spcAft>
                <a:spcPts val="0"/>
              </a:spcAft>
              <a:buClr>
                <a:schemeClr val="dk1"/>
              </a:buClr>
              <a:buSzPts val="2800"/>
              <a:buNone/>
            </a:pPr>
            <a:endParaRPr/>
          </a:p>
        </p:txBody>
      </p:sp>
      <p:sp>
        <p:nvSpPr>
          <p:cNvPr id="596" name="Google Shape;596;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597" name="Google Shape;597;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598" name="Google Shape;598;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pic>
        <p:nvPicPr>
          <p:cNvPr id="599" name="Google Shape;599;p27"/>
          <p:cNvPicPr preferRelativeResize="0"/>
          <p:nvPr/>
        </p:nvPicPr>
        <p:blipFill rotWithShape="1">
          <a:blip r:embed="rId3">
            <a:alphaModFix/>
          </a:blip>
          <a:srcRect t="9929" b="22222"/>
          <a:stretch/>
        </p:blipFill>
        <p:spPr>
          <a:xfrm>
            <a:off x="2656170" y="3641099"/>
            <a:ext cx="6879660" cy="262555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28"/>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ASSURANCE SYSTEM (HAS) OVERVIEW</a:t>
            </a:r>
            <a:br>
              <a:rPr lang="en-US"/>
            </a:br>
            <a:r>
              <a:rPr lang="en-US">
                <a:solidFill>
                  <a:srgbClr val="A5A5A5"/>
                </a:solidFill>
              </a:rPr>
              <a:t>INTRODUCTION</a:t>
            </a:r>
            <a:endParaRPr/>
          </a:p>
        </p:txBody>
      </p:sp>
      <p:grpSp>
        <p:nvGrpSpPr>
          <p:cNvPr id="605" name="Google Shape;605;p28"/>
          <p:cNvGrpSpPr/>
          <p:nvPr/>
        </p:nvGrpSpPr>
        <p:grpSpPr>
          <a:xfrm>
            <a:off x="838202" y="2106406"/>
            <a:ext cx="10515600" cy="1971675"/>
            <a:chOff x="0" y="61297"/>
            <a:chExt cx="10515600" cy="1971675"/>
          </a:xfrm>
        </p:grpSpPr>
        <p:sp>
          <p:nvSpPr>
            <p:cNvPr id="606" name="Google Shape;606;p28"/>
            <p:cNvSpPr/>
            <p:nvPr/>
          </p:nvSpPr>
          <p:spPr>
            <a:xfrm>
              <a:off x="0" y="61297"/>
              <a:ext cx="3286125" cy="1971675"/>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8"/>
            <p:cNvSpPr txBox="1"/>
            <p:nvPr/>
          </p:nvSpPr>
          <p:spPr>
            <a:xfrm>
              <a:off x="0" y="61297"/>
              <a:ext cx="3286125" cy="1971675"/>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Clr>
                  <a:schemeClr val="lt1"/>
                </a:buClr>
                <a:buSzPts val="3500"/>
                <a:buFont typeface="Calibri"/>
                <a:buNone/>
              </a:pPr>
              <a:r>
                <a:rPr lang="en-US" sz="3500">
                  <a:solidFill>
                    <a:schemeClr val="lt1"/>
                  </a:solidFill>
                  <a:latin typeface="Calibri"/>
                  <a:ea typeface="Calibri"/>
                  <a:cs typeface="Calibri"/>
                  <a:sym typeface="Calibri"/>
                </a:rPr>
                <a:t>Process-based, not religion-based</a:t>
              </a:r>
              <a:endParaRPr sz="3500">
                <a:solidFill>
                  <a:schemeClr val="lt1"/>
                </a:solidFill>
                <a:latin typeface="Calibri"/>
                <a:ea typeface="Calibri"/>
                <a:cs typeface="Calibri"/>
                <a:sym typeface="Calibri"/>
              </a:endParaRPr>
            </a:p>
          </p:txBody>
        </p:sp>
        <p:sp>
          <p:nvSpPr>
            <p:cNvPr id="608" name="Google Shape;608;p28"/>
            <p:cNvSpPr/>
            <p:nvPr/>
          </p:nvSpPr>
          <p:spPr>
            <a:xfrm>
              <a:off x="3614737" y="61297"/>
              <a:ext cx="3286125" cy="1971675"/>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8"/>
            <p:cNvSpPr txBox="1"/>
            <p:nvPr/>
          </p:nvSpPr>
          <p:spPr>
            <a:xfrm>
              <a:off x="3614737" y="61297"/>
              <a:ext cx="3286125" cy="1971675"/>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Clr>
                  <a:schemeClr val="lt1"/>
                </a:buClr>
                <a:buSzPts val="3500"/>
                <a:buFont typeface="Calibri"/>
                <a:buNone/>
              </a:pPr>
              <a:r>
                <a:rPr lang="en-US" sz="3500">
                  <a:solidFill>
                    <a:schemeClr val="lt1"/>
                  </a:solidFill>
                  <a:latin typeface="Calibri"/>
                  <a:ea typeface="Calibri"/>
                  <a:cs typeface="Calibri"/>
                  <a:sym typeface="Calibri"/>
                </a:rPr>
                <a:t>Preventive, not reactive</a:t>
              </a:r>
              <a:endParaRPr sz="3500">
                <a:solidFill>
                  <a:schemeClr val="lt1"/>
                </a:solidFill>
                <a:latin typeface="Calibri"/>
                <a:ea typeface="Calibri"/>
                <a:cs typeface="Calibri"/>
                <a:sym typeface="Calibri"/>
              </a:endParaRPr>
            </a:p>
          </p:txBody>
        </p:sp>
        <p:sp>
          <p:nvSpPr>
            <p:cNvPr id="610" name="Google Shape;610;p28"/>
            <p:cNvSpPr/>
            <p:nvPr/>
          </p:nvSpPr>
          <p:spPr>
            <a:xfrm>
              <a:off x="7229475" y="61297"/>
              <a:ext cx="3286125" cy="1971675"/>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8"/>
            <p:cNvSpPr txBox="1"/>
            <p:nvPr/>
          </p:nvSpPr>
          <p:spPr>
            <a:xfrm>
              <a:off x="7229475" y="61297"/>
              <a:ext cx="3286125" cy="1971675"/>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Clr>
                  <a:schemeClr val="lt1"/>
                </a:buClr>
                <a:buSzPts val="3500"/>
                <a:buFont typeface="Calibri"/>
                <a:buNone/>
              </a:pPr>
              <a:r>
                <a:rPr lang="en-US" sz="3500">
                  <a:solidFill>
                    <a:schemeClr val="lt1"/>
                  </a:solidFill>
                  <a:latin typeface="Calibri"/>
                  <a:ea typeface="Calibri"/>
                  <a:cs typeface="Calibri"/>
                  <a:sym typeface="Calibri"/>
                </a:rPr>
                <a:t>Evidence-driven, not assumption-based</a:t>
              </a:r>
              <a:endParaRPr sz="3500">
                <a:solidFill>
                  <a:schemeClr val="lt1"/>
                </a:solidFill>
                <a:latin typeface="Calibri"/>
                <a:ea typeface="Calibri"/>
                <a:cs typeface="Calibri"/>
                <a:sym typeface="Calibri"/>
              </a:endParaRPr>
            </a:p>
          </p:txBody>
        </p:sp>
      </p:grpSp>
      <p:sp>
        <p:nvSpPr>
          <p:cNvPr id="612" name="Google Shape;612;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613" name="Google Shape;613;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614" name="Google Shape;614;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
        <p:nvSpPr>
          <p:cNvPr id="615" name="Google Shape;615;p28"/>
          <p:cNvSpPr txBox="1"/>
          <p:nvPr/>
        </p:nvSpPr>
        <p:spPr>
          <a:xfrm>
            <a:off x="838199" y="1435026"/>
            <a:ext cx="612058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Halal Assurance System (HAS):</a:t>
            </a:r>
            <a:endParaRPr sz="2400" b="1">
              <a:solidFill>
                <a:schemeClr val="dk1"/>
              </a:solidFill>
              <a:latin typeface="Calibri"/>
              <a:ea typeface="Calibri"/>
              <a:cs typeface="Calibri"/>
              <a:sym typeface="Calibri"/>
            </a:endParaRPr>
          </a:p>
        </p:txBody>
      </p:sp>
      <p:sp>
        <p:nvSpPr>
          <p:cNvPr id="616" name="Google Shape;616;p28"/>
          <p:cNvSpPr txBox="1"/>
          <p:nvPr/>
        </p:nvSpPr>
        <p:spPr>
          <a:xfrm>
            <a:off x="838198" y="4486454"/>
            <a:ext cx="10515599" cy="830997"/>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Halal compliance is achieved by controlling materials and processes, not by religious belief of employees.</a:t>
            </a:r>
            <a:endParaRPr sz="2400" b="1">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29"/>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ASSURANCE SYSTEM (HAS) OVERVIEW</a:t>
            </a:r>
            <a:br>
              <a:rPr lang="en-US"/>
            </a:br>
            <a:r>
              <a:rPr lang="en-US">
                <a:solidFill>
                  <a:srgbClr val="A5A5A5"/>
                </a:solidFill>
              </a:rPr>
              <a:t>INTRODUCTION</a:t>
            </a:r>
            <a:endParaRPr/>
          </a:p>
        </p:txBody>
      </p:sp>
      <p:graphicFrame>
        <p:nvGraphicFramePr>
          <p:cNvPr id="622" name="Google Shape;622;p29"/>
          <p:cNvGraphicFramePr/>
          <p:nvPr/>
        </p:nvGraphicFramePr>
        <p:xfrm>
          <a:off x="1022555" y="1876864"/>
          <a:ext cx="3000000" cy="3000000"/>
        </p:xfrm>
        <a:graphic>
          <a:graphicData uri="http://schemas.openxmlformats.org/drawingml/2006/table">
            <a:tbl>
              <a:tblPr firstRow="1" bandRow="1">
                <a:noFill/>
                <a:tableStyleId>{BECD6F48-8B51-4161-AC7E-E7DA0691A067}</a:tableStyleId>
              </a:tblPr>
              <a:tblGrid>
                <a:gridCol w="507345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61775">
                <a:tc>
                  <a:txBody>
                    <a:bodyPr/>
                    <a:lstStyle/>
                    <a:p>
                      <a:pPr marL="0" marR="0" lvl="0" indent="0" algn="l" rtl="0">
                        <a:spcBef>
                          <a:spcPts val="0"/>
                        </a:spcBef>
                        <a:spcAft>
                          <a:spcPts val="0"/>
                        </a:spcAft>
                        <a:buNone/>
                      </a:pPr>
                      <a:r>
                        <a:rPr lang="en-US" sz="1801" u="none" strike="noStrike" cap="none"/>
                        <a:t>System</a:t>
                      </a:r>
                      <a:endParaRPr/>
                    </a:p>
                  </a:txBody>
                  <a:tcPr marL="91450" marR="91450" marT="45725" marB="45725" anchor="ctr">
                    <a:noFill/>
                  </a:tcPr>
                </a:tc>
                <a:tc>
                  <a:txBody>
                    <a:bodyPr/>
                    <a:lstStyle/>
                    <a:p>
                      <a:pPr marL="0" marR="0" lvl="0" indent="0" algn="l" rtl="0">
                        <a:spcBef>
                          <a:spcPts val="0"/>
                        </a:spcBef>
                        <a:spcAft>
                          <a:spcPts val="0"/>
                        </a:spcAft>
                        <a:buNone/>
                      </a:pPr>
                      <a:r>
                        <a:rPr lang="en-US" sz="1801"/>
                        <a:t>Focus</a:t>
                      </a:r>
                      <a:endParaRPr/>
                    </a:p>
                  </a:txBody>
                  <a:tcPr marL="91450" marR="91450" marT="45725" marB="45725" anchor="ctr">
                    <a:noFill/>
                  </a:tcPr>
                </a:tc>
                <a:extLst>
                  <a:ext uri="{0D108BD9-81ED-4DB2-BD59-A6C34878D82A}">
                    <a16:rowId xmlns:a16="http://schemas.microsoft.com/office/drawing/2014/main" val="10000"/>
                  </a:ext>
                </a:extLst>
              </a:tr>
              <a:tr h="461775">
                <a:tc>
                  <a:txBody>
                    <a:bodyPr/>
                    <a:lstStyle/>
                    <a:p>
                      <a:pPr marL="0" marR="0" lvl="0" indent="0" algn="l" rtl="0">
                        <a:spcBef>
                          <a:spcPts val="0"/>
                        </a:spcBef>
                        <a:spcAft>
                          <a:spcPts val="0"/>
                        </a:spcAft>
                        <a:buClr>
                          <a:schemeClr val="dk1"/>
                        </a:buClr>
                        <a:buSzPts val="1801"/>
                        <a:buFont typeface="Calibri"/>
                        <a:buNone/>
                      </a:pPr>
                      <a:r>
                        <a:rPr lang="en-US" sz="1801"/>
                        <a:t>ISO 9001</a:t>
                      </a:r>
                      <a:endParaRPr/>
                    </a:p>
                  </a:txBody>
                  <a:tcPr marL="91450" marR="91450" marT="45725" marB="45725" anchor="ctr">
                    <a:noFill/>
                  </a:tcPr>
                </a:tc>
                <a:tc>
                  <a:txBody>
                    <a:bodyPr/>
                    <a:lstStyle/>
                    <a:p>
                      <a:pPr marL="0" marR="0" lvl="0" indent="0" algn="l" rtl="0">
                        <a:spcBef>
                          <a:spcPts val="0"/>
                        </a:spcBef>
                        <a:spcAft>
                          <a:spcPts val="0"/>
                        </a:spcAft>
                        <a:buClr>
                          <a:schemeClr val="dk1"/>
                        </a:buClr>
                        <a:buSzPts val="1801"/>
                        <a:buFont typeface="Calibri"/>
                        <a:buNone/>
                      </a:pPr>
                      <a:r>
                        <a:rPr lang="en-US" sz="1801"/>
                        <a:t>Quality consistency</a:t>
                      </a:r>
                      <a:endParaRPr/>
                    </a:p>
                  </a:txBody>
                  <a:tcPr marL="91450" marR="91450" marT="45725" marB="45725" anchor="ctr">
                    <a:noFill/>
                  </a:tcPr>
                </a:tc>
                <a:extLst>
                  <a:ext uri="{0D108BD9-81ED-4DB2-BD59-A6C34878D82A}">
                    <a16:rowId xmlns:a16="http://schemas.microsoft.com/office/drawing/2014/main" val="10001"/>
                  </a:ext>
                </a:extLst>
              </a:tr>
              <a:tr h="461775">
                <a:tc>
                  <a:txBody>
                    <a:bodyPr/>
                    <a:lstStyle/>
                    <a:p>
                      <a:pPr marL="0" marR="0" lvl="0" indent="0" algn="l" rtl="0">
                        <a:spcBef>
                          <a:spcPts val="0"/>
                        </a:spcBef>
                        <a:spcAft>
                          <a:spcPts val="0"/>
                        </a:spcAft>
                        <a:buClr>
                          <a:schemeClr val="dk1"/>
                        </a:buClr>
                        <a:buSzPts val="1801"/>
                        <a:buFont typeface="Calibri"/>
                        <a:buNone/>
                      </a:pPr>
                      <a:r>
                        <a:rPr lang="en-US" sz="1801"/>
                        <a:t>ISO 22000 / HACCP</a:t>
                      </a:r>
                      <a:endParaRPr/>
                    </a:p>
                  </a:txBody>
                  <a:tcPr marL="91450" marR="91450" marT="45725" marB="45725" anchor="ctr">
                    <a:noFill/>
                  </a:tcPr>
                </a:tc>
                <a:tc>
                  <a:txBody>
                    <a:bodyPr/>
                    <a:lstStyle/>
                    <a:p>
                      <a:pPr marL="0" marR="0" lvl="0" indent="0" algn="l" rtl="0">
                        <a:spcBef>
                          <a:spcPts val="0"/>
                        </a:spcBef>
                        <a:spcAft>
                          <a:spcPts val="0"/>
                        </a:spcAft>
                        <a:buNone/>
                      </a:pPr>
                      <a:r>
                        <a:rPr lang="en-US" sz="1801"/>
                        <a:t>Food Safety Hazards</a:t>
                      </a:r>
                      <a:endParaRPr/>
                    </a:p>
                  </a:txBody>
                  <a:tcPr marL="91450" marR="91450" marT="45725" marB="45725" anchor="ctr">
                    <a:noFill/>
                  </a:tcPr>
                </a:tc>
                <a:extLst>
                  <a:ext uri="{0D108BD9-81ED-4DB2-BD59-A6C34878D82A}">
                    <a16:rowId xmlns:a16="http://schemas.microsoft.com/office/drawing/2014/main" val="10002"/>
                  </a:ext>
                </a:extLst>
              </a:tr>
              <a:tr h="461775">
                <a:tc>
                  <a:txBody>
                    <a:bodyPr/>
                    <a:lstStyle/>
                    <a:p>
                      <a:pPr marL="0" marR="0" lvl="0" indent="0" algn="l" rtl="0">
                        <a:spcBef>
                          <a:spcPts val="0"/>
                        </a:spcBef>
                        <a:spcAft>
                          <a:spcPts val="0"/>
                        </a:spcAft>
                        <a:buNone/>
                      </a:pPr>
                      <a:r>
                        <a:rPr lang="en-US" sz="1801"/>
                        <a:t>HAS</a:t>
                      </a:r>
                      <a:endParaRPr/>
                    </a:p>
                  </a:txBody>
                  <a:tcPr marL="91450" marR="91450" marT="45725" marB="45725" anchor="ctr">
                    <a:noFill/>
                  </a:tcPr>
                </a:tc>
                <a:tc>
                  <a:txBody>
                    <a:bodyPr/>
                    <a:lstStyle/>
                    <a:p>
                      <a:pPr marL="0" marR="0" lvl="0" indent="0" algn="l" rtl="0">
                        <a:spcBef>
                          <a:spcPts val="0"/>
                        </a:spcBef>
                        <a:spcAft>
                          <a:spcPts val="0"/>
                        </a:spcAft>
                        <a:buNone/>
                      </a:pPr>
                      <a:r>
                        <a:rPr lang="en-US" sz="1801"/>
                        <a:t>Halal Integrity Risks</a:t>
                      </a:r>
                      <a:endParaRPr/>
                    </a:p>
                  </a:txBody>
                  <a:tcPr marL="91450" marR="91450" marT="45725" marB="45725" anchor="ctr">
                    <a:noFill/>
                  </a:tcPr>
                </a:tc>
                <a:extLst>
                  <a:ext uri="{0D108BD9-81ED-4DB2-BD59-A6C34878D82A}">
                    <a16:rowId xmlns:a16="http://schemas.microsoft.com/office/drawing/2014/main" val="10003"/>
                  </a:ext>
                </a:extLst>
              </a:tr>
            </a:tbl>
          </a:graphicData>
        </a:graphic>
      </p:graphicFrame>
      <p:sp>
        <p:nvSpPr>
          <p:cNvPr id="623" name="Google Shape;623;p2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624" name="Google Shape;624;p2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625" name="Google Shape;625;p2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
        <p:nvSpPr>
          <p:cNvPr id="626" name="Google Shape;626;p29"/>
          <p:cNvSpPr txBox="1"/>
          <p:nvPr/>
        </p:nvSpPr>
        <p:spPr>
          <a:xfrm>
            <a:off x="838199" y="1314267"/>
            <a:ext cx="612058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Comparison with Other Systems</a:t>
            </a:r>
            <a:endParaRPr sz="2400" b="1">
              <a:solidFill>
                <a:schemeClr val="dk1"/>
              </a:solidFill>
              <a:latin typeface="Calibri"/>
              <a:ea typeface="Calibri"/>
              <a:cs typeface="Calibri"/>
              <a:sym typeface="Calibri"/>
            </a:endParaRPr>
          </a:p>
        </p:txBody>
      </p:sp>
      <p:sp>
        <p:nvSpPr>
          <p:cNvPr id="627" name="Google Shape;627;p29"/>
          <p:cNvSpPr txBox="1"/>
          <p:nvPr/>
        </p:nvSpPr>
        <p:spPr>
          <a:xfrm>
            <a:off x="1022552" y="3946644"/>
            <a:ext cx="10331245" cy="461665"/>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HAS works </a:t>
            </a:r>
            <a:r>
              <a:rPr lang="en-US" sz="2400" b="1">
                <a:solidFill>
                  <a:schemeClr val="dk1"/>
                </a:solidFill>
                <a:latin typeface="Calibri"/>
                <a:ea typeface="Calibri"/>
                <a:cs typeface="Calibri"/>
                <a:sym typeface="Calibri"/>
              </a:rPr>
              <a:t>in parallel</a:t>
            </a:r>
            <a:r>
              <a:rPr lang="en-US" sz="2400">
                <a:solidFill>
                  <a:schemeClr val="dk1"/>
                </a:solidFill>
                <a:latin typeface="Calibri"/>
                <a:ea typeface="Calibri"/>
                <a:cs typeface="Calibri"/>
                <a:sym typeface="Calibri"/>
              </a:rPr>
              <a:t> with ISO &amp; HACCP, not separately.</a:t>
            </a:r>
            <a:endParaRPr sz="24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30"/>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OBJECTIVES OF HAS</a:t>
            </a:r>
            <a:endParaRPr/>
          </a:p>
        </p:txBody>
      </p:sp>
      <p:grpSp>
        <p:nvGrpSpPr>
          <p:cNvPr id="633" name="Google Shape;633;p30"/>
          <p:cNvGrpSpPr/>
          <p:nvPr/>
        </p:nvGrpSpPr>
        <p:grpSpPr>
          <a:xfrm>
            <a:off x="838202" y="1317861"/>
            <a:ext cx="10515600" cy="4808521"/>
            <a:chOff x="0" y="50580"/>
            <a:chExt cx="10515600" cy="4808521"/>
          </a:xfrm>
        </p:grpSpPr>
        <p:sp>
          <p:nvSpPr>
            <p:cNvPr id="634" name="Google Shape;634;p30"/>
            <p:cNvSpPr/>
            <p:nvPr/>
          </p:nvSpPr>
          <p:spPr>
            <a:xfrm>
              <a:off x="0" y="50580"/>
              <a:ext cx="10515600" cy="75582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0"/>
            <p:cNvSpPr txBox="1"/>
            <p:nvPr/>
          </p:nvSpPr>
          <p:spPr>
            <a:xfrm>
              <a:off x="36896" y="87476"/>
              <a:ext cx="10441808" cy="682028"/>
            </a:xfrm>
            <a:prstGeom prst="rect">
              <a:avLst/>
            </a:prstGeom>
            <a:noFill/>
            <a:ln>
              <a:noFill/>
            </a:ln>
          </p:spPr>
          <p:txBody>
            <a:bodyPr spcFirstLastPara="1" wrap="square" lIns="72375" tIns="72375" rIns="72375" bIns="72375" anchor="ctr" anchorCtr="0">
              <a:noAutofit/>
            </a:bodyPr>
            <a:lstStyle/>
            <a:p>
              <a:pPr marL="0" marR="0" lvl="0" indent="0" algn="l"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The main objective of implementing HAS is to ensure production of genuine halal products or services for the consumer. </a:t>
              </a:r>
              <a:endParaRPr sz="1900">
                <a:solidFill>
                  <a:schemeClr val="lt1"/>
                </a:solidFill>
                <a:latin typeface="Calibri"/>
                <a:ea typeface="Calibri"/>
                <a:cs typeface="Calibri"/>
                <a:sym typeface="Calibri"/>
              </a:endParaRPr>
            </a:p>
          </p:txBody>
        </p:sp>
        <p:sp>
          <p:nvSpPr>
            <p:cNvPr id="636" name="Google Shape;636;p30"/>
            <p:cNvSpPr/>
            <p:nvPr/>
          </p:nvSpPr>
          <p:spPr>
            <a:xfrm>
              <a:off x="0" y="861121"/>
              <a:ext cx="10515600" cy="75582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txBox="1"/>
            <p:nvPr/>
          </p:nvSpPr>
          <p:spPr>
            <a:xfrm>
              <a:off x="36896" y="898017"/>
              <a:ext cx="10441808" cy="682028"/>
            </a:xfrm>
            <a:prstGeom prst="rect">
              <a:avLst/>
            </a:prstGeom>
            <a:noFill/>
            <a:ln>
              <a:noFill/>
            </a:ln>
          </p:spPr>
          <p:txBody>
            <a:bodyPr spcFirstLastPara="1" wrap="square" lIns="72375" tIns="72375" rIns="72375" bIns="72375" anchor="ctr" anchorCtr="0">
              <a:noAutofit/>
            </a:bodyPr>
            <a:lstStyle/>
            <a:p>
              <a:pPr marL="0" marR="0" lvl="0" indent="0" algn="l"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In achieving this objective, commitment from the top management is an absolute must. </a:t>
              </a:r>
              <a:endParaRPr sz="1900">
                <a:solidFill>
                  <a:schemeClr val="lt1"/>
                </a:solidFill>
                <a:latin typeface="Calibri"/>
                <a:ea typeface="Calibri"/>
                <a:cs typeface="Calibri"/>
                <a:sym typeface="Calibri"/>
              </a:endParaRPr>
            </a:p>
          </p:txBody>
        </p:sp>
        <p:sp>
          <p:nvSpPr>
            <p:cNvPr id="638" name="Google Shape;638;p30"/>
            <p:cNvSpPr/>
            <p:nvPr/>
          </p:nvSpPr>
          <p:spPr>
            <a:xfrm>
              <a:off x="0" y="1671661"/>
              <a:ext cx="10515600" cy="75582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0"/>
            <p:cNvSpPr txBox="1"/>
            <p:nvPr/>
          </p:nvSpPr>
          <p:spPr>
            <a:xfrm>
              <a:off x="36896" y="1708557"/>
              <a:ext cx="10441808" cy="682028"/>
            </a:xfrm>
            <a:prstGeom prst="rect">
              <a:avLst/>
            </a:prstGeom>
            <a:noFill/>
            <a:ln>
              <a:noFill/>
            </a:ln>
          </p:spPr>
          <p:txBody>
            <a:bodyPr spcFirstLastPara="1" wrap="square" lIns="72375" tIns="72375" rIns="72375" bIns="72375" anchor="ctr" anchorCtr="0">
              <a:noAutofit/>
            </a:bodyPr>
            <a:lstStyle/>
            <a:p>
              <a:pPr marL="0" marR="0" lvl="0" indent="0" algn="l"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The top management’s responsibilities do not only cover monitoring aspects, but also in providing sufficient manpower, premise, processing facilities, materials and training. </a:t>
              </a:r>
              <a:endParaRPr sz="1900">
                <a:solidFill>
                  <a:schemeClr val="lt1"/>
                </a:solidFill>
                <a:latin typeface="Calibri"/>
                <a:ea typeface="Calibri"/>
                <a:cs typeface="Calibri"/>
                <a:sym typeface="Calibri"/>
              </a:endParaRPr>
            </a:p>
          </p:txBody>
        </p:sp>
        <p:sp>
          <p:nvSpPr>
            <p:cNvPr id="640" name="Google Shape;640;p30"/>
            <p:cNvSpPr/>
            <p:nvPr/>
          </p:nvSpPr>
          <p:spPr>
            <a:xfrm>
              <a:off x="0" y="2482201"/>
              <a:ext cx="10515600" cy="75582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0"/>
            <p:cNvSpPr txBox="1"/>
            <p:nvPr/>
          </p:nvSpPr>
          <p:spPr>
            <a:xfrm>
              <a:off x="36896" y="2519097"/>
              <a:ext cx="10441808" cy="682028"/>
            </a:xfrm>
            <a:prstGeom prst="rect">
              <a:avLst/>
            </a:prstGeom>
            <a:noFill/>
            <a:ln>
              <a:noFill/>
            </a:ln>
          </p:spPr>
          <p:txBody>
            <a:bodyPr spcFirstLastPara="1" wrap="square" lIns="72375" tIns="72375" rIns="72375" bIns="72375" anchor="ctr" anchorCtr="0">
              <a:noAutofit/>
            </a:bodyPr>
            <a:lstStyle/>
            <a:p>
              <a:pPr marL="0" marR="0" lvl="0" indent="0" algn="l"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One of the important components in implementing HAS is manpower. </a:t>
              </a:r>
              <a:endParaRPr sz="1900">
                <a:solidFill>
                  <a:schemeClr val="lt1"/>
                </a:solidFill>
                <a:latin typeface="Calibri"/>
                <a:ea typeface="Calibri"/>
                <a:cs typeface="Calibri"/>
                <a:sym typeface="Calibri"/>
              </a:endParaRPr>
            </a:p>
          </p:txBody>
        </p:sp>
        <p:sp>
          <p:nvSpPr>
            <p:cNvPr id="642" name="Google Shape;642;p30"/>
            <p:cNvSpPr/>
            <p:nvPr/>
          </p:nvSpPr>
          <p:spPr>
            <a:xfrm>
              <a:off x="0" y="3292741"/>
              <a:ext cx="10515600" cy="755820"/>
            </a:xfrm>
            <a:prstGeom prst="roundRect">
              <a:avLst>
                <a:gd name="adj" fmla="val 16667"/>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0"/>
            <p:cNvSpPr txBox="1"/>
            <p:nvPr/>
          </p:nvSpPr>
          <p:spPr>
            <a:xfrm>
              <a:off x="36896" y="3329637"/>
              <a:ext cx="10441808" cy="682028"/>
            </a:xfrm>
            <a:prstGeom prst="rect">
              <a:avLst/>
            </a:prstGeom>
            <a:noFill/>
            <a:ln>
              <a:noFill/>
            </a:ln>
          </p:spPr>
          <p:txBody>
            <a:bodyPr spcFirstLastPara="1" wrap="square" lIns="72375" tIns="72375" rIns="72375" bIns="72375" anchor="ctr" anchorCtr="0">
              <a:noAutofit/>
            </a:bodyPr>
            <a:lstStyle/>
            <a:p>
              <a:pPr marL="0" marR="0" lvl="0" indent="0" algn="l"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HAS requires trained and competent personnel to establish, implement, monitor, control and verify it. </a:t>
              </a:r>
              <a:endParaRPr sz="1900">
                <a:solidFill>
                  <a:schemeClr val="lt1"/>
                </a:solidFill>
                <a:latin typeface="Calibri"/>
                <a:ea typeface="Calibri"/>
                <a:cs typeface="Calibri"/>
                <a:sym typeface="Calibri"/>
              </a:endParaRPr>
            </a:p>
          </p:txBody>
        </p:sp>
        <p:sp>
          <p:nvSpPr>
            <p:cNvPr id="644" name="Google Shape;644;p30"/>
            <p:cNvSpPr/>
            <p:nvPr/>
          </p:nvSpPr>
          <p:spPr>
            <a:xfrm>
              <a:off x="0" y="4103281"/>
              <a:ext cx="10515600" cy="75582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0"/>
            <p:cNvSpPr txBox="1"/>
            <p:nvPr/>
          </p:nvSpPr>
          <p:spPr>
            <a:xfrm>
              <a:off x="36896" y="4140177"/>
              <a:ext cx="10441808" cy="682028"/>
            </a:xfrm>
            <a:prstGeom prst="rect">
              <a:avLst/>
            </a:prstGeom>
            <a:noFill/>
            <a:ln>
              <a:noFill/>
            </a:ln>
          </p:spPr>
          <p:txBody>
            <a:bodyPr spcFirstLastPara="1" wrap="square" lIns="72375" tIns="72375" rIns="72375" bIns="72375" anchor="ctr" anchorCtr="0">
              <a:noAutofit/>
            </a:bodyPr>
            <a:lstStyle/>
            <a:p>
              <a:pPr marL="0" marR="0" lvl="0" indent="0" algn="l"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These tasks are conducted by a group of personnel that portray their responsibility in managing halal.</a:t>
              </a:r>
              <a:endParaRPr sz="1900">
                <a:solidFill>
                  <a:schemeClr val="lt1"/>
                </a:solidFill>
                <a:latin typeface="Calibri"/>
                <a:ea typeface="Calibri"/>
                <a:cs typeface="Calibri"/>
                <a:sym typeface="Calibri"/>
              </a:endParaRPr>
            </a:p>
          </p:txBody>
        </p:sp>
      </p:grpSp>
      <p:sp>
        <p:nvSpPr>
          <p:cNvPr id="646" name="Google Shape;646;p3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647" name="Google Shape;647;p3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648" name="Google Shape;648;p3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31"/>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SCOPE OF HAS</a:t>
            </a:r>
            <a:endParaRPr/>
          </a:p>
        </p:txBody>
      </p:sp>
      <p:grpSp>
        <p:nvGrpSpPr>
          <p:cNvPr id="654" name="Google Shape;654;p31"/>
          <p:cNvGrpSpPr/>
          <p:nvPr/>
        </p:nvGrpSpPr>
        <p:grpSpPr>
          <a:xfrm>
            <a:off x="839349" y="1267281"/>
            <a:ext cx="10513304" cy="4909681"/>
            <a:chOff x="1147" y="0"/>
            <a:chExt cx="10513304" cy="4909681"/>
          </a:xfrm>
        </p:grpSpPr>
        <p:sp>
          <p:nvSpPr>
            <p:cNvPr id="655" name="Google Shape;655;p31"/>
            <p:cNvSpPr/>
            <p:nvPr/>
          </p:nvSpPr>
          <p:spPr>
            <a:xfrm>
              <a:off x="788669" y="0"/>
              <a:ext cx="8938260" cy="4909681"/>
            </a:xfrm>
            <a:prstGeom prst="rightArrow">
              <a:avLst>
                <a:gd name="adj1" fmla="val 50000"/>
                <a:gd name="adj2" fmla="val 5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p:cNvSpPr/>
            <p:nvPr/>
          </p:nvSpPr>
          <p:spPr>
            <a:xfrm>
              <a:off x="1147" y="1472904"/>
              <a:ext cx="1643214" cy="1963872"/>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txBox="1"/>
            <p:nvPr/>
          </p:nvSpPr>
          <p:spPr>
            <a:xfrm>
              <a:off x="81362" y="1553119"/>
              <a:ext cx="1482784" cy="1803442"/>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Supplier approval</a:t>
              </a:r>
              <a:endParaRPr/>
            </a:p>
          </p:txBody>
        </p:sp>
        <p:sp>
          <p:nvSpPr>
            <p:cNvPr id="658" name="Google Shape;658;p31"/>
            <p:cNvSpPr/>
            <p:nvPr/>
          </p:nvSpPr>
          <p:spPr>
            <a:xfrm>
              <a:off x="1775165" y="1472904"/>
              <a:ext cx="1643214" cy="1963872"/>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txBox="1"/>
            <p:nvPr/>
          </p:nvSpPr>
          <p:spPr>
            <a:xfrm>
              <a:off x="1855380" y="1553119"/>
              <a:ext cx="1482784" cy="1803442"/>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Receiving</a:t>
              </a:r>
              <a:endParaRPr/>
            </a:p>
          </p:txBody>
        </p:sp>
        <p:sp>
          <p:nvSpPr>
            <p:cNvPr id="660" name="Google Shape;660;p31"/>
            <p:cNvSpPr/>
            <p:nvPr/>
          </p:nvSpPr>
          <p:spPr>
            <a:xfrm>
              <a:off x="3549183" y="1472904"/>
              <a:ext cx="1643214" cy="1963872"/>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p:cNvSpPr txBox="1"/>
            <p:nvPr/>
          </p:nvSpPr>
          <p:spPr>
            <a:xfrm>
              <a:off x="3629398" y="1553119"/>
              <a:ext cx="1482784" cy="1803442"/>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Storage</a:t>
              </a:r>
              <a:endParaRPr/>
            </a:p>
          </p:txBody>
        </p:sp>
        <p:sp>
          <p:nvSpPr>
            <p:cNvPr id="662" name="Google Shape;662;p31"/>
            <p:cNvSpPr/>
            <p:nvPr/>
          </p:nvSpPr>
          <p:spPr>
            <a:xfrm>
              <a:off x="5323201" y="1472904"/>
              <a:ext cx="1643214" cy="1963872"/>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p:cNvSpPr txBox="1"/>
            <p:nvPr/>
          </p:nvSpPr>
          <p:spPr>
            <a:xfrm>
              <a:off x="5403416" y="1553119"/>
              <a:ext cx="1482784" cy="1803442"/>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Processing</a:t>
              </a:r>
              <a:endParaRPr/>
            </a:p>
          </p:txBody>
        </p:sp>
        <p:sp>
          <p:nvSpPr>
            <p:cNvPr id="664" name="Google Shape;664;p31"/>
            <p:cNvSpPr/>
            <p:nvPr/>
          </p:nvSpPr>
          <p:spPr>
            <a:xfrm>
              <a:off x="7097219" y="1472904"/>
              <a:ext cx="1643214" cy="1963872"/>
            </a:xfrm>
            <a:prstGeom prst="roundRect">
              <a:avLst>
                <a:gd name="adj" fmla="val 16667"/>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p:cNvSpPr txBox="1"/>
            <p:nvPr/>
          </p:nvSpPr>
          <p:spPr>
            <a:xfrm>
              <a:off x="7177434" y="1553119"/>
              <a:ext cx="1482784" cy="1803442"/>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Packaging</a:t>
              </a:r>
              <a:endParaRPr/>
            </a:p>
          </p:txBody>
        </p:sp>
        <p:sp>
          <p:nvSpPr>
            <p:cNvPr id="666" name="Google Shape;666;p31"/>
            <p:cNvSpPr/>
            <p:nvPr/>
          </p:nvSpPr>
          <p:spPr>
            <a:xfrm>
              <a:off x="8871237" y="1472904"/>
              <a:ext cx="1643214" cy="1963872"/>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p:cNvSpPr txBox="1"/>
            <p:nvPr/>
          </p:nvSpPr>
          <p:spPr>
            <a:xfrm>
              <a:off x="8951452" y="1553119"/>
              <a:ext cx="1482784" cy="1803442"/>
            </a:xfrm>
            <a:prstGeom prst="rect">
              <a:avLst/>
            </a:prstGeom>
            <a:noFill/>
            <a:ln>
              <a:noFill/>
            </a:ln>
          </p:spPr>
          <p:txBody>
            <a:bodyPr spcFirstLastPara="1" wrap="square" lIns="80000" tIns="80000" rIns="80000" bIns="8000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Distribution</a:t>
              </a:r>
              <a:endParaRPr/>
            </a:p>
          </p:txBody>
        </p:sp>
      </p:grpSp>
      <p:sp>
        <p:nvSpPr>
          <p:cNvPr id="668" name="Google Shape;668;p3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669" name="Google Shape;669;p3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670" name="Google Shape;670;p3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671" name="Google Shape;671;p31"/>
          <p:cNvSpPr txBox="1"/>
          <p:nvPr/>
        </p:nvSpPr>
        <p:spPr>
          <a:xfrm>
            <a:off x="1054509" y="5406053"/>
            <a:ext cx="612058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a:solidFill>
                  <a:schemeClr val="dk1"/>
                </a:solidFill>
                <a:latin typeface="Calibri"/>
                <a:ea typeface="Calibri"/>
                <a:cs typeface="Calibri"/>
                <a:sym typeface="Calibri"/>
              </a:rPr>
              <a:t>Use a </a:t>
            </a:r>
            <a:r>
              <a:rPr lang="en-US" sz="2000" b="1" i="1">
                <a:solidFill>
                  <a:schemeClr val="dk1"/>
                </a:solidFill>
                <a:latin typeface="Calibri"/>
                <a:ea typeface="Calibri"/>
                <a:cs typeface="Calibri"/>
                <a:sym typeface="Calibri"/>
              </a:rPr>
              <a:t>factory flow diagram</a:t>
            </a:r>
            <a:endParaRPr sz="2000" i="1">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32"/>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BENEFITS OF HAS</a:t>
            </a:r>
            <a:endParaRPr/>
          </a:p>
        </p:txBody>
      </p:sp>
      <p:graphicFrame>
        <p:nvGraphicFramePr>
          <p:cNvPr id="677" name="Google Shape;677;p32"/>
          <p:cNvGraphicFramePr/>
          <p:nvPr/>
        </p:nvGraphicFramePr>
        <p:xfrm>
          <a:off x="838199" y="1316767"/>
          <a:ext cx="3000000" cy="3000000"/>
        </p:xfrm>
        <a:graphic>
          <a:graphicData uri="http://schemas.openxmlformats.org/drawingml/2006/table">
            <a:tbl>
              <a:tblPr firstRow="1" firstCol="1" bandRow="1">
                <a:noFill/>
                <a:tableStyleId>{81C1E0F8-89D9-480C-889A-00ECAE703E9D}</a:tableStyleId>
              </a:tblPr>
              <a:tblGrid>
                <a:gridCol w="1978100">
                  <a:extLst>
                    <a:ext uri="{9D8B030D-6E8A-4147-A177-3AD203B41FA5}">
                      <a16:colId xmlns:a16="http://schemas.microsoft.com/office/drawing/2014/main" val="20000"/>
                    </a:ext>
                  </a:extLst>
                </a:gridCol>
                <a:gridCol w="8537500">
                  <a:extLst>
                    <a:ext uri="{9D8B030D-6E8A-4147-A177-3AD203B41FA5}">
                      <a16:colId xmlns:a16="http://schemas.microsoft.com/office/drawing/2014/main" val="20001"/>
                    </a:ext>
                  </a:extLst>
                </a:gridCol>
              </a:tblGrid>
              <a:tr h="512250">
                <a:tc>
                  <a:txBody>
                    <a:bodyPr/>
                    <a:lstStyle/>
                    <a:p>
                      <a:pPr marL="0" marR="0" lvl="0" indent="0" algn="just" rtl="0">
                        <a:lnSpc>
                          <a:spcPct val="115000"/>
                        </a:lnSpc>
                        <a:spcBef>
                          <a:spcPts val="0"/>
                        </a:spcBef>
                        <a:spcAft>
                          <a:spcPts val="0"/>
                        </a:spcAft>
                        <a:buClr>
                          <a:schemeClr val="dk1"/>
                        </a:buClr>
                        <a:buSzPts val="2000"/>
                        <a:buFont typeface="Calibri"/>
                        <a:buNone/>
                      </a:pPr>
                      <a:r>
                        <a:rPr lang="en-US" sz="2000"/>
                        <a:t>Parties</a:t>
                      </a:r>
                      <a:endParaRPr sz="2000">
                        <a:solidFill>
                          <a:srgbClr val="0E2841"/>
                        </a:solidFill>
                        <a:latin typeface="Arial"/>
                        <a:ea typeface="Arial"/>
                        <a:cs typeface="Arial"/>
                        <a:sym typeface="Arial"/>
                      </a:endParaRPr>
                    </a:p>
                  </a:txBody>
                  <a:tcPr marL="68575" marR="68575" marT="0" marB="0">
                    <a:noFill/>
                  </a:tcPr>
                </a:tc>
                <a:tc>
                  <a:txBody>
                    <a:bodyPr/>
                    <a:lstStyle/>
                    <a:p>
                      <a:pPr marL="0" marR="0" lvl="0" indent="0" algn="just" rtl="0">
                        <a:lnSpc>
                          <a:spcPct val="115000"/>
                        </a:lnSpc>
                        <a:spcBef>
                          <a:spcPts val="0"/>
                        </a:spcBef>
                        <a:spcAft>
                          <a:spcPts val="0"/>
                        </a:spcAft>
                        <a:buClr>
                          <a:schemeClr val="dk1"/>
                        </a:buClr>
                        <a:buSzPts val="2000"/>
                        <a:buFont typeface="Calibri"/>
                        <a:buNone/>
                      </a:pPr>
                      <a:r>
                        <a:rPr lang="en-US" sz="2000"/>
                        <a:t>Benefits</a:t>
                      </a:r>
                      <a:endParaRPr sz="2000">
                        <a:solidFill>
                          <a:srgbClr val="0E2841"/>
                        </a:solidFill>
                        <a:latin typeface="Arial"/>
                        <a:ea typeface="Arial"/>
                        <a:cs typeface="Arial"/>
                        <a:sym typeface="Arial"/>
                      </a:endParaRPr>
                    </a:p>
                  </a:txBody>
                  <a:tcPr marL="68575" marR="68575" marT="0" marB="0">
                    <a:noFill/>
                  </a:tcPr>
                </a:tc>
                <a:extLst>
                  <a:ext uri="{0D108BD9-81ED-4DB2-BD59-A6C34878D82A}">
                    <a16:rowId xmlns:a16="http://schemas.microsoft.com/office/drawing/2014/main" val="10000"/>
                  </a:ext>
                </a:extLst>
              </a:tr>
              <a:tr h="3752400">
                <a:tc>
                  <a:txBody>
                    <a:bodyPr/>
                    <a:lstStyle/>
                    <a:p>
                      <a:pPr marL="0" marR="0" lvl="0" indent="0" algn="just" rtl="0">
                        <a:lnSpc>
                          <a:spcPct val="115000"/>
                        </a:lnSpc>
                        <a:spcBef>
                          <a:spcPts val="0"/>
                        </a:spcBef>
                        <a:spcAft>
                          <a:spcPts val="0"/>
                        </a:spcAft>
                        <a:buClr>
                          <a:schemeClr val="dk1"/>
                        </a:buClr>
                        <a:buSzPts val="2000"/>
                        <a:buFont typeface="Calibri"/>
                        <a:buNone/>
                      </a:pPr>
                      <a:r>
                        <a:rPr lang="en-US" sz="2000"/>
                        <a:t>Consumers</a:t>
                      </a:r>
                      <a:endParaRPr sz="2000">
                        <a:solidFill>
                          <a:srgbClr val="0E2841"/>
                        </a:solidFill>
                        <a:latin typeface="Arial"/>
                        <a:ea typeface="Arial"/>
                        <a:cs typeface="Arial"/>
                        <a:sym typeface="Arial"/>
                      </a:endParaRPr>
                    </a:p>
                  </a:txBody>
                  <a:tcPr marL="68575" marR="68575" marT="0" marB="0">
                    <a:noFill/>
                  </a:tcPr>
                </a:tc>
                <a:tc>
                  <a:txBody>
                    <a:bodyPr/>
                    <a:lstStyle/>
                    <a:p>
                      <a:pPr marL="342900" marR="0" lvl="0" indent="-342900" algn="just" rtl="0">
                        <a:lnSpc>
                          <a:spcPct val="115000"/>
                        </a:lnSpc>
                        <a:spcBef>
                          <a:spcPts val="0"/>
                        </a:spcBef>
                        <a:spcAft>
                          <a:spcPts val="0"/>
                        </a:spcAft>
                        <a:buClr>
                          <a:schemeClr val="dk1"/>
                        </a:buClr>
                        <a:buSzPts val="2000"/>
                        <a:buFont typeface="Noto Sans Symbols"/>
                        <a:buChar char="∙"/>
                      </a:pPr>
                      <a:r>
                        <a:rPr lang="en-US" sz="2000"/>
                        <a:t>Informed choice in buying genuine halal products and services</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Value-for-money halal products or services that are Shariah compliant.</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Provide with trustworthy halal products or services through the integrated; stringent and systematic and systematic application of a halal control system; and</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Served with products or services that comply with the halal concept, which focuses on both the halal and the quality of products or services offered.</a:t>
                      </a:r>
                      <a:endParaRPr sz="2000">
                        <a:solidFill>
                          <a:srgbClr val="0E2841"/>
                        </a:solidFill>
                        <a:latin typeface="Arial"/>
                        <a:ea typeface="Arial"/>
                        <a:cs typeface="Arial"/>
                        <a:sym typeface="Arial"/>
                      </a:endParaRPr>
                    </a:p>
                  </a:txBody>
                  <a:tcPr marL="68575" marR="68575" marT="0" marB="0">
                    <a:noFill/>
                  </a:tcPr>
                </a:tc>
                <a:extLst>
                  <a:ext uri="{0D108BD9-81ED-4DB2-BD59-A6C34878D82A}">
                    <a16:rowId xmlns:a16="http://schemas.microsoft.com/office/drawing/2014/main" val="10001"/>
                  </a:ext>
                </a:extLst>
              </a:tr>
            </a:tbl>
          </a:graphicData>
        </a:graphic>
      </p:graphicFrame>
      <p:sp>
        <p:nvSpPr>
          <p:cNvPr id="678" name="Google Shape;678;p3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679" name="Google Shape;679;p3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680" name="Google Shape;680;p3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33"/>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BENEFITS OF MHMS</a:t>
            </a:r>
            <a:endParaRPr/>
          </a:p>
        </p:txBody>
      </p:sp>
      <p:graphicFrame>
        <p:nvGraphicFramePr>
          <p:cNvPr id="686" name="Google Shape;686;p33"/>
          <p:cNvGraphicFramePr/>
          <p:nvPr/>
        </p:nvGraphicFramePr>
        <p:xfrm>
          <a:off x="838199" y="1316767"/>
          <a:ext cx="3000000" cy="3000000"/>
        </p:xfrm>
        <a:graphic>
          <a:graphicData uri="http://schemas.openxmlformats.org/drawingml/2006/table">
            <a:tbl>
              <a:tblPr firstRow="1" firstCol="1" bandRow="1">
                <a:noFill/>
                <a:tableStyleId>{81C1E0F8-89D9-480C-889A-00ECAE703E9D}</a:tableStyleId>
              </a:tblPr>
              <a:tblGrid>
                <a:gridCol w="1978100">
                  <a:extLst>
                    <a:ext uri="{9D8B030D-6E8A-4147-A177-3AD203B41FA5}">
                      <a16:colId xmlns:a16="http://schemas.microsoft.com/office/drawing/2014/main" val="20000"/>
                    </a:ext>
                  </a:extLst>
                </a:gridCol>
                <a:gridCol w="8537500">
                  <a:extLst>
                    <a:ext uri="{9D8B030D-6E8A-4147-A177-3AD203B41FA5}">
                      <a16:colId xmlns:a16="http://schemas.microsoft.com/office/drawing/2014/main" val="20001"/>
                    </a:ext>
                  </a:extLst>
                </a:gridCol>
              </a:tblGrid>
              <a:tr h="254000">
                <a:tc>
                  <a:txBody>
                    <a:bodyPr/>
                    <a:lstStyle/>
                    <a:p>
                      <a:pPr marL="0" marR="0" lvl="0" indent="0" algn="just" rtl="0">
                        <a:lnSpc>
                          <a:spcPct val="115000"/>
                        </a:lnSpc>
                        <a:spcBef>
                          <a:spcPts val="0"/>
                        </a:spcBef>
                        <a:spcAft>
                          <a:spcPts val="0"/>
                        </a:spcAft>
                        <a:buClr>
                          <a:schemeClr val="dk1"/>
                        </a:buClr>
                        <a:buSzPts val="2000"/>
                        <a:buFont typeface="Calibri"/>
                        <a:buNone/>
                      </a:pPr>
                      <a:r>
                        <a:rPr lang="en-US" sz="2000"/>
                        <a:t>Parties</a:t>
                      </a:r>
                      <a:endParaRPr sz="2000">
                        <a:solidFill>
                          <a:srgbClr val="0E2841"/>
                        </a:solidFill>
                        <a:latin typeface="Arial"/>
                        <a:ea typeface="Arial"/>
                        <a:cs typeface="Arial"/>
                        <a:sym typeface="Arial"/>
                      </a:endParaRPr>
                    </a:p>
                  </a:txBody>
                  <a:tcPr marL="68575" marR="68575" marT="0" marB="0">
                    <a:noFill/>
                  </a:tcPr>
                </a:tc>
                <a:tc>
                  <a:txBody>
                    <a:bodyPr/>
                    <a:lstStyle/>
                    <a:p>
                      <a:pPr marL="0" marR="0" lvl="0" indent="0" algn="just" rtl="0">
                        <a:lnSpc>
                          <a:spcPct val="115000"/>
                        </a:lnSpc>
                        <a:spcBef>
                          <a:spcPts val="0"/>
                        </a:spcBef>
                        <a:spcAft>
                          <a:spcPts val="0"/>
                        </a:spcAft>
                        <a:buClr>
                          <a:schemeClr val="dk1"/>
                        </a:buClr>
                        <a:buSzPts val="2000"/>
                        <a:buFont typeface="Calibri"/>
                        <a:buNone/>
                      </a:pPr>
                      <a:r>
                        <a:rPr lang="en-US" sz="2000"/>
                        <a:t>Benefits</a:t>
                      </a:r>
                      <a:endParaRPr sz="2000">
                        <a:solidFill>
                          <a:srgbClr val="0E2841"/>
                        </a:solidFill>
                        <a:latin typeface="Arial"/>
                        <a:ea typeface="Arial"/>
                        <a:cs typeface="Arial"/>
                        <a:sym typeface="Arial"/>
                      </a:endParaRPr>
                    </a:p>
                  </a:txBody>
                  <a:tcPr marL="68575" marR="68575" marT="0" marB="0">
                    <a:noFill/>
                  </a:tcPr>
                </a:tc>
                <a:extLst>
                  <a:ext uri="{0D108BD9-81ED-4DB2-BD59-A6C34878D82A}">
                    <a16:rowId xmlns:a16="http://schemas.microsoft.com/office/drawing/2014/main" val="10000"/>
                  </a:ext>
                </a:extLst>
              </a:tr>
              <a:tr h="254000">
                <a:tc>
                  <a:txBody>
                    <a:bodyPr/>
                    <a:lstStyle/>
                    <a:p>
                      <a:pPr marL="0" marR="0" lvl="0" indent="0" algn="just" rtl="0">
                        <a:lnSpc>
                          <a:spcPct val="115000"/>
                        </a:lnSpc>
                        <a:spcBef>
                          <a:spcPts val="0"/>
                        </a:spcBef>
                        <a:spcAft>
                          <a:spcPts val="0"/>
                        </a:spcAft>
                        <a:buClr>
                          <a:schemeClr val="dk1"/>
                        </a:buClr>
                        <a:buSzPts val="2000"/>
                        <a:buFont typeface="Calibri"/>
                        <a:buNone/>
                      </a:pPr>
                      <a:r>
                        <a:rPr lang="en-US" sz="2000"/>
                        <a:t>Manufacturers</a:t>
                      </a:r>
                      <a:endParaRPr sz="2000">
                        <a:solidFill>
                          <a:srgbClr val="0E2841"/>
                        </a:solidFill>
                        <a:latin typeface="Arial"/>
                        <a:ea typeface="Arial"/>
                        <a:cs typeface="Arial"/>
                        <a:sym typeface="Arial"/>
                      </a:endParaRPr>
                    </a:p>
                  </a:txBody>
                  <a:tcPr marL="68575" marR="68575" marT="0" marB="0">
                    <a:noFill/>
                  </a:tcPr>
                </a:tc>
                <a:tc>
                  <a:txBody>
                    <a:bodyPr/>
                    <a:lstStyle/>
                    <a:p>
                      <a:pPr marL="342900" marR="0" lvl="0" indent="-342900" algn="just" rtl="0">
                        <a:lnSpc>
                          <a:spcPct val="115000"/>
                        </a:lnSpc>
                        <a:spcBef>
                          <a:spcPts val="0"/>
                        </a:spcBef>
                        <a:spcAft>
                          <a:spcPts val="0"/>
                        </a:spcAft>
                        <a:buClr>
                          <a:schemeClr val="dk1"/>
                        </a:buClr>
                        <a:buSzPts val="2000"/>
                        <a:buFont typeface="Noto Sans Symbols"/>
                        <a:buChar char="∙"/>
                      </a:pPr>
                      <a:r>
                        <a:rPr lang="en-US" sz="2000"/>
                        <a:t>Compliance with regulatory requirements for special categories of products or services i.e. halal; the ability to fulfill clients’ or customers’ requirements for halal products or services;</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Customers’ confidence and trust in halal products and/or services provided;</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A marketing tool to attract customers and consumers towards their halal products and/or services;</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A tool that can facilitate trade within both the local and international market through recognition from implementation of a comprehensive halal assurance management system;</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Ability to build strong cooperation and instill ownership towards halal products or services amongst their premise workers; and</a:t>
                      </a:r>
                      <a:endParaRPr sz="2000"/>
                    </a:p>
                    <a:p>
                      <a:pPr marL="342900" marR="0" lvl="0" indent="-342900" algn="just" rtl="0">
                        <a:lnSpc>
                          <a:spcPct val="115000"/>
                        </a:lnSpc>
                        <a:spcBef>
                          <a:spcPts val="0"/>
                        </a:spcBef>
                        <a:spcAft>
                          <a:spcPts val="0"/>
                        </a:spcAft>
                        <a:buClr>
                          <a:schemeClr val="dk1"/>
                        </a:buClr>
                        <a:buSzPts val="2000"/>
                        <a:buFont typeface="Noto Sans Symbols"/>
                        <a:buChar char="∙"/>
                      </a:pPr>
                      <a:r>
                        <a:rPr lang="en-US" sz="2000"/>
                        <a:t>The knowledge that enables them to eliminate and minimize the potential of halal hazards in the halal products and/or services provided by the applicant.</a:t>
                      </a:r>
                      <a:endParaRPr sz="2000">
                        <a:solidFill>
                          <a:srgbClr val="0E2841"/>
                        </a:solidFill>
                        <a:latin typeface="Arial"/>
                        <a:ea typeface="Arial"/>
                        <a:cs typeface="Arial"/>
                        <a:sym typeface="Arial"/>
                      </a:endParaRPr>
                    </a:p>
                  </a:txBody>
                  <a:tcPr marL="68575" marR="68575" marT="0" marB="0">
                    <a:noFill/>
                  </a:tcPr>
                </a:tc>
                <a:extLst>
                  <a:ext uri="{0D108BD9-81ED-4DB2-BD59-A6C34878D82A}">
                    <a16:rowId xmlns:a16="http://schemas.microsoft.com/office/drawing/2014/main" val="10001"/>
                  </a:ext>
                </a:extLst>
              </a:tr>
            </a:tbl>
          </a:graphicData>
        </a:graphic>
      </p:graphicFrame>
      <p:sp>
        <p:nvSpPr>
          <p:cNvPr id="687" name="Google Shape;687;p3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688" name="Google Shape;688;p3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689" name="Google Shape;689;p3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34"/>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GROUP ACTIVITY 1</a:t>
            </a:r>
            <a:endParaRPr/>
          </a:p>
        </p:txBody>
      </p:sp>
      <p:sp>
        <p:nvSpPr>
          <p:cNvPr id="695" name="Google Shape;695;p34"/>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Activity:</a:t>
            </a:r>
            <a:r>
              <a:rPr lang="en-US"/>
              <a:t> </a:t>
            </a:r>
            <a:r>
              <a:rPr lang="en-US" i="1"/>
              <a:t>“Why HAS Matters in Organisation”</a:t>
            </a:r>
            <a:endParaRPr/>
          </a:p>
          <a:p>
            <a:pPr marL="0" lvl="0" indent="0" algn="l" rtl="0">
              <a:lnSpc>
                <a:spcPct val="90000"/>
              </a:lnSpc>
              <a:spcBef>
                <a:spcPts val="1001"/>
              </a:spcBef>
              <a:spcAft>
                <a:spcPts val="0"/>
              </a:spcAft>
              <a:buClr>
                <a:schemeClr val="dk1"/>
              </a:buClr>
              <a:buSzPts val="2800"/>
              <a:buNone/>
            </a:pPr>
            <a:endParaRPr i="1"/>
          </a:p>
          <a:p>
            <a:pPr marL="514350" lvl="0" indent="-514350" algn="l" rtl="0">
              <a:lnSpc>
                <a:spcPct val="90000"/>
              </a:lnSpc>
              <a:spcBef>
                <a:spcPts val="1001"/>
              </a:spcBef>
              <a:spcAft>
                <a:spcPts val="0"/>
              </a:spcAft>
              <a:buClr>
                <a:schemeClr val="dk1"/>
              </a:buClr>
              <a:buSzPts val="2800"/>
              <a:buFont typeface="Calibri"/>
              <a:buAutoNum type="arabicPeriod"/>
            </a:pPr>
            <a:r>
              <a:rPr lang="en-US"/>
              <a:t>Divide participants into small groups (4–5 pax).</a:t>
            </a:r>
            <a:endParaRPr/>
          </a:p>
          <a:p>
            <a:pPr marL="514350" lvl="0" indent="-514350" algn="l" rtl="0">
              <a:lnSpc>
                <a:spcPct val="90000"/>
              </a:lnSpc>
              <a:spcBef>
                <a:spcPts val="1001"/>
              </a:spcBef>
              <a:spcAft>
                <a:spcPts val="0"/>
              </a:spcAft>
              <a:buClr>
                <a:schemeClr val="dk1"/>
              </a:buClr>
              <a:buSzPts val="2800"/>
              <a:buFont typeface="Calibri"/>
              <a:buAutoNum type="arabicPeriod"/>
            </a:pPr>
            <a:r>
              <a:rPr lang="en-US"/>
              <a:t>Ask each group to discuss:</a:t>
            </a:r>
            <a:endParaRPr/>
          </a:p>
          <a:p>
            <a:pPr marL="685809" lvl="1" indent="-228604" algn="l" rtl="0">
              <a:lnSpc>
                <a:spcPct val="90000"/>
              </a:lnSpc>
              <a:spcBef>
                <a:spcPts val="500"/>
              </a:spcBef>
              <a:spcAft>
                <a:spcPts val="0"/>
              </a:spcAft>
              <a:buClr>
                <a:schemeClr val="dk1"/>
              </a:buClr>
              <a:buSzPts val="2400"/>
              <a:buChar char="•"/>
            </a:pPr>
            <a:r>
              <a:rPr lang="en-US"/>
              <a:t>Why does HAS exist beyond certification?</a:t>
            </a:r>
            <a:endParaRPr/>
          </a:p>
          <a:p>
            <a:pPr marL="685809" lvl="1" indent="-228604" algn="l" rtl="0">
              <a:lnSpc>
                <a:spcPct val="90000"/>
              </a:lnSpc>
              <a:spcBef>
                <a:spcPts val="500"/>
              </a:spcBef>
              <a:spcAft>
                <a:spcPts val="0"/>
              </a:spcAft>
              <a:buClr>
                <a:schemeClr val="dk1"/>
              </a:buClr>
              <a:buSzPts val="2400"/>
              <a:buChar char="•"/>
            </a:pPr>
            <a:r>
              <a:rPr lang="en-US"/>
              <a:t>What could happen if HAS is treated as “documentation only”?</a:t>
            </a:r>
            <a:endParaRPr/>
          </a:p>
          <a:p>
            <a:pPr marL="685809" lvl="1" indent="-76204" algn="l" rtl="0">
              <a:lnSpc>
                <a:spcPct val="90000"/>
              </a:lnSpc>
              <a:spcBef>
                <a:spcPts val="500"/>
              </a:spcBef>
              <a:spcAft>
                <a:spcPts val="0"/>
              </a:spcAft>
              <a:buClr>
                <a:schemeClr val="dk1"/>
              </a:buClr>
              <a:buSzPts val="2400"/>
              <a:buNone/>
            </a:pPr>
            <a:endParaRPr/>
          </a:p>
          <a:p>
            <a:pPr marL="0" lvl="0" indent="0" algn="l" rtl="0">
              <a:lnSpc>
                <a:spcPct val="90000"/>
              </a:lnSpc>
              <a:spcBef>
                <a:spcPts val="1001"/>
              </a:spcBef>
              <a:spcAft>
                <a:spcPts val="0"/>
              </a:spcAft>
              <a:buClr>
                <a:schemeClr val="dk1"/>
              </a:buClr>
              <a:buSzPts val="2800"/>
              <a:buNone/>
            </a:pPr>
            <a:r>
              <a:rPr lang="en-US" b="1"/>
              <a:t>Output</a:t>
            </a:r>
            <a:endParaRPr/>
          </a:p>
          <a:p>
            <a:pPr marL="228604" lvl="0" indent="-228604" algn="l" rtl="0">
              <a:lnSpc>
                <a:spcPct val="90000"/>
              </a:lnSpc>
              <a:spcBef>
                <a:spcPts val="1001"/>
              </a:spcBef>
              <a:spcAft>
                <a:spcPts val="0"/>
              </a:spcAft>
              <a:buClr>
                <a:schemeClr val="dk1"/>
              </a:buClr>
              <a:buSzPts val="2800"/>
              <a:buChar char="•"/>
            </a:pPr>
            <a:r>
              <a:rPr lang="en-US"/>
              <a:t>1 spokesperson shares </a:t>
            </a:r>
            <a:r>
              <a:rPr lang="en-US" b="1"/>
              <a:t>one real risk</a:t>
            </a:r>
            <a:r>
              <a:rPr lang="en-US"/>
              <a:t> and </a:t>
            </a:r>
            <a:r>
              <a:rPr lang="en-US" b="1"/>
              <a:t>one benefit</a:t>
            </a:r>
            <a:r>
              <a:rPr lang="en-US"/>
              <a:t> of HAS.</a:t>
            </a:r>
            <a:endParaRPr/>
          </a:p>
          <a:p>
            <a:pPr marL="0" lvl="0" indent="0" algn="l" rtl="0">
              <a:lnSpc>
                <a:spcPct val="90000"/>
              </a:lnSpc>
              <a:spcBef>
                <a:spcPts val="1001"/>
              </a:spcBef>
              <a:spcAft>
                <a:spcPts val="0"/>
              </a:spcAft>
              <a:buClr>
                <a:schemeClr val="dk1"/>
              </a:buClr>
              <a:buSzPts val="2800"/>
              <a:buNone/>
            </a:pPr>
            <a:endParaRPr/>
          </a:p>
        </p:txBody>
      </p:sp>
      <p:sp>
        <p:nvSpPr>
          <p:cNvPr id="696" name="Google Shape;696;p3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697" name="Google Shape;697;p3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698" name="Google Shape;698;p3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35"/>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SOURCES OF MHMS REFERENCES - MS</a:t>
            </a:r>
            <a:endParaRPr sz="4000"/>
          </a:p>
        </p:txBody>
      </p:sp>
      <p:sp>
        <p:nvSpPr>
          <p:cNvPr id="704" name="Google Shape;704;p35"/>
          <p:cNvSpPr txBox="1">
            <a:spLocks noGrp="1"/>
          </p:cNvSpPr>
          <p:nvPr>
            <p:ph type="body" idx="1"/>
          </p:nvPr>
        </p:nvSpPr>
        <p:spPr>
          <a:xfrm>
            <a:off x="838202" y="1267281"/>
            <a:ext cx="6275117" cy="4409124"/>
          </a:xfrm>
          <a:prstGeom prst="rect">
            <a:avLst/>
          </a:prstGeom>
          <a:noFill/>
          <a:ln>
            <a:noFill/>
          </a:ln>
        </p:spPr>
        <p:txBody>
          <a:bodyPr spcFirstLastPara="1" wrap="square" lIns="91425" tIns="45700" rIns="91425" bIns="45700" anchor="t" anchorCtr="0">
            <a:normAutofit/>
          </a:bodyPr>
          <a:lstStyle/>
          <a:p>
            <a:pPr marL="0" marR="0" lvl="0" indent="0" algn="just" rtl="0">
              <a:lnSpc>
                <a:spcPct val="100000"/>
              </a:lnSpc>
              <a:spcBef>
                <a:spcPts val="0"/>
              </a:spcBef>
              <a:spcAft>
                <a:spcPts val="0"/>
              </a:spcAft>
              <a:buClr>
                <a:srgbClr val="000000"/>
              </a:buClr>
              <a:buSzPts val="2400"/>
              <a:buNone/>
            </a:pPr>
            <a:r>
              <a:rPr lang="en-US" sz="2400" b="1">
                <a:solidFill>
                  <a:srgbClr val="000000"/>
                </a:solidFill>
              </a:rPr>
              <a:t>MS 1500:2019 Halal Food – General Requirements</a:t>
            </a:r>
            <a:r>
              <a:rPr lang="en-US" sz="2400">
                <a:solidFill>
                  <a:srgbClr val="000000"/>
                </a:solidFill>
              </a:rPr>
              <a:t>  </a:t>
            </a:r>
            <a:r>
              <a:rPr lang="en-US" sz="2400" b="1">
                <a:solidFill>
                  <a:srgbClr val="000000"/>
                </a:solidFill>
              </a:rPr>
              <a:t>(Third revision)</a:t>
            </a:r>
            <a:r>
              <a:rPr lang="en-US" sz="2400">
                <a:solidFill>
                  <a:srgbClr val="000000"/>
                </a:solidFill>
              </a:rPr>
              <a:t> </a:t>
            </a:r>
            <a:endParaRPr/>
          </a:p>
          <a:p>
            <a:pPr marL="0" marR="0" lvl="0" indent="0" algn="just" rtl="0">
              <a:lnSpc>
                <a:spcPct val="150000"/>
              </a:lnSpc>
              <a:spcBef>
                <a:spcPts val="0"/>
              </a:spcBef>
              <a:spcAft>
                <a:spcPts val="0"/>
              </a:spcAft>
              <a:buClr>
                <a:schemeClr val="dk1"/>
              </a:buClr>
              <a:buSzPts val="1200"/>
              <a:buNone/>
            </a:pPr>
            <a:endParaRPr sz="1200">
              <a:solidFill>
                <a:srgbClr val="000000"/>
              </a:solidFill>
            </a:endParaRPr>
          </a:p>
          <a:p>
            <a:pPr marL="285750" lvl="0" indent="-285750" algn="just" rtl="0">
              <a:lnSpc>
                <a:spcPct val="150000"/>
              </a:lnSpc>
              <a:spcBef>
                <a:spcPts val="0"/>
              </a:spcBef>
              <a:spcAft>
                <a:spcPts val="0"/>
              </a:spcAft>
              <a:buClr>
                <a:srgbClr val="000000"/>
              </a:buClr>
              <a:buSzPts val="2000"/>
              <a:buChar char="•"/>
            </a:pPr>
            <a:r>
              <a:rPr lang="en-US" sz="2000">
                <a:solidFill>
                  <a:srgbClr val="000000"/>
                </a:solidFill>
              </a:rPr>
              <a:t>Provides practical guidance for the food industry on the preparation and handling of Halal food (including nutrient supplements) and serves as the basic requirement for Halal food products and food trade or business in Malaysia. </a:t>
            </a:r>
            <a:endParaRPr sz="2000"/>
          </a:p>
          <a:p>
            <a:pPr marL="228604" lvl="0" indent="-50803" algn="l" rtl="0">
              <a:lnSpc>
                <a:spcPct val="90000"/>
              </a:lnSpc>
              <a:spcBef>
                <a:spcPts val="1001"/>
              </a:spcBef>
              <a:spcAft>
                <a:spcPts val="0"/>
              </a:spcAft>
              <a:buClr>
                <a:schemeClr val="dk1"/>
              </a:buClr>
              <a:buSzPts val="2800"/>
              <a:buNone/>
            </a:pPr>
            <a:endParaRPr/>
          </a:p>
        </p:txBody>
      </p:sp>
      <p:sp>
        <p:nvSpPr>
          <p:cNvPr id="705" name="Google Shape;705;p3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06" name="Google Shape;706;p3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07" name="Google Shape;707;p3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pic>
        <p:nvPicPr>
          <p:cNvPr id="708" name="Google Shape;708;p35"/>
          <p:cNvPicPr preferRelativeResize="0"/>
          <p:nvPr/>
        </p:nvPicPr>
        <p:blipFill rotWithShape="1">
          <a:blip r:embed="rId3">
            <a:alphaModFix/>
          </a:blip>
          <a:srcRect/>
          <a:stretch/>
        </p:blipFill>
        <p:spPr>
          <a:xfrm>
            <a:off x="7718262" y="1285168"/>
            <a:ext cx="3753302" cy="4845501"/>
          </a:xfrm>
          <a:prstGeom prst="rect">
            <a:avLst/>
          </a:prstGeom>
          <a:noFill/>
          <a:ln w="9525" cap="flat" cmpd="sng">
            <a:solidFill>
              <a:schemeClr val="accent1"/>
            </a:solidFill>
            <a:prstDash val="solid"/>
            <a:round/>
            <a:headEnd type="none" w="sm" len="sm"/>
            <a:tailEnd type="none" w="sm" len="sm"/>
          </a:ln>
        </p:spPr>
      </p:pic>
      <p:sp>
        <p:nvSpPr>
          <p:cNvPr id="709" name="Google Shape;709;p35"/>
          <p:cNvSpPr/>
          <p:nvPr/>
        </p:nvSpPr>
        <p:spPr>
          <a:xfrm>
            <a:off x="956745" y="5260058"/>
            <a:ext cx="6156574" cy="661321"/>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Food &amp; Beverages – Food Premise – Slaughterhouse - OEM</a:t>
            </a:r>
            <a:endParaRPr sz="1800" b="1">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36"/>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SOURCES OF HAS REFERENCES - MS</a:t>
            </a:r>
            <a:endParaRPr sz="4000"/>
          </a:p>
        </p:txBody>
      </p:sp>
      <p:sp>
        <p:nvSpPr>
          <p:cNvPr id="715" name="Google Shape;715;p36"/>
          <p:cNvSpPr txBox="1">
            <a:spLocks noGrp="1"/>
          </p:cNvSpPr>
          <p:nvPr>
            <p:ph type="body" idx="1"/>
          </p:nvPr>
        </p:nvSpPr>
        <p:spPr>
          <a:xfrm>
            <a:off x="5142016" y="1267281"/>
            <a:ext cx="6211786"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MS 2738:2023 Halal consumable goods – General requirements</a:t>
            </a:r>
            <a:endParaRPr/>
          </a:p>
          <a:p>
            <a:pPr marL="0" lvl="0" indent="0" algn="l" rtl="0">
              <a:lnSpc>
                <a:spcPct val="90000"/>
              </a:lnSpc>
              <a:spcBef>
                <a:spcPts val="1001"/>
              </a:spcBef>
              <a:spcAft>
                <a:spcPts val="0"/>
              </a:spcAft>
              <a:buClr>
                <a:schemeClr val="dk1"/>
              </a:buClr>
              <a:buSzPts val="1600"/>
              <a:buNone/>
            </a:pPr>
            <a:endParaRPr sz="1600" b="1"/>
          </a:p>
          <a:p>
            <a:pPr marL="228604" lvl="0" indent="-228604" algn="just" rtl="0">
              <a:lnSpc>
                <a:spcPct val="90000"/>
              </a:lnSpc>
              <a:spcBef>
                <a:spcPts val="1001"/>
              </a:spcBef>
              <a:spcAft>
                <a:spcPts val="0"/>
              </a:spcAft>
              <a:buClr>
                <a:schemeClr val="dk1"/>
              </a:buClr>
              <a:buSzPts val="2000"/>
              <a:buChar char="•"/>
            </a:pPr>
            <a:r>
              <a:rPr lang="en-US" sz="2000"/>
              <a:t>This Malaysian Standard specifies general requirements in the manufacturing and handling of halal consumable goods</a:t>
            </a:r>
            <a:endParaRPr sz="2000"/>
          </a:p>
        </p:txBody>
      </p:sp>
      <p:sp>
        <p:nvSpPr>
          <p:cNvPr id="716" name="Google Shape;716;p3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17" name="Google Shape;717;p3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18" name="Google Shape;718;p3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pic>
        <p:nvPicPr>
          <p:cNvPr id="719" name="Google Shape;719;p36"/>
          <p:cNvPicPr preferRelativeResize="0"/>
          <p:nvPr/>
        </p:nvPicPr>
        <p:blipFill rotWithShape="1">
          <a:blip r:embed="rId3">
            <a:alphaModFix/>
          </a:blip>
          <a:srcRect/>
          <a:stretch/>
        </p:blipFill>
        <p:spPr>
          <a:xfrm>
            <a:off x="838198" y="1267281"/>
            <a:ext cx="3710051" cy="4894937"/>
          </a:xfrm>
          <a:prstGeom prst="rect">
            <a:avLst/>
          </a:prstGeom>
          <a:noFill/>
          <a:ln w="9525" cap="flat" cmpd="sng">
            <a:solidFill>
              <a:schemeClr val="dk1"/>
            </a:solidFill>
            <a:prstDash val="solid"/>
            <a:round/>
            <a:headEnd type="none" w="sm" len="sm"/>
            <a:tailEnd type="none" w="sm" len="sm"/>
          </a:ln>
        </p:spPr>
      </p:pic>
      <p:sp>
        <p:nvSpPr>
          <p:cNvPr id="720" name="Google Shape;720;p36"/>
          <p:cNvSpPr/>
          <p:nvPr/>
        </p:nvSpPr>
        <p:spPr>
          <a:xfrm>
            <a:off x="5142016" y="5684744"/>
            <a:ext cx="6643253" cy="477474"/>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Consumer Goods</a:t>
            </a:r>
            <a:endParaRPr sz="1800" b="1">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7"/>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SOURCES OF HAS REFERENCES - MS</a:t>
            </a:r>
            <a:endParaRPr sz="4000"/>
          </a:p>
        </p:txBody>
      </p:sp>
      <p:sp>
        <p:nvSpPr>
          <p:cNvPr id="726" name="Google Shape;726;p37"/>
          <p:cNvSpPr txBox="1">
            <a:spLocks noGrp="1"/>
          </p:cNvSpPr>
          <p:nvPr>
            <p:ph type="body" idx="1"/>
          </p:nvPr>
        </p:nvSpPr>
        <p:spPr>
          <a:xfrm>
            <a:off x="838202" y="1267281"/>
            <a:ext cx="6643253" cy="4909682"/>
          </a:xfrm>
          <a:prstGeom prst="rect">
            <a:avLst/>
          </a:prstGeom>
          <a:noFill/>
          <a:ln>
            <a:noFill/>
          </a:ln>
        </p:spPr>
        <p:txBody>
          <a:bodyPr spcFirstLastPara="1" wrap="square" lIns="91425" tIns="45700" rIns="91425" bIns="45700" anchor="t" anchorCtr="0">
            <a:normAutofit fontScale="92500"/>
          </a:bodyPr>
          <a:lstStyle/>
          <a:p>
            <a:pPr marL="228604" lvl="0" indent="-228604" algn="l" rtl="0">
              <a:lnSpc>
                <a:spcPct val="90000"/>
              </a:lnSpc>
              <a:spcBef>
                <a:spcPts val="0"/>
              </a:spcBef>
              <a:spcAft>
                <a:spcPts val="0"/>
              </a:spcAft>
              <a:buClr>
                <a:srgbClr val="000000"/>
              </a:buClr>
              <a:buSzPct val="100000"/>
              <a:buChar char="•"/>
            </a:pPr>
            <a:r>
              <a:rPr lang="en-US" b="1">
                <a:solidFill>
                  <a:srgbClr val="000000"/>
                </a:solidFill>
              </a:rPr>
              <a:t>MS 2400-1:2019 Halal supply chain management system – Part 1: Transportation – General requirements (First revision) </a:t>
            </a:r>
            <a:endParaRPr/>
          </a:p>
          <a:p>
            <a:pPr marL="228604" lvl="0" indent="-228604" algn="just" rtl="0">
              <a:lnSpc>
                <a:spcPct val="90000"/>
              </a:lnSpc>
              <a:spcBef>
                <a:spcPts val="1001"/>
              </a:spcBef>
              <a:spcAft>
                <a:spcPts val="0"/>
              </a:spcAft>
              <a:buClr>
                <a:schemeClr val="dk1"/>
              </a:buClr>
              <a:buSzPct val="100000"/>
              <a:buChar char="•"/>
            </a:pPr>
            <a:r>
              <a:rPr lang="en-US" sz="2200"/>
              <a:t>prescribes the management system requirements for the assurance of the Halal integrity of goods and/or cargo being handled through various modes of transportation. </a:t>
            </a:r>
            <a:endParaRPr/>
          </a:p>
          <a:p>
            <a:pPr marL="228604" lvl="0" indent="-228604" algn="just" rtl="0">
              <a:lnSpc>
                <a:spcPct val="90000"/>
              </a:lnSpc>
              <a:spcBef>
                <a:spcPts val="1001"/>
              </a:spcBef>
              <a:spcAft>
                <a:spcPts val="0"/>
              </a:spcAft>
              <a:buClr>
                <a:schemeClr val="dk1"/>
              </a:buClr>
              <a:buSzPct val="100000"/>
              <a:buChar char="•"/>
            </a:pPr>
            <a:r>
              <a:rPr lang="en-US" sz="2200"/>
              <a:t>This standard consists of requirements that are industry specific and is intended to apply to such organizations, regardless of the type and size of the goods and/or cargo being transported. </a:t>
            </a:r>
            <a:endParaRPr/>
          </a:p>
          <a:p>
            <a:pPr marL="228604" lvl="0" indent="-228604" algn="just" rtl="0">
              <a:lnSpc>
                <a:spcPct val="90000"/>
              </a:lnSpc>
              <a:spcBef>
                <a:spcPts val="1001"/>
              </a:spcBef>
              <a:spcAft>
                <a:spcPts val="0"/>
              </a:spcAft>
              <a:buClr>
                <a:schemeClr val="dk1"/>
              </a:buClr>
              <a:buSzPct val="100000"/>
              <a:buChar char="•"/>
            </a:pPr>
            <a:r>
              <a:rPr lang="en-US" sz="2200"/>
              <a:t>It prescribes the framework for an organization to establish a management system based on the Halal requirements in meeting customer and applicable regulatory requirements</a:t>
            </a:r>
            <a:endParaRPr sz="2200"/>
          </a:p>
          <a:p>
            <a:pPr marL="228604" lvl="0" indent="-64139" algn="l" rtl="0">
              <a:lnSpc>
                <a:spcPct val="90000"/>
              </a:lnSpc>
              <a:spcBef>
                <a:spcPts val="1001"/>
              </a:spcBef>
              <a:spcAft>
                <a:spcPts val="0"/>
              </a:spcAft>
              <a:buClr>
                <a:schemeClr val="dk1"/>
              </a:buClr>
              <a:buSzPct val="100000"/>
              <a:buNone/>
            </a:pPr>
            <a:endParaRPr/>
          </a:p>
        </p:txBody>
      </p:sp>
      <p:sp>
        <p:nvSpPr>
          <p:cNvPr id="727" name="Google Shape;727;p3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28" name="Google Shape;728;p3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29" name="Google Shape;729;p3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pic>
        <p:nvPicPr>
          <p:cNvPr id="730" name="Google Shape;730;p37"/>
          <p:cNvPicPr preferRelativeResize="0"/>
          <p:nvPr/>
        </p:nvPicPr>
        <p:blipFill rotWithShape="1">
          <a:blip r:embed="rId3">
            <a:alphaModFix/>
          </a:blip>
          <a:srcRect/>
          <a:stretch/>
        </p:blipFill>
        <p:spPr>
          <a:xfrm>
            <a:off x="7790213" y="1267281"/>
            <a:ext cx="3563585" cy="4951508"/>
          </a:xfrm>
          <a:prstGeom prst="rect">
            <a:avLst/>
          </a:prstGeom>
          <a:noFill/>
          <a:ln w="28575" cap="flat" cmpd="sng">
            <a:solidFill>
              <a:schemeClr val="dk1"/>
            </a:solidFill>
            <a:prstDash val="solid"/>
            <a:round/>
            <a:headEnd type="none" w="sm" len="sm"/>
            <a:tailEnd type="none" w="sm" len="sm"/>
          </a:ln>
        </p:spPr>
      </p:pic>
      <p:sp>
        <p:nvSpPr>
          <p:cNvPr id="731" name="Google Shape;731;p37"/>
          <p:cNvSpPr/>
          <p:nvPr/>
        </p:nvSpPr>
        <p:spPr>
          <a:xfrm>
            <a:off x="838199" y="5699489"/>
            <a:ext cx="6643253" cy="477474"/>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Halal Logistics - Transportation</a:t>
            </a:r>
            <a:endParaRPr sz="1800" b="1">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38"/>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SOURCES OF HAS REFERENCES - MS</a:t>
            </a:r>
            <a:endParaRPr sz="4000"/>
          </a:p>
        </p:txBody>
      </p:sp>
      <p:sp>
        <p:nvSpPr>
          <p:cNvPr id="737" name="Google Shape;737;p38"/>
          <p:cNvSpPr txBox="1">
            <a:spLocks noGrp="1"/>
          </p:cNvSpPr>
          <p:nvPr>
            <p:ph type="body" idx="1"/>
          </p:nvPr>
        </p:nvSpPr>
        <p:spPr>
          <a:xfrm>
            <a:off x="4275118" y="1267281"/>
            <a:ext cx="7078684" cy="490968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b="1"/>
              <a:t>MS 2400-2:2019 Halal supply chain management system - Part 2: Warehousing - General requirements (First revision) </a:t>
            </a:r>
            <a:endParaRPr/>
          </a:p>
          <a:p>
            <a:pPr marL="228604" lvl="0" indent="-50803" algn="just" rtl="0">
              <a:lnSpc>
                <a:spcPct val="90000"/>
              </a:lnSpc>
              <a:spcBef>
                <a:spcPts val="1001"/>
              </a:spcBef>
              <a:spcAft>
                <a:spcPts val="0"/>
              </a:spcAft>
              <a:buClr>
                <a:schemeClr val="dk1"/>
              </a:buClr>
              <a:buSzPts val="2800"/>
              <a:buNone/>
            </a:pPr>
            <a:endParaRPr b="1"/>
          </a:p>
          <a:p>
            <a:pPr marL="228604" lvl="0" indent="-228604" algn="just" rtl="0">
              <a:lnSpc>
                <a:spcPct val="90000"/>
              </a:lnSpc>
              <a:spcBef>
                <a:spcPts val="1001"/>
              </a:spcBef>
              <a:spcAft>
                <a:spcPts val="0"/>
              </a:spcAft>
              <a:buClr>
                <a:schemeClr val="dk1"/>
              </a:buClr>
              <a:buSzPts val="2000"/>
              <a:buChar char="•"/>
            </a:pPr>
            <a:r>
              <a:rPr lang="en-US" sz="2000"/>
              <a:t>prescribes the management system requirements for the assurance of the Halal integrity of products, goods, and/or cargo during warehousing and related activities throughout the process from receiving to delivery. </a:t>
            </a:r>
            <a:endParaRPr/>
          </a:p>
          <a:p>
            <a:pPr marL="228604" lvl="0" indent="-228604" algn="just" rtl="0">
              <a:lnSpc>
                <a:spcPct val="90000"/>
              </a:lnSpc>
              <a:spcBef>
                <a:spcPts val="1001"/>
              </a:spcBef>
              <a:spcAft>
                <a:spcPts val="0"/>
              </a:spcAft>
              <a:buClr>
                <a:schemeClr val="dk1"/>
              </a:buClr>
              <a:buSzPts val="2000"/>
              <a:buChar char="•"/>
            </a:pPr>
            <a:r>
              <a:rPr lang="en-US" sz="2000"/>
              <a:t>This standard consists of requirements that are industry specific and is intended to apply to such organizations, regardless of the type and size of the goods and/or cargo being handled and managed</a:t>
            </a:r>
            <a:endParaRPr/>
          </a:p>
          <a:p>
            <a:pPr marL="228604" lvl="0" indent="-50803" algn="l" rtl="0">
              <a:lnSpc>
                <a:spcPct val="90000"/>
              </a:lnSpc>
              <a:spcBef>
                <a:spcPts val="1001"/>
              </a:spcBef>
              <a:spcAft>
                <a:spcPts val="0"/>
              </a:spcAft>
              <a:buClr>
                <a:schemeClr val="dk1"/>
              </a:buClr>
              <a:buSzPts val="2800"/>
              <a:buNone/>
            </a:pPr>
            <a:endParaRPr/>
          </a:p>
        </p:txBody>
      </p:sp>
      <p:sp>
        <p:nvSpPr>
          <p:cNvPr id="738" name="Google Shape;738;p3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39" name="Google Shape;739;p3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40" name="Google Shape;740;p3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pic>
        <p:nvPicPr>
          <p:cNvPr id="741" name="Google Shape;741;p38"/>
          <p:cNvPicPr preferRelativeResize="0"/>
          <p:nvPr/>
        </p:nvPicPr>
        <p:blipFill rotWithShape="1">
          <a:blip r:embed="rId3">
            <a:alphaModFix/>
          </a:blip>
          <a:srcRect/>
          <a:stretch/>
        </p:blipFill>
        <p:spPr>
          <a:xfrm>
            <a:off x="162000" y="1242256"/>
            <a:ext cx="3419401" cy="4869227"/>
          </a:xfrm>
          <a:prstGeom prst="rect">
            <a:avLst/>
          </a:prstGeom>
          <a:noFill/>
          <a:ln w="28575" cap="flat" cmpd="sng">
            <a:solidFill>
              <a:schemeClr val="dk1"/>
            </a:solidFill>
            <a:prstDash val="solid"/>
            <a:round/>
            <a:headEnd type="none" w="sm" len="sm"/>
            <a:tailEnd type="none" w="sm" len="sm"/>
          </a:ln>
        </p:spPr>
      </p:pic>
      <p:sp>
        <p:nvSpPr>
          <p:cNvPr id="742" name="Google Shape;742;p38"/>
          <p:cNvSpPr/>
          <p:nvPr/>
        </p:nvSpPr>
        <p:spPr>
          <a:xfrm>
            <a:off x="4275118" y="5699489"/>
            <a:ext cx="7180282" cy="477474"/>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Halal Logistics - Warehousing</a:t>
            </a:r>
            <a:endParaRPr sz="1800" b="1">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39"/>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SOURCES OF HAS REFERENCES – MHMS</a:t>
            </a:r>
            <a:endParaRPr sz="4000"/>
          </a:p>
        </p:txBody>
      </p:sp>
      <p:sp>
        <p:nvSpPr>
          <p:cNvPr id="748" name="Google Shape;748;p39"/>
          <p:cNvSpPr txBox="1">
            <a:spLocks noGrp="1"/>
          </p:cNvSpPr>
          <p:nvPr>
            <p:ph type="body" idx="1"/>
          </p:nvPr>
        </p:nvSpPr>
        <p:spPr>
          <a:xfrm>
            <a:off x="838202" y="1267281"/>
            <a:ext cx="6643253" cy="4909682"/>
          </a:xfrm>
          <a:prstGeom prst="rect">
            <a:avLst/>
          </a:prstGeom>
          <a:noFill/>
          <a:ln>
            <a:noFill/>
          </a:ln>
        </p:spPr>
        <p:txBody>
          <a:bodyPr spcFirstLastPara="1" wrap="square" lIns="91425" tIns="45700" rIns="91425" bIns="45700" anchor="t" anchorCtr="0">
            <a:normAutofit fontScale="85000" lnSpcReduction="10000"/>
          </a:bodyPr>
          <a:lstStyle/>
          <a:p>
            <a:pPr marL="228604" lvl="0" indent="-228604" algn="just" rtl="0">
              <a:lnSpc>
                <a:spcPct val="90000"/>
              </a:lnSpc>
              <a:spcBef>
                <a:spcPts val="0"/>
              </a:spcBef>
              <a:spcAft>
                <a:spcPts val="0"/>
              </a:spcAft>
              <a:buClr>
                <a:schemeClr val="dk1"/>
              </a:buClr>
              <a:buSzPct val="100000"/>
              <a:buChar char="•"/>
            </a:pPr>
            <a:r>
              <a:rPr lang="en-US"/>
              <a:t>The </a:t>
            </a:r>
            <a:r>
              <a:rPr lang="en-US" b="1"/>
              <a:t>Malaysian Halal Management System (MHMS)</a:t>
            </a:r>
            <a:r>
              <a:rPr lang="en-US"/>
              <a:t>, hereinafter referred to as MHMS 2020, was introduced to replace the </a:t>
            </a:r>
            <a:r>
              <a:rPr lang="en-US" i="1"/>
              <a:t>Guidelines for Halal Assurance Management System of Malaysia Halal Certification</a:t>
            </a:r>
            <a:r>
              <a:rPr lang="en-US"/>
              <a:t>. MHMS 2020 provides detailed guidance on the implementation of MHMS, which includes:</a:t>
            </a:r>
            <a:endParaRPr/>
          </a:p>
          <a:p>
            <a:pPr marL="228604" lvl="0" indent="-228604" algn="just" rtl="0">
              <a:lnSpc>
                <a:spcPct val="90000"/>
              </a:lnSpc>
              <a:spcBef>
                <a:spcPts val="1001"/>
              </a:spcBef>
              <a:spcAft>
                <a:spcPts val="0"/>
              </a:spcAft>
              <a:buClr>
                <a:schemeClr val="dk1"/>
              </a:buClr>
              <a:buSzPct val="100000"/>
              <a:buChar char="•"/>
            </a:pPr>
            <a:r>
              <a:rPr lang="en-US"/>
              <a:t>Internal Halal Control System (IHCS) for use by small and micro industries; and</a:t>
            </a:r>
            <a:endParaRPr/>
          </a:p>
          <a:p>
            <a:pPr marL="228604" lvl="0" indent="-228604" algn="just" rtl="0">
              <a:lnSpc>
                <a:spcPct val="90000"/>
              </a:lnSpc>
              <a:spcBef>
                <a:spcPts val="1001"/>
              </a:spcBef>
              <a:spcAft>
                <a:spcPts val="0"/>
              </a:spcAft>
              <a:buClr>
                <a:schemeClr val="dk1"/>
              </a:buClr>
              <a:buSzPct val="100000"/>
              <a:buChar char="•"/>
            </a:pPr>
            <a:r>
              <a:rPr lang="en-US"/>
              <a:t>Halal Assurance System (HAS) for use by medium and large industries.</a:t>
            </a:r>
            <a:endParaRPr/>
          </a:p>
          <a:p>
            <a:pPr marL="228604" lvl="0" indent="-228604" algn="just" rtl="0">
              <a:lnSpc>
                <a:spcPct val="90000"/>
              </a:lnSpc>
              <a:spcBef>
                <a:spcPts val="1001"/>
              </a:spcBef>
              <a:spcAft>
                <a:spcPts val="0"/>
              </a:spcAft>
              <a:buClr>
                <a:schemeClr val="dk1"/>
              </a:buClr>
              <a:buSzPct val="100000"/>
              <a:buChar char="•"/>
            </a:pPr>
            <a:r>
              <a:rPr lang="en-US"/>
              <a:t>The implementation of MHMS places responsibility on the company and/or applicant to ensure that all requirements of the Malaysian Halal Certification are complied with at all times.</a:t>
            </a:r>
            <a:endParaRPr/>
          </a:p>
        </p:txBody>
      </p:sp>
      <p:sp>
        <p:nvSpPr>
          <p:cNvPr id="749" name="Google Shape;749;p3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50" name="Google Shape;750;p3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51" name="Google Shape;751;p3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pic>
        <p:nvPicPr>
          <p:cNvPr id="752" name="Google Shape;752;p39"/>
          <p:cNvPicPr preferRelativeResize="0"/>
          <p:nvPr/>
        </p:nvPicPr>
        <p:blipFill rotWithShape="1">
          <a:blip r:embed="rId3">
            <a:alphaModFix/>
          </a:blip>
          <a:srcRect/>
          <a:stretch/>
        </p:blipFill>
        <p:spPr>
          <a:xfrm>
            <a:off x="7958362" y="1360025"/>
            <a:ext cx="3395436" cy="4816938"/>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40"/>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HAS ESTABLISHMENT PROCESS</a:t>
            </a:r>
            <a:endParaRPr/>
          </a:p>
        </p:txBody>
      </p:sp>
      <p:grpSp>
        <p:nvGrpSpPr>
          <p:cNvPr id="758" name="Google Shape;758;p40"/>
          <p:cNvGrpSpPr/>
          <p:nvPr/>
        </p:nvGrpSpPr>
        <p:grpSpPr>
          <a:xfrm>
            <a:off x="843222" y="1266825"/>
            <a:ext cx="10505555" cy="4910138"/>
            <a:chOff x="5022" y="0"/>
            <a:chExt cx="10505555" cy="4910138"/>
          </a:xfrm>
        </p:grpSpPr>
        <p:sp>
          <p:nvSpPr>
            <p:cNvPr id="759" name="Google Shape;759;p40"/>
            <p:cNvSpPr/>
            <p:nvPr/>
          </p:nvSpPr>
          <p:spPr>
            <a:xfrm>
              <a:off x="788669" y="0"/>
              <a:ext cx="8938260" cy="4910138"/>
            </a:xfrm>
            <a:prstGeom prst="rightArrow">
              <a:avLst>
                <a:gd name="adj1" fmla="val 50000"/>
                <a:gd name="adj2" fmla="val 5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0"/>
            <p:cNvSpPr/>
            <p:nvPr/>
          </p:nvSpPr>
          <p:spPr>
            <a:xfrm>
              <a:off x="5022" y="1473041"/>
              <a:ext cx="3261896" cy="1964055"/>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0"/>
            <p:cNvSpPr txBox="1"/>
            <p:nvPr/>
          </p:nvSpPr>
          <p:spPr>
            <a:xfrm>
              <a:off x="100899" y="1568918"/>
              <a:ext cx="3070142" cy="1772301"/>
            </a:xfrm>
            <a:prstGeom prst="rect">
              <a:avLst/>
            </a:prstGeom>
            <a:noFill/>
            <a:ln>
              <a:noFill/>
            </a:ln>
          </p:spPr>
          <p:txBody>
            <a:bodyPr spcFirstLastPara="1" wrap="square" lIns="171450" tIns="171450" rIns="171450" bIns="171450" anchor="ctr" anchorCtr="0">
              <a:noAutofit/>
            </a:bodyPr>
            <a:lstStyle/>
            <a:p>
              <a:pPr marL="0" marR="0" lvl="0" indent="0" algn="ctr" rtl="0">
                <a:lnSpc>
                  <a:spcPct val="90000"/>
                </a:lnSpc>
                <a:spcBef>
                  <a:spcPts val="0"/>
                </a:spcBef>
                <a:spcAft>
                  <a:spcPts val="0"/>
                </a:spcAft>
                <a:buClr>
                  <a:schemeClr val="lt1"/>
                </a:buClr>
                <a:buSzPts val="4500"/>
                <a:buFont typeface="Calibri"/>
                <a:buNone/>
              </a:pPr>
              <a:r>
                <a:rPr lang="en-US" sz="4500">
                  <a:solidFill>
                    <a:schemeClr val="lt1"/>
                  </a:solidFill>
                  <a:latin typeface="Calibri"/>
                  <a:ea typeface="Calibri"/>
                  <a:cs typeface="Calibri"/>
                  <a:sym typeface="Calibri"/>
                </a:rPr>
                <a:t>Preparation</a:t>
              </a:r>
              <a:endParaRPr/>
            </a:p>
          </p:txBody>
        </p:sp>
        <p:sp>
          <p:nvSpPr>
            <p:cNvPr id="762" name="Google Shape;762;p40"/>
            <p:cNvSpPr/>
            <p:nvPr/>
          </p:nvSpPr>
          <p:spPr>
            <a:xfrm>
              <a:off x="3626851" y="1473041"/>
              <a:ext cx="3261896" cy="1964055"/>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0"/>
            <p:cNvSpPr txBox="1"/>
            <p:nvPr/>
          </p:nvSpPr>
          <p:spPr>
            <a:xfrm>
              <a:off x="3722728" y="1568918"/>
              <a:ext cx="3070142" cy="1772301"/>
            </a:xfrm>
            <a:prstGeom prst="rect">
              <a:avLst/>
            </a:prstGeom>
            <a:noFill/>
            <a:ln>
              <a:noFill/>
            </a:ln>
          </p:spPr>
          <p:txBody>
            <a:bodyPr spcFirstLastPara="1" wrap="square" lIns="171450" tIns="171450" rIns="171450" bIns="171450" anchor="ctr" anchorCtr="0">
              <a:noAutofit/>
            </a:bodyPr>
            <a:lstStyle/>
            <a:p>
              <a:pPr marL="0" marR="0" lvl="0" indent="0" algn="ctr" rtl="0">
                <a:lnSpc>
                  <a:spcPct val="90000"/>
                </a:lnSpc>
                <a:spcBef>
                  <a:spcPts val="0"/>
                </a:spcBef>
                <a:spcAft>
                  <a:spcPts val="0"/>
                </a:spcAft>
                <a:buClr>
                  <a:schemeClr val="lt1"/>
                </a:buClr>
                <a:buSzPts val="4500"/>
                <a:buFont typeface="Calibri"/>
                <a:buNone/>
              </a:pPr>
              <a:r>
                <a:rPr lang="en-US" sz="4500">
                  <a:solidFill>
                    <a:schemeClr val="lt1"/>
                  </a:solidFill>
                  <a:latin typeface="Calibri"/>
                  <a:ea typeface="Calibri"/>
                  <a:cs typeface="Calibri"/>
                  <a:sym typeface="Calibri"/>
                </a:rPr>
                <a:t>Verification </a:t>
              </a:r>
              <a:endParaRPr/>
            </a:p>
          </p:txBody>
        </p:sp>
        <p:sp>
          <p:nvSpPr>
            <p:cNvPr id="764" name="Google Shape;764;p40"/>
            <p:cNvSpPr/>
            <p:nvPr/>
          </p:nvSpPr>
          <p:spPr>
            <a:xfrm>
              <a:off x="7248681" y="1473041"/>
              <a:ext cx="3261896" cy="1964055"/>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0"/>
            <p:cNvSpPr txBox="1"/>
            <p:nvPr/>
          </p:nvSpPr>
          <p:spPr>
            <a:xfrm>
              <a:off x="7344558" y="1568918"/>
              <a:ext cx="3070142" cy="1772301"/>
            </a:xfrm>
            <a:prstGeom prst="rect">
              <a:avLst/>
            </a:prstGeom>
            <a:noFill/>
            <a:ln>
              <a:noFill/>
            </a:ln>
          </p:spPr>
          <p:txBody>
            <a:bodyPr spcFirstLastPara="1" wrap="square" lIns="171450" tIns="171450" rIns="171450" bIns="171450" anchor="ctr" anchorCtr="0">
              <a:noAutofit/>
            </a:bodyPr>
            <a:lstStyle/>
            <a:p>
              <a:pPr marL="0" marR="0" lvl="0" indent="0" algn="ctr" rtl="0">
                <a:lnSpc>
                  <a:spcPct val="90000"/>
                </a:lnSpc>
                <a:spcBef>
                  <a:spcPts val="0"/>
                </a:spcBef>
                <a:spcAft>
                  <a:spcPts val="0"/>
                </a:spcAft>
                <a:buClr>
                  <a:schemeClr val="lt1"/>
                </a:buClr>
                <a:buSzPts val="4500"/>
                <a:buFont typeface="Calibri"/>
                <a:buNone/>
              </a:pPr>
              <a:r>
                <a:rPr lang="en-US" sz="4500">
                  <a:solidFill>
                    <a:schemeClr val="lt1"/>
                  </a:solidFill>
                  <a:latin typeface="Calibri"/>
                  <a:ea typeface="Calibri"/>
                  <a:cs typeface="Calibri"/>
                  <a:sym typeface="Calibri"/>
                </a:rPr>
                <a:t>Approval </a:t>
              </a:r>
              <a:endParaRPr/>
            </a:p>
          </p:txBody>
        </p:sp>
      </p:grpSp>
      <p:sp>
        <p:nvSpPr>
          <p:cNvPr id="766" name="Google Shape;766;p4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67" name="Google Shape;767;p4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68" name="Google Shape;768;p4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41"/>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HAS ESTABLISHMENT PROCESS</a:t>
            </a:r>
            <a:endParaRPr/>
          </a:p>
        </p:txBody>
      </p:sp>
      <p:grpSp>
        <p:nvGrpSpPr>
          <p:cNvPr id="774" name="Google Shape;774;p41"/>
          <p:cNvGrpSpPr/>
          <p:nvPr/>
        </p:nvGrpSpPr>
        <p:grpSpPr>
          <a:xfrm>
            <a:off x="838202" y="1268148"/>
            <a:ext cx="10515600" cy="4907946"/>
            <a:chOff x="0" y="867"/>
            <a:chExt cx="10515600" cy="4907946"/>
          </a:xfrm>
        </p:grpSpPr>
        <p:sp>
          <p:nvSpPr>
            <p:cNvPr id="775" name="Google Shape;775;p41"/>
            <p:cNvSpPr/>
            <p:nvPr/>
          </p:nvSpPr>
          <p:spPr>
            <a:xfrm>
              <a:off x="0" y="3695777"/>
              <a:ext cx="10515600" cy="1213036"/>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1"/>
            <p:cNvSpPr txBox="1"/>
            <p:nvPr/>
          </p:nvSpPr>
          <p:spPr>
            <a:xfrm>
              <a:off x="0" y="3695777"/>
              <a:ext cx="10515600" cy="1213036"/>
            </a:xfrm>
            <a:prstGeom prst="rect">
              <a:avLst/>
            </a:prstGeom>
            <a:noFill/>
            <a:ln>
              <a:noFill/>
            </a:ln>
          </p:spPr>
          <p:txBody>
            <a:bodyPr spcFirstLastPara="1" wrap="square" lIns="149350" tIns="149350" rIns="149350" bIns="14935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Finally, once verified, all Halal Assurance Management System criteria must be approved by top management to ensure effective implementation of the HAS.</a:t>
              </a:r>
              <a:endParaRPr sz="2100">
                <a:solidFill>
                  <a:schemeClr val="lt1"/>
                </a:solidFill>
                <a:latin typeface="Calibri"/>
                <a:ea typeface="Calibri"/>
                <a:cs typeface="Calibri"/>
                <a:sym typeface="Calibri"/>
              </a:endParaRPr>
            </a:p>
          </p:txBody>
        </p:sp>
        <p:sp>
          <p:nvSpPr>
            <p:cNvPr id="777" name="Google Shape;777;p41"/>
            <p:cNvSpPr/>
            <p:nvPr/>
          </p:nvSpPr>
          <p:spPr>
            <a:xfrm rot="10800000">
              <a:off x="0" y="1848322"/>
              <a:ext cx="10515600" cy="1865650"/>
            </a:xfrm>
            <a:prstGeom prst="upArrowCallout">
              <a:avLst>
                <a:gd name="adj1" fmla="val 25000"/>
                <a:gd name="adj2" fmla="val 25000"/>
                <a:gd name="adj3" fmla="val 25000"/>
                <a:gd name="adj4" fmla="val 6497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1"/>
            <p:cNvSpPr txBox="1"/>
            <p:nvPr/>
          </p:nvSpPr>
          <p:spPr>
            <a:xfrm>
              <a:off x="0" y="1848322"/>
              <a:ext cx="10515600" cy="1212243"/>
            </a:xfrm>
            <a:prstGeom prst="rect">
              <a:avLst/>
            </a:prstGeom>
            <a:noFill/>
            <a:ln>
              <a:noFill/>
            </a:ln>
          </p:spPr>
          <p:txBody>
            <a:bodyPr spcFirstLastPara="1" wrap="square" lIns="149350" tIns="149350" rIns="149350" bIns="14935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Second, obtain verification of the draft documents through the appropriate platform, such as the Internal Halal Committee or the Human Resources meeting, depending on the subject matter.</a:t>
              </a:r>
              <a:endParaRPr sz="2100">
                <a:solidFill>
                  <a:schemeClr val="lt1"/>
                </a:solidFill>
                <a:latin typeface="Calibri"/>
                <a:ea typeface="Calibri"/>
                <a:cs typeface="Calibri"/>
                <a:sym typeface="Calibri"/>
              </a:endParaRPr>
            </a:p>
          </p:txBody>
        </p:sp>
        <p:sp>
          <p:nvSpPr>
            <p:cNvPr id="779" name="Google Shape;779;p41"/>
            <p:cNvSpPr/>
            <p:nvPr/>
          </p:nvSpPr>
          <p:spPr>
            <a:xfrm rot="10800000">
              <a:off x="0" y="867"/>
              <a:ext cx="10515600" cy="1865650"/>
            </a:xfrm>
            <a:prstGeom prst="upArrowCallout">
              <a:avLst>
                <a:gd name="adj1" fmla="val 25000"/>
                <a:gd name="adj2" fmla="val 25000"/>
                <a:gd name="adj3" fmla="val 25000"/>
                <a:gd name="adj4" fmla="val 6497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1"/>
            <p:cNvSpPr txBox="1"/>
            <p:nvPr/>
          </p:nvSpPr>
          <p:spPr>
            <a:xfrm>
              <a:off x="0" y="867"/>
              <a:ext cx="10515600" cy="1212243"/>
            </a:xfrm>
            <a:prstGeom prst="rect">
              <a:avLst/>
            </a:prstGeom>
            <a:noFill/>
            <a:ln>
              <a:noFill/>
            </a:ln>
          </p:spPr>
          <p:txBody>
            <a:bodyPr spcFirstLastPara="1" wrap="square" lIns="149350" tIns="149350" rIns="149350" bIns="149350" anchor="ctr" anchorCtr="0">
              <a:noAutofit/>
            </a:bodyPr>
            <a:lstStyle/>
            <a:p>
              <a:pPr marL="0" marR="0" lvl="0" indent="0" algn="ctr" rtl="0">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First, prepare the draft manual and policies for all criteria, together with the necessary supporting documents.</a:t>
              </a:r>
              <a:endParaRPr sz="2100">
                <a:solidFill>
                  <a:schemeClr val="lt1"/>
                </a:solidFill>
                <a:latin typeface="Calibri"/>
                <a:ea typeface="Calibri"/>
                <a:cs typeface="Calibri"/>
                <a:sym typeface="Calibri"/>
              </a:endParaRPr>
            </a:p>
          </p:txBody>
        </p:sp>
      </p:grpSp>
      <p:sp>
        <p:nvSpPr>
          <p:cNvPr id="781" name="Google Shape;781;p4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82" name="Google Shape;782;p4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83" name="Google Shape;783;p4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2"/>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HAS ESTABLISHMENT PROCESS – HAS MANUAL</a:t>
            </a:r>
            <a:endParaRPr/>
          </a:p>
        </p:txBody>
      </p:sp>
      <p:grpSp>
        <p:nvGrpSpPr>
          <p:cNvPr id="789" name="Google Shape;789;p42"/>
          <p:cNvGrpSpPr/>
          <p:nvPr/>
        </p:nvGrpSpPr>
        <p:grpSpPr>
          <a:xfrm>
            <a:off x="838202" y="1291975"/>
            <a:ext cx="10515600" cy="4860292"/>
            <a:chOff x="0" y="24694"/>
            <a:chExt cx="10515600" cy="4860292"/>
          </a:xfrm>
        </p:grpSpPr>
        <p:sp>
          <p:nvSpPr>
            <p:cNvPr id="790" name="Google Shape;790;p42"/>
            <p:cNvSpPr/>
            <p:nvPr/>
          </p:nvSpPr>
          <p:spPr>
            <a:xfrm>
              <a:off x="0" y="24694"/>
              <a:ext cx="10515600" cy="1566337"/>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2"/>
            <p:cNvSpPr txBox="1"/>
            <p:nvPr/>
          </p:nvSpPr>
          <p:spPr>
            <a:xfrm>
              <a:off x="76462" y="101156"/>
              <a:ext cx="10362676" cy="1413413"/>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alibri"/>
                <a:buNone/>
              </a:pPr>
              <a:r>
                <a:rPr lang="en-US" sz="2800">
                  <a:solidFill>
                    <a:schemeClr val="lt1"/>
                  </a:solidFill>
                  <a:latin typeface="Calibri"/>
                  <a:ea typeface="Calibri"/>
                  <a:cs typeface="Calibri"/>
                  <a:sym typeface="Calibri"/>
                </a:rPr>
                <a:t>The Halal Assurance System (HAS) Manual is a key component of the Halal Assurance Management System. </a:t>
              </a:r>
              <a:endParaRPr sz="2800">
                <a:solidFill>
                  <a:schemeClr val="lt1"/>
                </a:solidFill>
                <a:latin typeface="Calibri"/>
                <a:ea typeface="Calibri"/>
                <a:cs typeface="Calibri"/>
                <a:sym typeface="Calibri"/>
              </a:endParaRPr>
            </a:p>
          </p:txBody>
        </p:sp>
        <p:sp>
          <p:nvSpPr>
            <p:cNvPr id="792" name="Google Shape;792;p42"/>
            <p:cNvSpPr/>
            <p:nvPr/>
          </p:nvSpPr>
          <p:spPr>
            <a:xfrm>
              <a:off x="0" y="1671672"/>
              <a:ext cx="10515600" cy="1566337"/>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2"/>
            <p:cNvSpPr txBox="1"/>
            <p:nvPr/>
          </p:nvSpPr>
          <p:spPr>
            <a:xfrm>
              <a:off x="76462" y="1748134"/>
              <a:ext cx="10362676" cy="1413413"/>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alibri"/>
                <a:buNone/>
              </a:pPr>
              <a:r>
                <a:rPr lang="en-US" sz="2800">
                  <a:solidFill>
                    <a:schemeClr val="lt1"/>
                  </a:solidFill>
                  <a:latin typeface="Calibri"/>
                  <a:ea typeface="Calibri"/>
                  <a:cs typeface="Calibri"/>
                  <a:sym typeface="Calibri"/>
                </a:rPr>
                <a:t>It ensures the implementation of Halal principles in products and services. </a:t>
              </a:r>
              <a:endParaRPr sz="2800">
                <a:solidFill>
                  <a:schemeClr val="lt1"/>
                </a:solidFill>
                <a:latin typeface="Calibri"/>
                <a:ea typeface="Calibri"/>
                <a:cs typeface="Calibri"/>
                <a:sym typeface="Calibri"/>
              </a:endParaRPr>
            </a:p>
          </p:txBody>
        </p:sp>
        <p:sp>
          <p:nvSpPr>
            <p:cNvPr id="794" name="Google Shape;794;p42"/>
            <p:cNvSpPr/>
            <p:nvPr/>
          </p:nvSpPr>
          <p:spPr>
            <a:xfrm>
              <a:off x="0" y="3318649"/>
              <a:ext cx="10515600" cy="1566337"/>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p:cNvSpPr txBox="1"/>
            <p:nvPr/>
          </p:nvSpPr>
          <p:spPr>
            <a:xfrm>
              <a:off x="76462" y="3395111"/>
              <a:ext cx="10362676" cy="1413413"/>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Calibri"/>
                <a:buNone/>
              </a:pPr>
              <a:r>
                <a:rPr lang="en-US" sz="2800">
                  <a:solidFill>
                    <a:schemeClr val="lt1"/>
                  </a:solidFill>
                  <a:latin typeface="Calibri"/>
                  <a:ea typeface="Calibri"/>
                  <a:cs typeface="Calibri"/>
                  <a:sym typeface="Calibri"/>
                </a:rPr>
                <a:t>The Internal Halal Committee (IHC) is responsible for developing the HAS Manual as an internal mechanism to monitor, control, improve, and prevent non-compliance in halal production and service delivery.</a:t>
              </a:r>
              <a:endParaRPr sz="2800">
                <a:solidFill>
                  <a:schemeClr val="lt1"/>
                </a:solidFill>
                <a:latin typeface="Calibri"/>
                <a:ea typeface="Calibri"/>
                <a:cs typeface="Calibri"/>
                <a:sym typeface="Calibri"/>
              </a:endParaRPr>
            </a:p>
          </p:txBody>
        </p:sp>
      </p:grpSp>
      <p:sp>
        <p:nvSpPr>
          <p:cNvPr id="796" name="Google Shape;796;p4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797" name="Google Shape;797;p4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798" name="Google Shape;798;p4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43"/>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HAS ESTABLISHMENT PROCESS – HAS MANUAL</a:t>
            </a:r>
            <a:endParaRPr/>
          </a:p>
        </p:txBody>
      </p:sp>
      <p:grpSp>
        <p:nvGrpSpPr>
          <p:cNvPr id="804" name="Google Shape;804;p43"/>
          <p:cNvGrpSpPr/>
          <p:nvPr/>
        </p:nvGrpSpPr>
        <p:grpSpPr>
          <a:xfrm>
            <a:off x="2485049" y="1272072"/>
            <a:ext cx="7221906" cy="4900097"/>
            <a:chOff x="1646847" y="4792"/>
            <a:chExt cx="7221906" cy="4900097"/>
          </a:xfrm>
        </p:grpSpPr>
        <p:sp>
          <p:nvSpPr>
            <p:cNvPr id="805" name="Google Shape;805;p43"/>
            <p:cNvSpPr/>
            <p:nvPr/>
          </p:nvSpPr>
          <p:spPr>
            <a:xfrm>
              <a:off x="2577864" y="2454840"/>
              <a:ext cx="610748" cy="581886"/>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3"/>
            <p:cNvSpPr txBox="1"/>
            <p:nvPr/>
          </p:nvSpPr>
          <p:spPr>
            <a:xfrm>
              <a:off x="2862149" y="2724695"/>
              <a:ext cx="42178" cy="42178"/>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07" name="Google Shape;807;p43"/>
            <p:cNvSpPr/>
            <p:nvPr/>
          </p:nvSpPr>
          <p:spPr>
            <a:xfrm>
              <a:off x="2577864" y="1872954"/>
              <a:ext cx="610748" cy="581886"/>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3"/>
            <p:cNvSpPr txBox="1"/>
            <p:nvPr/>
          </p:nvSpPr>
          <p:spPr>
            <a:xfrm>
              <a:off x="2862149" y="2142808"/>
              <a:ext cx="42178" cy="42178"/>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09" name="Google Shape;809;p43"/>
            <p:cNvSpPr/>
            <p:nvPr/>
          </p:nvSpPr>
          <p:spPr>
            <a:xfrm rot="-5400000">
              <a:off x="-337693" y="1989331"/>
              <a:ext cx="4900097" cy="931018"/>
            </a:xfrm>
            <a:prstGeom prst="rect">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3"/>
            <p:cNvSpPr txBox="1"/>
            <p:nvPr/>
          </p:nvSpPr>
          <p:spPr>
            <a:xfrm rot="-5400000">
              <a:off x="-337693" y="1989331"/>
              <a:ext cx="4900097" cy="931018"/>
            </a:xfrm>
            <a:prstGeom prst="rect">
              <a:avLst/>
            </a:prstGeom>
            <a:noFill/>
            <a:ln>
              <a:noFill/>
            </a:ln>
          </p:spPr>
          <p:txBody>
            <a:bodyPr spcFirstLastPara="1" wrap="square" lIns="22850" tIns="22850" rIns="22850" bIns="22850" anchor="ctr" anchorCtr="0">
              <a:noAutofit/>
            </a:bodyPr>
            <a:lstStyle/>
            <a:p>
              <a:pPr marL="0" marR="0" lvl="0" indent="0" algn="ctr" rtl="0">
                <a:lnSpc>
                  <a:spcPct val="90000"/>
                </a:lnSpc>
                <a:spcBef>
                  <a:spcPts val="0"/>
                </a:spcBef>
                <a:spcAft>
                  <a:spcPts val="0"/>
                </a:spcAft>
                <a:buClr>
                  <a:schemeClr val="lt1"/>
                </a:buClr>
                <a:buSzPts val="3600"/>
                <a:buFont typeface="Calibri"/>
                <a:buNone/>
              </a:pPr>
              <a:r>
                <a:rPr lang="en-US" sz="3600">
                  <a:solidFill>
                    <a:schemeClr val="lt1"/>
                  </a:solidFill>
                  <a:latin typeface="Calibri"/>
                  <a:ea typeface="Calibri"/>
                  <a:cs typeface="Calibri"/>
                  <a:sym typeface="Calibri"/>
                </a:rPr>
                <a:t>Objectives of HAS Manual</a:t>
              </a:r>
              <a:endParaRPr sz="3600">
                <a:solidFill>
                  <a:schemeClr val="lt1"/>
                </a:solidFill>
                <a:latin typeface="Calibri"/>
                <a:ea typeface="Calibri"/>
                <a:cs typeface="Calibri"/>
                <a:sym typeface="Calibri"/>
              </a:endParaRPr>
            </a:p>
          </p:txBody>
        </p:sp>
        <p:sp>
          <p:nvSpPr>
            <p:cNvPr id="811" name="Google Shape;811;p43"/>
            <p:cNvSpPr/>
            <p:nvPr/>
          </p:nvSpPr>
          <p:spPr>
            <a:xfrm>
              <a:off x="3188612" y="1407445"/>
              <a:ext cx="5632716" cy="931018"/>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3"/>
            <p:cNvSpPr txBox="1"/>
            <p:nvPr/>
          </p:nvSpPr>
          <p:spPr>
            <a:xfrm>
              <a:off x="3188612" y="1407445"/>
              <a:ext cx="5632716" cy="931018"/>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to provide a systematic approach to ensure and maintain the halal integrity of products and services. </a:t>
              </a:r>
              <a:endParaRPr sz="2000">
                <a:solidFill>
                  <a:schemeClr val="lt1"/>
                </a:solidFill>
                <a:latin typeface="Calibri"/>
                <a:ea typeface="Calibri"/>
                <a:cs typeface="Calibri"/>
                <a:sym typeface="Calibri"/>
              </a:endParaRPr>
            </a:p>
          </p:txBody>
        </p:sp>
        <p:sp>
          <p:nvSpPr>
            <p:cNvPr id="813" name="Google Shape;813;p43"/>
            <p:cNvSpPr/>
            <p:nvPr/>
          </p:nvSpPr>
          <p:spPr>
            <a:xfrm>
              <a:off x="3188612" y="2571218"/>
              <a:ext cx="5680140" cy="931018"/>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3"/>
            <p:cNvSpPr txBox="1"/>
            <p:nvPr/>
          </p:nvSpPr>
          <p:spPr>
            <a:xfrm>
              <a:off x="3188612" y="2571218"/>
              <a:ext cx="5680140" cy="931018"/>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serves as an internal mechanism for halal monitoring, control, improvement, and prevention of non-compliance.</a:t>
              </a:r>
              <a:endParaRPr sz="2000">
                <a:solidFill>
                  <a:schemeClr val="lt1"/>
                </a:solidFill>
                <a:latin typeface="Calibri"/>
                <a:ea typeface="Calibri"/>
                <a:cs typeface="Calibri"/>
                <a:sym typeface="Calibri"/>
              </a:endParaRPr>
            </a:p>
          </p:txBody>
        </p:sp>
      </p:grpSp>
      <p:sp>
        <p:nvSpPr>
          <p:cNvPr id="815" name="Google Shape;815;p4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816" name="Google Shape;816;p4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817" name="Google Shape;817;p4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44"/>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HAS ESTABLISHMENT PROCESS – HAS MANUAL</a:t>
            </a:r>
            <a:endParaRPr/>
          </a:p>
        </p:txBody>
      </p:sp>
      <p:sp>
        <p:nvSpPr>
          <p:cNvPr id="823" name="Google Shape;823;p44"/>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The Concept &amp; Principle</a:t>
            </a:r>
            <a:endParaRPr/>
          </a:p>
        </p:txBody>
      </p:sp>
      <p:sp>
        <p:nvSpPr>
          <p:cNvPr id="824" name="Google Shape;824;p4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825" name="Google Shape;825;p4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826" name="Google Shape;826;p4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
        <p:nvSpPr>
          <p:cNvPr id="827" name="Google Shape;827;p44"/>
          <p:cNvSpPr/>
          <p:nvPr/>
        </p:nvSpPr>
        <p:spPr>
          <a:xfrm>
            <a:off x="5402655" y="1834198"/>
            <a:ext cx="1809026" cy="1606678"/>
          </a:xfrm>
          <a:custGeom>
            <a:avLst/>
            <a:gdLst/>
            <a:ahLst/>
            <a:cxnLst/>
            <a:rect l="l" t="t" r="r" b="b"/>
            <a:pathLst>
              <a:path w="1809026" h="1606678" extrusionOk="0">
                <a:moveTo>
                  <a:pt x="904513" y="0"/>
                </a:moveTo>
                <a:cubicBezTo>
                  <a:pt x="1404062" y="0"/>
                  <a:pt x="1809026" y="405297"/>
                  <a:pt x="1809026" y="905256"/>
                </a:cubicBezTo>
                <a:cubicBezTo>
                  <a:pt x="1809026" y="1155236"/>
                  <a:pt x="1707785" y="1381550"/>
                  <a:pt x="1544101" y="1545369"/>
                </a:cubicBezTo>
                <a:lnTo>
                  <a:pt x="1469854" y="1606678"/>
                </a:lnTo>
                <a:lnTo>
                  <a:pt x="1307897" y="1518699"/>
                </a:lnTo>
                <a:cubicBezTo>
                  <a:pt x="1183912" y="1466215"/>
                  <a:pt x="1047599" y="1437192"/>
                  <a:pt x="904512" y="1437192"/>
                </a:cubicBezTo>
                <a:cubicBezTo>
                  <a:pt x="761426" y="1437192"/>
                  <a:pt x="625112" y="1466215"/>
                  <a:pt x="501128" y="1518699"/>
                </a:cubicBezTo>
                <a:lnTo>
                  <a:pt x="339172" y="1606678"/>
                </a:lnTo>
                <a:lnTo>
                  <a:pt x="264926" y="1545369"/>
                </a:lnTo>
                <a:cubicBezTo>
                  <a:pt x="101241" y="1381550"/>
                  <a:pt x="0" y="1155236"/>
                  <a:pt x="0" y="905256"/>
                </a:cubicBezTo>
                <a:cubicBezTo>
                  <a:pt x="0" y="405297"/>
                  <a:pt x="404964" y="0"/>
                  <a:pt x="904513"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8" name="Google Shape;828;p44"/>
          <p:cNvSpPr/>
          <p:nvPr/>
        </p:nvSpPr>
        <p:spPr>
          <a:xfrm>
            <a:off x="4056280" y="4165185"/>
            <a:ext cx="1792930" cy="1810512"/>
          </a:xfrm>
          <a:custGeom>
            <a:avLst/>
            <a:gdLst/>
            <a:ahLst/>
            <a:cxnLst/>
            <a:rect l="l" t="t" r="r" b="b"/>
            <a:pathLst>
              <a:path w="1792930" h="1810512" extrusionOk="0">
                <a:moveTo>
                  <a:pt x="904513" y="0"/>
                </a:moveTo>
                <a:cubicBezTo>
                  <a:pt x="998179" y="0"/>
                  <a:pt x="1088519" y="14249"/>
                  <a:pt x="1173488" y="40699"/>
                </a:cubicBezTo>
                <a:lnTo>
                  <a:pt x="1218905" y="57335"/>
                </a:lnTo>
                <a:lnTo>
                  <a:pt x="1214563" y="143382"/>
                </a:lnTo>
                <a:cubicBezTo>
                  <a:pt x="1214563" y="537194"/>
                  <a:pt x="1433866" y="879743"/>
                  <a:pt x="1756914" y="1055378"/>
                </a:cubicBezTo>
                <a:lnTo>
                  <a:pt x="1792930" y="1072742"/>
                </a:lnTo>
                <a:lnTo>
                  <a:pt x="1790650" y="1087697"/>
                </a:lnTo>
                <a:cubicBezTo>
                  <a:pt x="1706307" y="1500207"/>
                  <a:pt x="1341619" y="1810512"/>
                  <a:pt x="904513" y="1810512"/>
                </a:cubicBezTo>
                <a:cubicBezTo>
                  <a:pt x="404964" y="1810512"/>
                  <a:pt x="0" y="1405215"/>
                  <a:pt x="0" y="905256"/>
                </a:cubicBezTo>
                <a:cubicBezTo>
                  <a:pt x="0" y="405297"/>
                  <a:pt x="404964" y="0"/>
                  <a:pt x="90451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9" name="Google Shape;829;p44"/>
          <p:cNvSpPr/>
          <p:nvPr/>
        </p:nvSpPr>
        <p:spPr>
          <a:xfrm>
            <a:off x="6765281" y="4165274"/>
            <a:ext cx="1792955" cy="1810512"/>
          </a:xfrm>
          <a:custGeom>
            <a:avLst/>
            <a:gdLst/>
            <a:ahLst/>
            <a:cxnLst/>
            <a:rect l="l" t="t" r="r" b="b"/>
            <a:pathLst>
              <a:path w="1792955" h="1810512" extrusionOk="0">
                <a:moveTo>
                  <a:pt x="888442" y="0"/>
                </a:moveTo>
                <a:cubicBezTo>
                  <a:pt x="1387991" y="0"/>
                  <a:pt x="1792955" y="405297"/>
                  <a:pt x="1792955" y="905256"/>
                </a:cubicBezTo>
                <a:cubicBezTo>
                  <a:pt x="1792955" y="1405215"/>
                  <a:pt x="1387991" y="1810512"/>
                  <a:pt x="888442" y="1810512"/>
                </a:cubicBezTo>
                <a:cubicBezTo>
                  <a:pt x="451337" y="1810512"/>
                  <a:pt x="86648" y="1500207"/>
                  <a:pt x="2306" y="1087697"/>
                </a:cubicBezTo>
                <a:lnTo>
                  <a:pt x="0" y="1072578"/>
                </a:lnTo>
                <a:lnTo>
                  <a:pt x="35861" y="1055289"/>
                </a:lnTo>
                <a:cubicBezTo>
                  <a:pt x="358910" y="879654"/>
                  <a:pt x="578212" y="537105"/>
                  <a:pt x="578212" y="143293"/>
                </a:cubicBezTo>
                <a:lnTo>
                  <a:pt x="573878" y="57398"/>
                </a:lnTo>
                <a:lnTo>
                  <a:pt x="619468" y="40699"/>
                </a:lnTo>
                <a:cubicBezTo>
                  <a:pt x="704437" y="14249"/>
                  <a:pt x="794777" y="0"/>
                  <a:pt x="888442"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0" name="Google Shape;830;p44"/>
          <p:cNvSpPr/>
          <p:nvPr/>
        </p:nvSpPr>
        <p:spPr>
          <a:xfrm>
            <a:off x="6141212" y="4179720"/>
            <a:ext cx="1363220" cy="1567985"/>
          </a:xfrm>
          <a:custGeom>
            <a:avLst/>
            <a:gdLst/>
            <a:ahLst/>
            <a:cxnLst/>
            <a:rect l="l" t="t" r="r" b="b"/>
            <a:pathLst>
              <a:path w="1363220" h="1567985" extrusionOk="0">
                <a:moveTo>
                  <a:pt x="1357576" y="90"/>
                </a:moveTo>
                <a:cubicBezTo>
                  <a:pt x="1249507" y="18731"/>
                  <a:pt x="1148069" y="56550"/>
                  <a:pt x="1056758" y="109874"/>
                </a:cubicBezTo>
                <a:cubicBezTo>
                  <a:pt x="1014912" y="134340"/>
                  <a:pt x="986327" y="176909"/>
                  <a:pt x="980053" y="225036"/>
                </a:cubicBezTo>
                <a:cubicBezTo>
                  <a:pt x="948243" y="468890"/>
                  <a:pt x="809170" y="679406"/>
                  <a:pt x="611761" y="807473"/>
                </a:cubicBezTo>
                <a:cubicBezTo>
                  <a:pt x="500377" y="879797"/>
                  <a:pt x="370444" y="925770"/>
                  <a:pt x="230833" y="936793"/>
                </a:cubicBezTo>
                <a:lnTo>
                  <a:pt x="230833" y="687204"/>
                </a:lnTo>
                <a:lnTo>
                  <a:pt x="115415" y="907398"/>
                </a:lnTo>
                <a:lnTo>
                  <a:pt x="0" y="1127594"/>
                </a:lnTo>
                <a:lnTo>
                  <a:pt x="115415" y="1347790"/>
                </a:lnTo>
                <a:lnTo>
                  <a:pt x="230833" y="1567985"/>
                </a:lnTo>
                <a:lnTo>
                  <a:pt x="230833" y="1314003"/>
                </a:lnTo>
                <a:cubicBezTo>
                  <a:pt x="384781" y="1305759"/>
                  <a:pt x="531113" y="1268206"/>
                  <a:pt x="664360" y="1206908"/>
                </a:cubicBezTo>
                <a:cubicBezTo>
                  <a:pt x="1076382" y="1017451"/>
                  <a:pt x="1363221" y="600720"/>
                  <a:pt x="1363221" y="118210"/>
                </a:cubicBezTo>
                <a:cubicBezTo>
                  <a:pt x="1363221" y="78327"/>
                  <a:pt x="1361250" y="38896"/>
                  <a:pt x="1357397" y="0"/>
                </a:cubicBezTo>
                <a:close/>
              </a:path>
            </a:pathLst>
          </a:custGeom>
          <a:solidFill>
            <a:srgbClr val="C55A1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1" name="Google Shape;831;p44"/>
          <p:cNvSpPr/>
          <p:nvPr/>
        </p:nvSpPr>
        <p:spPr>
          <a:xfrm>
            <a:off x="5056764" y="3589128"/>
            <a:ext cx="808541" cy="1797589"/>
          </a:xfrm>
          <a:custGeom>
            <a:avLst/>
            <a:gdLst/>
            <a:ahLst/>
            <a:cxnLst/>
            <a:rect l="l" t="t" r="r" b="b"/>
            <a:pathLst>
              <a:path w="808541" h="1797589" extrusionOk="0">
                <a:moveTo>
                  <a:pt x="747428" y="1357377"/>
                </a:moveTo>
                <a:cubicBezTo>
                  <a:pt x="563283" y="1214165"/>
                  <a:pt x="441504" y="994418"/>
                  <a:pt x="430303" y="746262"/>
                </a:cubicBezTo>
                <a:cubicBezTo>
                  <a:pt x="429764" y="733893"/>
                  <a:pt x="429406" y="721437"/>
                  <a:pt x="429406" y="708891"/>
                </a:cubicBezTo>
                <a:cubicBezTo>
                  <a:pt x="429406" y="563527"/>
                  <a:pt x="467489" y="426947"/>
                  <a:pt x="534071" y="308380"/>
                </a:cubicBezTo>
                <a:lnTo>
                  <a:pt x="762751" y="440389"/>
                </a:lnTo>
                <a:lnTo>
                  <a:pt x="629772" y="230322"/>
                </a:lnTo>
                <a:lnTo>
                  <a:pt x="496792" y="20254"/>
                </a:lnTo>
                <a:lnTo>
                  <a:pt x="248396" y="10126"/>
                </a:lnTo>
                <a:lnTo>
                  <a:pt x="0" y="0"/>
                </a:lnTo>
                <a:lnTo>
                  <a:pt x="208162" y="120179"/>
                </a:lnTo>
                <a:cubicBezTo>
                  <a:pt x="127962" y="261689"/>
                  <a:pt x="75540" y="421032"/>
                  <a:pt x="58874" y="590682"/>
                </a:cubicBezTo>
                <a:cubicBezTo>
                  <a:pt x="55019" y="629577"/>
                  <a:pt x="53048" y="669009"/>
                  <a:pt x="53048" y="708891"/>
                </a:cubicBezTo>
                <a:cubicBezTo>
                  <a:pt x="53048" y="1191402"/>
                  <a:pt x="339886" y="1608133"/>
                  <a:pt x="751908" y="1797590"/>
                </a:cubicBezTo>
                <a:cubicBezTo>
                  <a:pt x="788470" y="1699367"/>
                  <a:pt x="808542" y="1593077"/>
                  <a:pt x="808542" y="1482039"/>
                </a:cubicBezTo>
                <a:lnTo>
                  <a:pt x="808542" y="1481232"/>
                </a:lnTo>
                <a:cubicBezTo>
                  <a:pt x="808542" y="1432836"/>
                  <a:pt x="785601" y="1387132"/>
                  <a:pt x="747428" y="1357467"/>
                </a:cubicBezTo>
                <a:close/>
              </a:path>
            </a:pathLst>
          </a:custGeom>
          <a:solidFill>
            <a:srgbClr val="2E75B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2" name="Google Shape;832;p44"/>
          <p:cNvSpPr/>
          <p:nvPr/>
        </p:nvSpPr>
        <p:spPr>
          <a:xfrm>
            <a:off x="5615118" y="3100343"/>
            <a:ext cx="1942454" cy="878361"/>
          </a:xfrm>
          <a:custGeom>
            <a:avLst/>
            <a:gdLst/>
            <a:ahLst/>
            <a:cxnLst/>
            <a:rect l="l" t="t" r="r" b="b"/>
            <a:pathLst>
              <a:path w="1942454" h="878361" extrusionOk="0">
                <a:moveTo>
                  <a:pt x="1711980" y="571145"/>
                </a:moveTo>
                <a:cubicBezTo>
                  <a:pt x="1627208" y="433580"/>
                  <a:pt x="1515466" y="314296"/>
                  <a:pt x="1384100" y="220824"/>
                </a:cubicBezTo>
                <a:cubicBezTo>
                  <a:pt x="1188573" y="81824"/>
                  <a:pt x="949676" y="0"/>
                  <a:pt x="692050" y="0"/>
                </a:cubicBezTo>
                <a:cubicBezTo>
                  <a:pt x="434424" y="0"/>
                  <a:pt x="195525" y="81824"/>
                  <a:pt x="0" y="220824"/>
                </a:cubicBezTo>
                <a:cubicBezTo>
                  <a:pt x="69626" y="303453"/>
                  <a:pt x="153679" y="373444"/>
                  <a:pt x="248396" y="426859"/>
                </a:cubicBezTo>
                <a:cubicBezTo>
                  <a:pt x="290422" y="450518"/>
                  <a:pt x="341050" y="453745"/>
                  <a:pt x="385678" y="435731"/>
                </a:cubicBezTo>
                <a:cubicBezTo>
                  <a:pt x="480393" y="397464"/>
                  <a:pt x="583712" y="376402"/>
                  <a:pt x="691960" y="376402"/>
                </a:cubicBezTo>
                <a:cubicBezTo>
                  <a:pt x="824762" y="376402"/>
                  <a:pt x="950214" y="408128"/>
                  <a:pt x="1061329" y="464319"/>
                </a:cubicBezTo>
                <a:cubicBezTo>
                  <a:pt x="1194309" y="531624"/>
                  <a:pt x="1306500" y="634058"/>
                  <a:pt x="1385892" y="759346"/>
                </a:cubicBezTo>
                <a:lnTo>
                  <a:pt x="1179702" y="878361"/>
                </a:lnTo>
                <a:lnTo>
                  <a:pt x="1428098" y="868235"/>
                </a:lnTo>
                <a:lnTo>
                  <a:pt x="1676493" y="858107"/>
                </a:lnTo>
                <a:lnTo>
                  <a:pt x="1809474" y="648039"/>
                </a:lnTo>
                <a:lnTo>
                  <a:pt x="1942455" y="437972"/>
                </a:lnTo>
                <a:lnTo>
                  <a:pt x="1711980" y="571055"/>
                </a:lnTo>
                <a:close/>
              </a:path>
            </a:pathLst>
          </a:custGeom>
          <a:solidFill>
            <a:srgbClr val="BF9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3" name="Google Shape;833;p44"/>
          <p:cNvSpPr txBox="1"/>
          <p:nvPr/>
        </p:nvSpPr>
        <p:spPr>
          <a:xfrm>
            <a:off x="8805242" y="4328238"/>
            <a:ext cx="2670725" cy="1631216"/>
          </a:xfrm>
          <a:prstGeom prst="rect">
            <a:avLst/>
          </a:prstGeom>
          <a:noFill/>
          <a:ln>
            <a:noFill/>
          </a:ln>
        </p:spPr>
        <p:txBody>
          <a:bodyPr spcFirstLastPara="1" wrap="square" lIns="0" tIns="45700" rIns="0" bIns="45700" anchor="t" anchorCtr="0">
            <a:spAutoFit/>
          </a:bodyPr>
          <a:lstStyle/>
          <a:p>
            <a:pPr marL="0" marR="0" lvl="0" indent="0" algn="l" rtl="0">
              <a:spcBef>
                <a:spcPts val="0"/>
              </a:spcBef>
              <a:spcAft>
                <a:spcPts val="0"/>
              </a:spcAft>
              <a:buNone/>
            </a:pPr>
            <a:r>
              <a:rPr lang="en-US" sz="2000">
                <a:solidFill>
                  <a:srgbClr val="000000"/>
                </a:solidFill>
                <a:latin typeface="Calibri"/>
                <a:ea typeface="Calibri"/>
                <a:cs typeface="Calibri"/>
                <a:sym typeface="Calibri"/>
              </a:rPr>
              <a:t>potential halal threats to products/services from personnel, equipment, utensil, processing aid and environment</a:t>
            </a:r>
            <a:endParaRPr/>
          </a:p>
        </p:txBody>
      </p:sp>
      <p:sp>
        <p:nvSpPr>
          <p:cNvPr id="834" name="Google Shape;834;p44"/>
          <p:cNvSpPr txBox="1"/>
          <p:nvPr/>
        </p:nvSpPr>
        <p:spPr>
          <a:xfrm>
            <a:off x="838198" y="4636014"/>
            <a:ext cx="2926080" cy="1015663"/>
          </a:xfrm>
          <a:prstGeom prst="rect">
            <a:avLst/>
          </a:prstGeom>
          <a:noFill/>
          <a:ln>
            <a:noFill/>
          </a:ln>
        </p:spPr>
        <p:txBody>
          <a:bodyPr spcFirstLastPara="1" wrap="square" lIns="0" tIns="45700" rIns="0" bIns="45700" anchor="t" anchorCtr="0">
            <a:spAutoFit/>
          </a:bodyPr>
          <a:lstStyle/>
          <a:p>
            <a:pPr marL="0" marR="0" lvl="0" indent="0" algn="r" rtl="0">
              <a:spcBef>
                <a:spcPts val="0"/>
              </a:spcBef>
              <a:spcAft>
                <a:spcPts val="0"/>
              </a:spcAft>
              <a:buNone/>
            </a:pPr>
            <a:r>
              <a:rPr lang="en-US" sz="2000">
                <a:solidFill>
                  <a:srgbClr val="000000"/>
                </a:solidFill>
                <a:latin typeface="Calibri"/>
                <a:ea typeface="Calibri"/>
                <a:cs typeface="Calibri"/>
                <a:sym typeface="Calibri"/>
              </a:rPr>
              <a:t>and minimizing potential halal threats throughout the supply chain.</a:t>
            </a:r>
            <a:endParaRPr sz="2000">
              <a:solidFill>
                <a:srgbClr val="595959"/>
              </a:solidFill>
              <a:latin typeface="Calibri"/>
              <a:ea typeface="Calibri"/>
              <a:cs typeface="Calibri"/>
              <a:sym typeface="Calibri"/>
            </a:endParaRPr>
          </a:p>
        </p:txBody>
      </p:sp>
      <p:sp>
        <p:nvSpPr>
          <p:cNvPr id="835" name="Google Shape;835;p44"/>
          <p:cNvSpPr txBox="1"/>
          <p:nvPr/>
        </p:nvSpPr>
        <p:spPr>
          <a:xfrm>
            <a:off x="7923332" y="2087781"/>
            <a:ext cx="2926080" cy="461665"/>
          </a:xfrm>
          <a:prstGeom prst="rect">
            <a:avLst/>
          </a:prstGeom>
          <a:noFill/>
          <a:ln>
            <a:noFill/>
          </a:ln>
        </p:spPr>
        <p:txBody>
          <a:bodyPr spcFirstLastPara="1" wrap="square" lIns="0" tIns="45700" rIns="0" bIns="45700" anchor="b" anchorCtr="0">
            <a:spAutoFit/>
          </a:bodyPr>
          <a:lstStyle/>
          <a:p>
            <a:pPr marL="0" marR="0" lvl="0" indent="0" algn="l" rtl="0">
              <a:spcBef>
                <a:spcPts val="0"/>
              </a:spcBef>
              <a:spcAft>
                <a:spcPts val="0"/>
              </a:spcAft>
              <a:buNone/>
            </a:pPr>
            <a:endParaRPr sz="2400" b="1">
              <a:solidFill>
                <a:srgbClr val="BF9000"/>
              </a:solidFill>
              <a:latin typeface="Calibri"/>
              <a:ea typeface="Calibri"/>
              <a:cs typeface="Calibri"/>
              <a:sym typeface="Calibri"/>
            </a:endParaRPr>
          </a:p>
        </p:txBody>
      </p:sp>
      <p:sp>
        <p:nvSpPr>
          <p:cNvPr id="836" name="Google Shape;836;p44"/>
          <p:cNvSpPr txBox="1"/>
          <p:nvPr/>
        </p:nvSpPr>
        <p:spPr>
          <a:xfrm>
            <a:off x="5239423" y="4026257"/>
            <a:ext cx="217469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000000"/>
                </a:solidFill>
                <a:latin typeface="Calibri"/>
                <a:ea typeface="Calibri"/>
                <a:cs typeface="Calibri"/>
                <a:sym typeface="Calibri"/>
              </a:rPr>
              <a:t>ELIMINATE</a:t>
            </a:r>
            <a:endParaRPr sz="2400" b="1">
              <a:solidFill>
                <a:schemeClr val="dk1"/>
              </a:solidFill>
              <a:latin typeface="Calibri"/>
              <a:ea typeface="Calibri"/>
              <a:cs typeface="Calibri"/>
              <a:sym typeface="Calibri"/>
            </a:endParaRPr>
          </a:p>
        </p:txBody>
      </p:sp>
      <p:sp>
        <p:nvSpPr>
          <p:cNvPr id="837" name="Google Shape;837;p44"/>
          <p:cNvSpPr txBox="1"/>
          <p:nvPr/>
        </p:nvSpPr>
        <p:spPr>
          <a:xfrm>
            <a:off x="7504432" y="1935200"/>
            <a:ext cx="3273856" cy="1323439"/>
          </a:xfrm>
          <a:prstGeom prst="rect">
            <a:avLst/>
          </a:prstGeom>
          <a:noFill/>
          <a:ln>
            <a:noFill/>
          </a:ln>
        </p:spPr>
        <p:txBody>
          <a:bodyPr spcFirstLastPara="1" wrap="square" lIns="0" tIns="45700" rIns="0" bIns="45700" anchor="t" anchorCtr="0">
            <a:spAutoFit/>
          </a:bodyPr>
          <a:lstStyle/>
          <a:p>
            <a:pPr marL="0" marR="0" lvl="0" indent="0" algn="just" rtl="0">
              <a:spcBef>
                <a:spcPts val="0"/>
              </a:spcBef>
              <a:spcAft>
                <a:spcPts val="0"/>
              </a:spcAft>
              <a:buNone/>
            </a:pPr>
            <a:r>
              <a:rPr lang="en-US" sz="2000">
                <a:solidFill>
                  <a:schemeClr val="dk1"/>
                </a:solidFill>
                <a:latin typeface="Calibri"/>
                <a:ea typeface="Calibri"/>
                <a:cs typeface="Calibri"/>
                <a:sym typeface="Calibri"/>
              </a:rPr>
              <a:t>Presence of non-halal materials used as ingredients, raw materials and other supporting materials</a:t>
            </a:r>
            <a:endParaRPr/>
          </a:p>
        </p:txBody>
      </p:sp>
      <p:sp>
        <p:nvSpPr>
          <p:cNvPr id="838" name="Google Shape;838;p44"/>
          <p:cNvSpPr txBox="1"/>
          <p:nvPr/>
        </p:nvSpPr>
        <p:spPr>
          <a:xfrm>
            <a:off x="6011672" y="2087781"/>
            <a:ext cx="61722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chemeClr val="lt1"/>
                </a:solidFill>
                <a:latin typeface="Calibri"/>
                <a:ea typeface="Calibri"/>
                <a:cs typeface="Calibri"/>
                <a:sym typeface="Calibri"/>
              </a:rPr>
              <a:t>1</a:t>
            </a:r>
            <a:endParaRPr/>
          </a:p>
        </p:txBody>
      </p:sp>
      <p:sp>
        <p:nvSpPr>
          <p:cNvPr id="839" name="Google Shape;839;p44"/>
          <p:cNvSpPr txBox="1"/>
          <p:nvPr/>
        </p:nvSpPr>
        <p:spPr>
          <a:xfrm>
            <a:off x="7414114" y="4728348"/>
            <a:ext cx="61722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chemeClr val="lt1"/>
                </a:solidFill>
                <a:latin typeface="Calibri"/>
                <a:ea typeface="Calibri"/>
                <a:cs typeface="Calibri"/>
                <a:sym typeface="Calibri"/>
              </a:rPr>
              <a:t>2</a:t>
            </a:r>
            <a:endParaRPr/>
          </a:p>
        </p:txBody>
      </p:sp>
      <p:sp>
        <p:nvSpPr>
          <p:cNvPr id="840" name="Google Shape;840;p44"/>
          <p:cNvSpPr txBox="1"/>
          <p:nvPr/>
        </p:nvSpPr>
        <p:spPr>
          <a:xfrm>
            <a:off x="4576867" y="4654942"/>
            <a:ext cx="61722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chemeClr val="lt1"/>
                </a:solidFill>
                <a:latin typeface="Calibri"/>
                <a:ea typeface="Calibri"/>
                <a:cs typeface="Calibri"/>
                <a:sym typeface="Calibri"/>
              </a:rPr>
              <a:t>3</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45"/>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HAS ESTABLISHMENT PROCESS – HAS MANUAL</a:t>
            </a:r>
            <a:endParaRPr/>
          </a:p>
        </p:txBody>
      </p:sp>
      <p:sp>
        <p:nvSpPr>
          <p:cNvPr id="846" name="Google Shape;846;p45"/>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The Concept &amp; Principle</a:t>
            </a:r>
            <a:endParaRPr/>
          </a:p>
          <a:p>
            <a:pPr marL="0" lvl="0" indent="0" algn="l" rtl="0">
              <a:lnSpc>
                <a:spcPct val="90000"/>
              </a:lnSpc>
              <a:spcBef>
                <a:spcPts val="1001"/>
              </a:spcBef>
              <a:spcAft>
                <a:spcPts val="0"/>
              </a:spcAft>
              <a:buClr>
                <a:schemeClr val="dk1"/>
              </a:buClr>
              <a:buSzPts val="2800"/>
              <a:buNone/>
            </a:pPr>
            <a:endParaRPr/>
          </a:p>
        </p:txBody>
      </p:sp>
      <p:sp>
        <p:nvSpPr>
          <p:cNvPr id="847" name="Google Shape;847;p4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848" name="Google Shape;848;p4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849" name="Google Shape;849;p4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pic>
        <p:nvPicPr>
          <p:cNvPr id="850" name="Google Shape;850;p45"/>
          <p:cNvPicPr preferRelativeResize="0"/>
          <p:nvPr/>
        </p:nvPicPr>
        <p:blipFill rotWithShape="1">
          <a:blip r:embed="rId3">
            <a:alphaModFix/>
          </a:blip>
          <a:srcRect t="1141"/>
          <a:stretch/>
        </p:blipFill>
        <p:spPr>
          <a:xfrm>
            <a:off x="6849407" y="1262310"/>
            <a:ext cx="4504391" cy="5097878"/>
          </a:xfrm>
          <a:prstGeom prst="rect">
            <a:avLst/>
          </a:prstGeom>
          <a:noFill/>
          <a:ln>
            <a:noFill/>
          </a:ln>
        </p:spPr>
      </p:pic>
      <p:sp>
        <p:nvSpPr>
          <p:cNvPr id="851" name="Google Shape;851;p45"/>
          <p:cNvSpPr txBox="1"/>
          <p:nvPr/>
        </p:nvSpPr>
        <p:spPr>
          <a:xfrm>
            <a:off x="838198" y="2921615"/>
            <a:ext cx="5257802"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rgbClr val="000000"/>
                </a:solidFill>
                <a:latin typeface="Calibri"/>
                <a:ea typeface="Calibri"/>
                <a:cs typeface="Calibri"/>
                <a:sym typeface="Calibri"/>
              </a:rPr>
              <a:t>These are the six (6) important principles of HAS which are also important parts in HAS stages/element that you will learn in the next module.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46"/>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HAS ESTABLISHMENT PROCESS – HAS MANUAL</a:t>
            </a:r>
            <a:endParaRPr/>
          </a:p>
        </p:txBody>
      </p:sp>
      <p:sp>
        <p:nvSpPr>
          <p:cNvPr id="857" name="Google Shape;857;p46"/>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00000"/>
              </a:buClr>
              <a:buSzPts val="2000"/>
              <a:buNone/>
            </a:pPr>
            <a:r>
              <a:rPr lang="en-US" sz="2000">
                <a:solidFill>
                  <a:srgbClr val="000000"/>
                </a:solidFill>
              </a:rPr>
              <a:t>First, let’s view the process flow below to get an overview of the process.</a:t>
            </a:r>
            <a:endParaRPr/>
          </a:p>
          <a:p>
            <a:pPr marL="0" lvl="0" indent="0" algn="l" rtl="0">
              <a:lnSpc>
                <a:spcPct val="90000"/>
              </a:lnSpc>
              <a:spcBef>
                <a:spcPts val="1001"/>
              </a:spcBef>
              <a:spcAft>
                <a:spcPts val="0"/>
              </a:spcAft>
              <a:buClr>
                <a:schemeClr val="dk1"/>
              </a:buClr>
              <a:buSzPts val="2000"/>
              <a:buNone/>
            </a:pPr>
            <a:endParaRPr sz="2000"/>
          </a:p>
          <a:p>
            <a:pPr marL="0" lvl="0" indent="0" algn="l" rtl="0">
              <a:lnSpc>
                <a:spcPct val="90000"/>
              </a:lnSpc>
              <a:spcBef>
                <a:spcPts val="1001"/>
              </a:spcBef>
              <a:spcAft>
                <a:spcPts val="0"/>
              </a:spcAft>
              <a:buClr>
                <a:schemeClr val="dk1"/>
              </a:buClr>
              <a:buSzPts val="2000"/>
              <a:buNone/>
            </a:pPr>
            <a:endParaRPr sz="2000"/>
          </a:p>
        </p:txBody>
      </p:sp>
      <p:sp>
        <p:nvSpPr>
          <p:cNvPr id="858" name="Google Shape;858;p4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859" name="Google Shape;859;p4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860" name="Google Shape;860;p4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861" name="Google Shape;861;p46"/>
          <p:cNvGrpSpPr/>
          <p:nvPr/>
        </p:nvGrpSpPr>
        <p:grpSpPr>
          <a:xfrm>
            <a:off x="1112443" y="1797338"/>
            <a:ext cx="9608448" cy="4496071"/>
            <a:chOff x="1567667" y="26058"/>
            <a:chExt cx="9608448" cy="4496071"/>
          </a:xfrm>
        </p:grpSpPr>
        <p:sp>
          <p:nvSpPr>
            <p:cNvPr id="862" name="Google Shape;862;p46"/>
            <p:cNvSpPr/>
            <p:nvPr/>
          </p:nvSpPr>
          <p:spPr>
            <a:xfrm rot="5400000">
              <a:off x="1879036" y="1328840"/>
              <a:ext cx="1175244" cy="1337974"/>
            </a:xfrm>
            <a:prstGeom prst="bentUpArrow">
              <a:avLst>
                <a:gd name="adj1" fmla="val 32840"/>
                <a:gd name="adj2" fmla="val 25000"/>
                <a:gd name="adj3" fmla="val 35780"/>
              </a:avLst>
            </a:prstGeom>
            <a:solidFill>
              <a:srgbClr val="BFC8E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6"/>
            <p:cNvSpPr/>
            <p:nvPr/>
          </p:nvSpPr>
          <p:spPr>
            <a:xfrm>
              <a:off x="1567667" y="26058"/>
              <a:ext cx="1978420" cy="1384829"/>
            </a:xfrm>
            <a:prstGeom prst="roundRect">
              <a:avLst>
                <a:gd name="adj" fmla="val 1667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6"/>
            <p:cNvSpPr txBox="1"/>
            <p:nvPr/>
          </p:nvSpPr>
          <p:spPr>
            <a:xfrm>
              <a:off x="1635281" y="93672"/>
              <a:ext cx="1843192" cy="1249601"/>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Developing Internal Halal Committee (IHC)</a:t>
              </a:r>
              <a:endParaRPr/>
            </a:p>
          </p:txBody>
        </p:sp>
        <p:sp>
          <p:nvSpPr>
            <p:cNvPr id="865" name="Google Shape;865;p46"/>
            <p:cNvSpPr/>
            <p:nvPr/>
          </p:nvSpPr>
          <p:spPr>
            <a:xfrm>
              <a:off x="3641595" y="180138"/>
              <a:ext cx="3747897" cy="111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6"/>
            <p:cNvSpPr txBox="1"/>
            <p:nvPr/>
          </p:nvSpPr>
          <p:spPr>
            <a:xfrm>
              <a:off x="3641595" y="180138"/>
              <a:ext cx="3747897" cy="1119280"/>
            </a:xfrm>
            <a:prstGeom prst="rect">
              <a:avLst/>
            </a:prstGeom>
            <a:noFill/>
            <a:ln>
              <a:noFill/>
            </a:ln>
          </p:spPr>
          <p:txBody>
            <a:bodyPr spcFirstLastPara="1" wrap="square" lIns="60950" tIns="60950" rIns="60950" bIns="60950"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Establish IHC</a:t>
              </a:r>
              <a:endParaRPr/>
            </a:p>
            <a:p>
              <a:pPr marL="171450" marR="0" lvl="1" indent="-171450" algn="l" rtl="0">
                <a:lnSpc>
                  <a:spcPct val="90000"/>
                </a:lnSpc>
                <a:spcBef>
                  <a:spcPts val="24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Develop Halal Policy and Objectives</a:t>
              </a:r>
              <a:endParaRPr/>
            </a:p>
            <a:p>
              <a:pPr marL="171450" marR="0" lvl="1" indent="-171450" algn="l" rtl="0">
                <a:lnSpc>
                  <a:spcPct val="90000"/>
                </a:lnSpc>
                <a:spcBef>
                  <a:spcPts val="24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Develop IHC’s Terms of Reference (TOR)</a:t>
              </a:r>
              <a:endParaRPr/>
            </a:p>
          </p:txBody>
        </p:sp>
        <p:sp>
          <p:nvSpPr>
            <p:cNvPr id="867" name="Google Shape;867;p46"/>
            <p:cNvSpPr/>
            <p:nvPr/>
          </p:nvSpPr>
          <p:spPr>
            <a:xfrm rot="5400000">
              <a:off x="4073512" y="2884461"/>
              <a:ext cx="1175244" cy="1337974"/>
            </a:xfrm>
            <a:prstGeom prst="bentUpArrow">
              <a:avLst>
                <a:gd name="adj1" fmla="val 32840"/>
                <a:gd name="adj2" fmla="val 25000"/>
                <a:gd name="adj3" fmla="val 35780"/>
              </a:avLst>
            </a:prstGeom>
            <a:solidFill>
              <a:srgbClr val="FAEAE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6"/>
            <p:cNvSpPr/>
            <p:nvPr/>
          </p:nvSpPr>
          <p:spPr>
            <a:xfrm>
              <a:off x="3762144" y="1581679"/>
              <a:ext cx="1978420" cy="1384829"/>
            </a:xfrm>
            <a:prstGeom prst="roundRect">
              <a:avLst>
                <a:gd name="adj" fmla="val 16670"/>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6"/>
            <p:cNvSpPr txBox="1"/>
            <p:nvPr/>
          </p:nvSpPr>
          <p:spPr>
            <a:xfrm>
              <a:off x="3829758" y="1649293"/>
              <a:ext cx="1843192" cy="1249601"/>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Conduct Halal Risk Management Analysis</a:t>
              </a:r>
              <a:endParaRPr/>
            </a:p>
          </p:txBody>
        </p:sp>
        <p:sp>
          <p:nvSpPr>
            <p:cNvPr id="870" name="Google Shape;870;p46"/>
            <p:cNvSpPr/>
            <p:nvPr/>
          </p:nvSpPr>
          <p:spPr>
            <a:xfrm>
              <a:off x="5866951" y="1722954"/>
              <a:ext cx="3866204" cy="111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6"/>
            <p:cNvSpPr txBox="1"/>
            <p:nvPr/>
          </p:nvSpPr>
          <p:spPr>
            <a:xfrm>
              <a:off x="5866951" y="1722954"/>
              <a:ext cx="3866204" cy="1119280"/>
            </a:xfrm>
            <a:prstGeom prst="rect">
              <a:avLst/>
            </a:prstGeom>
            <a:noFill/>
            <a:ln>
              <a:noFill/>
            </a:ln>
          </p:spPr>
          <p:txBody>
            <a:bodyPr spcFirstLastPara="1" wrap="square" lIns="60950" tIns="60950" rIns="60950" bIns="60950"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Describe product/services</a:t>
              </a:r>
              <a:endParaRPr/>
            </a:p>
            <a:p>
              <a:pPr marL="171450" marR="0" lvl="1" indent="-171450" algn="l" rtl="0">
                <a:lnSpc>
                  <a:spcPct val="90000"/>
                </a:lnSpc>
                <a:spcBef>
                  <a:spcPts val="24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Develop process flow and plant layout diagram</a:t>
              </a:r>
              <a:endParaRPr/>
            </a:p>
            <a:p>
              <a:pPr marL="171450" marR="0" lvl="1" indent="-171450" algn="l" rtl="0">
                <a:lnSpc>
                  <a:spcPct val="90000"/>
                </a:lnSpc>
                <a:spcBef>
                  <a:spcPts val="24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Identify Halal Control Point (HCP)</a:t>
              </a:r>
              <a:endParaRPr/>
            </a:p>
          </p:txBody>
        </p:sp>
        <p:sp>
          <p:nvSpPr>
            <p:cNvPr id="872" name="Google Shape;872;p46"/>
            <p:cNvSpPr/>
            <p:nvPr/>
          </p:nvSpPr>
          <p:spPr>
            <a:xfrm>
              <a:off x="5956620" y="3137300"/>
              <a:ext cx="1978420" cy="1384829"/>
            </a:xfrm>
            <a:prstGeom prst="roundRect">
              <a:avLst>
                <a:gd name="adj" fmla="val 16670"/>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6"/>
            <p:cNvSpPr txBox="1"/>
            <p:nvPr/>
          </p:nvSpPr>
          <p:spPr>
            <a:xfrm>
              <a:off x="6024234" y="3204914"/>
              <a:ext cx="1843192" cy="1249601"/>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Develop Halal Risk Management Plan</a:t>
              </a:r>
              <a:endParaRPr/>
            </a:p>
          </p:txBody>
        </p:sp>
        <p:sp>
          <p:nvSpPr>
            <p:cNvPr id="874" name="Google Shape;874;p46"/>
            <p:cNvSpPr/>
            <p:nvPr/>
          </p:nvSpPr>
          <p:spPr>
            <a:xfrm>
              <a:off x="8002403" y="3291380"/>
              <a:ext cx="3173712" cy="111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6"/>
            <p:cNvSpPr txBox="1"/>
            <p:nvPr/>
          </p:nvSpPr>
          <p:spPr>
            <a:xfrm>
              <a:off x="8002403" y="3291380"/>
              <a:ext cx="3173712" cy="1119280"/>
            </a:xfrm>
            <a:prstGeom prst="rect">
              <a:avLst/>
            </a:prstGeom>
            <a:noFill/>
            <a:ln>
              <a:noFill/>
            </a:ln>
          </p:spPr>
          <p:txBody>
            <a:bodyPr spcFirstLastPara="1" wrap="square" lIns="60950" tIns="60950" rIns="60950" bIns="60950"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Develop Monitoring system</a:t>
              </a:r>
              <a:endParaRPr/>
            </a:p>
            <a:p>
              <a:pPr marL="171450" marR="0" lvl="1" indent="-171450" algn="l" rtl="0">
                <a:lnSpc>
                  <a:spcPct val="90000"/>
                </a:lnSpc>
                <a:spcBef>
                  <a:spcPts val="24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Develop corrective action</a:t>
              </a:r>
              <a:endParaRPr/>
            </a:p>
            <a:p>
              <a:pPr marL="171450" marR="0" lvl="1" indent="-171450" algn="l" rtl="0">
                <a:lnSpc>
                  <a:spcPct val="90000"/>
                </a:lnSpc>
                <a:spcBef>
                  <a:spcPts val="24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Develop verification procedure</a:t>
              </a:r>
              <a:endParaRPr/>
            </a:p>
            <a:p>
              <a:pPr marL="171450" marR="0" lvl="1" indent="-171450" algn="l" rtl="0">
                <a:lnSpc>
                  <a:spcPct val="90000"/>
                </a:lnSpc>
                <a:spcBef>
                  <a:spcPts val="24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 documentation and records </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47"/>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INTEGRATION WITH EXISTING MANAGEMENT SYSTEMS</a:t>
            </a:r>
            <a:endParaRPr/>
          </a:p>
        </p:txBody>
      </p:sp>
      <p:grpSp>
        <p:nvGrpSpPr>
          <p:cNvPr id="881" name="Google Shape;881;p47"/>
          <p:cNvGrpSpPr/>
          <p:nvPr/>
        </p:nvGrpSpPr>
        <p:grpSpPr>
          <a:xfrm>
            <a:off x="840272" y="1981207"/>
            <a:ext cx="10511458" cy="3481829"/>
            <a:chOff x="2070" y="713926"/>
            <a:chExt cx="10511458" cy="3481829"/>
          </a:xfrm>
        </p:grpSpPr>
        <p:sp>
          <p:nvSpPr>
            <p:cNvPr id="882" name="Google Shape;882;p47"/>
            <p:cNvSpPr/>
            <p:nvPr/>
          </p:nvSpPr>
          <p:spPr>
            <a:xfrm>
              <a:off x="2070" y="713926"/>
              <a:ext cx="3284744" cy="2263189"/>
            </a:xfrm>
            <a:prstGeom prst="roundRect">
              <a:avLst>
                <a:gd name="adj" fmla="val 16667"/>
              </a:avLst>
            </a:prstGeom>
            <a:blipFill rotWithShape="1">
              <a:blip r:embed="rId3">
                <a:alphaModFix/>
              </a:blip>
              <a:stretch>
                <a:fillRect l="17679" t="3692" r="16549" b="15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7"/>
            <p:cNvSpPr/>
            <p:nvPr/>
          </p:nvSpPr>
          <p:spPr>
            <a:xfrm>
              <a:off x="2070" y="2977115"/>
              <a:ext cx="3284744" cy="12186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7"/>
            <p:cNvSpPr txBox="1"/>
            <p:nvPr/>
          </p:nvSpPr>
          <p:spPr>
            <a:xfrm>
              <a:off x="2070" y="2977115"/>
              <a:ext cx="3284744" cy="1218640"/>
            </a:xfrm>
            <a:prstGeom prst="rect">
              <a:avLst/>
            </a:prstGeom>
            <a:noFill/>
            <a:ln>
              <a:noFill/>
            </a:ln>
          </p:spPr>
          <p:txBody>
            <a:bodyPr spcFirstLastPara="1" wrap="square" lIns="241800" tIns="241800" rIns="241800" bIns="0" anchor="t" anchorCtr="0">
              <a:noAutofit/>
            </a:bodyPr>
            <a:lstStyle/>
            <a:p>
              <a:pPr marL="0" marR="0" lvl="0" indent="0" algn="ctr" rtl="0">
                <a:lnSpc>
                  <a:spcPct val="90000"/>
                </a:lnSpc>
                <a:spcBef>
                  <a:spcPts val="0"/>
                </a:spcBef>
                <a:spcAft>
                  <a:spcPts val="0"/>
                </a:spcAft>
                <a:buClr>
                  <a:schemeClr val="dk1"/>
                </a:buClr>
                <a:buSzPts val="3400"/>
                <a:buFont typeface="Calibri"/>
                <a:buNone/>
              </a:pPr>
              <a:r>
                <a:rPr lang="en-US" sz="3400">
                  <a:solidFill>
                    <a:schemeClr val="dk1"/>
                  </a:solidFill>
                  <a:latin typeface="Calibri"/>
                  <a:ea typeface="Calibri"/>
                  <a:cs typeface="Calibri"/>
                  <a:sym typeface="Calibri"/>
                </a:rPr>
                <a:t>Avoid duplication</a:t>
              </a:r>
              <a:endParaRPr sz="3400">
                <a:solidFill>
                  <a:schemeClr val="dk1"/>
                </a:solidFill>
                <a:latin typeface="Calibri"/>
                <a:ea typeface="Calibri"/>
                <a:cs typeface="Calibri"/>
                <a:sym typeface="Calibri"/>
              </a:endParaRPr>
            </a:p>
          </p:txBody>
        </p:sp>
        <p:sp>
          <p:nvSpPr>
            <p:cNvPr id="885" name="Google Shape;885;p47"/>
            <p:cNvSpPr/>
            <p:nvPr/>
          </p:nvSpPr>
          <p:spPr>
            <a:xfrm>
              <a:off x="3615427" y="713926"/>
              <a:ext cx="3284744" cy="2263189"/>
            </a:xfrm>
            <a:prstGeom prst="roundRect">
              <a:avLst>
                <a:gd name="adj" fmla="val 16667"/>
              </a:avLst>
            </a:prstGeom>
            <a:blipFill rotWithShape="1">
              <a:blip r:embed="rId4">
                <a:alphaModFix/>
              </a:blip>
              <a:stretch>
                <a:fillRect l="-3999" r="-3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7"/>
            <p:cNvSpPr/>
            <p:nvPr/>
          </p:nvSpPr>
          <p:spPr>
            <a:xfrm>
              <a:off x="3615427" y="2977115"/>
              <a:ext cx="3284744" cy="12186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7"/>
            <p:cNvSpPr txBox="1"/>
            <p:nvPr/>
          </p:nvSpPr>
          <p:spPr>
            <a:xfrm>
              <a:off x="3615427" y="2977115"/>
              <a:ext cx="3284744" cy="1218640"/>
            </a:xfrm>
            <a:prstGeom prst="rect">
              <a:avLst/>
            </a:prstGeom>
            <a:noFill/>
            <a:ln>
              <a:noFill/>
            </a:ln>
          </p:spPr>
          <p:txBody>
            <a:bodyPr spcFirstLastPara="1" wrap="square" lIns="241800" tIns="241800" rIns="241800" bIns="0" anchor="t" anchorCtr="0">
              <a:noAutofit/>
            </a:bodyPr>
            <a:lstStyle/>
            <a:p>
              <a:pPr marL="0" marR="0" lvl="0" indent="0" algn="ctr" rtl="0">
                <a:lnSpc>
                  <a:spcPct val="90000"/>
                </a:lnSpc>
                <a:spcBef>
                  <a:spcPts val="0"/>
                </a:spcBef>
                <a:spcAft>
                  <a:spcPts val="0"/>
                </a:spcAft>
                <a:buClr>
                  <a:schemeClr val="dk1"/>
                </a:buClr>
                <a:buSzPts val="3400"/>
                <a:buFont typeface="Calibri"/>
                <a:buNone/>
              </a:pPr>
              <a:r>
                <a:rPr lang="en-US" sz="3400">
                  <a:solidFill>
                    <a:schemeClr val="dk1"/>
                  </a:solidFill>
                  <a:latin typeface="Calibri"/>
                  <a:ea typeface="Calibri"/>
                  <a:cs typeface="Calibri"/>
                  <a:sym typeface="Calibri"/>
                </a:rPr>
                <a:t>Reduce training burden</a:t>
              </a:r>
              <a:endParaRPr sz="3400">
                <a:solidFill>
                  <a:schemeClr val="dk1"/>
                </a:solidFill>
                <a:latin typeface="Calibri"/>
                <a:ea typeface="Calibri"/>
                <a:cs typeface="Calibri"/>
                <a:sym typeface="Calibri"/>
              </a:endParaRPr>
            </a:p>
          </p:txBody>
        </p:sp>
        <p:sp>
          <p:nvSpPr>
            <p:cNvPr id="888" name="Google Shape;888;p47"/>
            <p:cNvSpPr/>
            <p:nvPr/>
          </p:nvSpPr>
          <p:spPr>
            <a:xfrm>
              <a:off x="7228784" y="713926"/>
              <a:ext cx="3284744" cy="2263189"/>
            </a:xfrm>
            <a:prstGeom prst="roundRect">
              <a:avLst>
                <a:gd name="adj" fmla="val 16667"/>
              </a:avLst>
            </a:prstGeom>
            <a:blipFill rotWithShape="1">
              <a:blip r:embed="rId5">
                <a:alphaModFix/>
              </a:blip>
              <a:stretch>
                <a:fillRect l="-11133" r="-42861"/>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7"/>
            <p:cNvSpPr/>
            <p:nvPr/>
          </p:nvSpPr>
          <p:spPr>
            <a:xfrm>
              <a:off x="7228784" y="2977115"/>
              <a:ext cx="3284744" cy="12186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7"/>
            <p:cNvSpPr txBox="1"/>
            <p:nvPr/>
          </p:nvSpPr>
          <p:spPr>
            <a:xfrm>
              <a:off x="7228784" y="2977115"/>
              <a:ext cx="3284744" cy="1218640"/>
            </a:xfrm>
            <a:prstGeom prst="rect">
              <a:avLst/>
            </a:prstGeom>
            <a:noFill/>
            <a:ln>
              <a:noFill/>
            </a:ln>
          </p:spPr>
          <p:txBody>
            <a:bodyPr spcFirstLastPara="1" wrap="square" lIns="241800" tIns="241800" rIns="241800" bIns="0" anchor="t" anchorCtr="0">
              <a:noAutofit/>
            </a:bodyPr>
            <a:lstStyle/>
            <a:p>
              <a:pPr marL="0" marR="0" lvl="0" indent="0" algn="ctr" rtl="0">
                <a:lnSpc>
                  <a:spcPct val="90000"/>
                </a:lnSpc>
                <a:spcBef>
                  <a:spcPts val="0"/>
                </a:spcBef>
                <a:spcAft>
                  <a:spcPts val="0"/>
                </a:spcAft>
                <a:buClr>
                  <a:schemeClr val="dk1"/>
                </a:buClr>
                <a:buSzPts val="3400"/>
                <a:buFont typeface="Calibri"/>
                <a:buNone/>
              </a:pPr>
              <a:r>
                <a:rPr lang="en-US" sz="3400">
                  <a:solidFill>
                    <a:schemeClr val="dk1"/>
                  </a:solidFill>
                  <a:latin typeface="Calibri"/>
                  <a:ea typeface="Calibri"/>
                  <a:cs typeface="Calibri"/>
                  <a:sym typeface="Calibri"/>
                </a:rPr>
                <a:t>Improve effectiveness</a:t>
              </a:r>
              <a:endParaRPr sz="3400">
                <a:solidFill>
                  <a:schemeClr val="dk1"/>
                </a:solidFill>
                <a:latin typeface="Calibri"/>
                <a:ea typeface="Calibri"/>
                <a:cs typeface="Calibri"/>
                <a:sym typeface="Calibri"/>
              </a:endParaRPr>
            </a:p>
          </p:txBody>
        </p:sp>
      </p:grpSp>
      <p:sp>
        <p:nvSpPr>
          <p:cNvPr id="891" name="Google Shape;891;p4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892" name="Google Shape;892;p4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893" name="Google Shape;893;p4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
        <p:nvSpPr>
          <p:cNvPr id="894" name="Google Shape;894;p47"/>
          <p:cNvSpPr txBox="1"/>
          <p:nvPr/>
        </p:nvSpPr>
        <p:spPr>
          <a:xfrm>
            <a:off x="838198" y="1267281"/>
            <a:ext cx="61205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Calibri"/>
                <a:ea typeface="Calibri"/>
                <a:cs typeface="Calibri"/>
                <a:sym typeface="Calibri"/>
              </a:rPr>
              <a:t>Why Integration is Important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48"/>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INTEGRATION WITH EXISTING MANAGEMENT SYSTEMS</a:t>
            </a:r>
            <a:endParaRPr/>
          </a:p>
        </p:txBody>
      </p:sp>
      <p:grpSp>
        <p:nvGrpSpPr>
          <p:cNvPr id="900" name="Google Shape;900;p48"/>
          <p:cNvGrpSpPr/>
          <p:nvPr/>
        </p:nvGrpSpPr>
        <p:grpSpPr>
          <a:xfrm>
            <a:off x="838202" y="2139404"/>
            <a:ext cx="4353230" cy="4021920"/>
            <a:chOff x="0" y="15637"/>
            <a:chExt cx="4353230" cy="4021920"/>
          </a:xfrm>
        </p:grpSpPr>
        <p:sp>
          <p:nvSpPr>
            <p:cNvPr id="901" name="Google Shape;901;p48"/>
            <p:cNvSpPr/>
            <p:nvPr/>
          </p:nvSpPr>
          <p:spPr>
            <a:xfrm>
              <a:off x="0" y="15637"/>
              <a:ext cx="4353230" cy="71136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8"/>
            <p:cNvSpPr txBox="1"/>
            <p:nvPr/>
          </p:nvSpPr>
          <p:spPr>
            <a:xfrm>
              <a:off x="34726" y="50363"/>
              <a:ext cx="4283778" cy="641908"/>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ISO 9001</a:t>
              </a:r>
              <a:endParaRPr/>
            </a:p>
          </p:txBody>
        </p:sp>
        <p:sp>
          <p:nvSpPr>
            <p:cNvPr id="903" name="Google Shape;903;p48"/>
            <p:cNvSpPr/>
            <p:nvPr/>
          </p:nvSpPr>
          <p:spPr>
            <a:xfrm>
              <a:off x="0" y="726997"/>
              <a:ext cx="4353230" cy="62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8"/>
            <p:cNvSpPr txBox="1"/>
            <p:nvPr/>
          </p:nvSpPr>
          <p:spPr>
            <a:xfrm>
              <a:off x="0" y="726997"/>
              <a:ext cx="4353230" cy="629280"/>
            </a:xfrm>
            <a:prstGeom prst="rect">
              <a:avLst/>
            </a:prstGeom>
            <a:noFill/>
            <a:ln>
              <a:noFill/>
            </a:ln>
          </p:spPr>
          <p:txBody>
            <a:bodyPr spcFirstLastPara="1" wrap="square" lIns="138200" tIns="25400" rIns="142225" bIns="25400" anchor="t" anchorCtr="0">
              <a:noAutofit/>
            </a:bodyPr>
            <a:lstStyle/>
            <a:p>
              <a:pPr marL="228600" marR="0" lvl="1" indent="-228600" algn="l" rtl="0">
                <a:lnSpc>
                  <a:spcPct val="9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document control</a:t>
              </a:r>
              <a:endParaRPr/>
            </a:p>
          </p:txBody>
        </p:sp>
        <p:sp>
          <p:nvSpPr>
            <p:cNvPr id="905" name="Google Shape;905;p48"/>
            <p:cNvSpPr/>
            <p:nvPr/>
          </p:nvSpPr>
          <p:spPr>
            <a:xfrm>
              <a:off x="0" y="1356277"/>
              <a:ext cx="4353230" cy="71136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8"/>
            <p:cNvSpPr txBox="1"/>
            <p:nvPr/>
          </p:nvSpPr>
          <p:spPr>
            <a:xfrm>
              <a:off x="34726" y="1391003"/>
              <a:ext cx="4283778" cy="641908"/>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ISO 22000 / HACCP</a:t>
              </a:r>
              <a:endParaRPr/>
            </a:p>
          </p:txBody>
        </p:sp>
        <p:sp>
          <p:nvSpPr>
            <p:cNvPr id="907" name="Google Shape;907;p48"/>
            <p:cNvSpPr/>
            <p:nvPr/>
          </p:nvSpPr>
          <p:spPr>
            <a:xfrm>
              <a:off x="0" y="2067637"/>
              <a:ext cx="4353230" cy="62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8"/>
            <p:cNvSpPr txBox="1"/>
            <p:nvPr/>
          </p:nvSpPr>
          <p:spPr>
            <a:xfrm>
              <a:off x="0" y="2067637"/>
              <a:ext cx="4353230" cy="629280"/>
            </a:xfrm>
            <a:prstGeom prst="rect">
              <a:avLst/>
            </a:prstGeom>
            <a:noFill/>
            <a:ln>
              <a:noFill/>
            </a:ln>
          </p:spPr>
          <p:txBody>
            <a:bodyPr spcFirstLastPara="1" wrap="square" lIns="138200" tIns="25400" rIns="142225" bIns="25400" anchor="t" anchorCtr="0">
              <a:noAutofit/>
            </a:bodyPr>
            <a:lstStyle/>
            <a:p>
              <a:pPr marL="228600" marR="0" lvl="1" indent="-228600" algn="l" rtl="0">
                <a:lnSpc>
                  <a:spcPct val="9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 risk management</a:t>
              </a:r>
              <a:endParaRPr/>
            </a:p>
          </p:txBody>
        </p:sp>
        <p:sp>
          <p:nvSpPr>
            <p:cNvPr id="909" name="Google Shape;909;p48"/>
            <p:cNvSpPr/>
            <p:nvPr/>
          </p:nvSpPr>
          <p:spPr>
            <a:xfrm>
              <a:off x="0" y="2696917"/>
              <a:ext cx="4353230" cy="71136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8"/>
            <p:cNvSpPr txBox="1"/>
            <p:nvPr/>
          </p:nvSpPr>
          <p:spPr>
            <a:xfrm>
              <a:off x="34726" y="2731643"/>
              <a:ext cx="4283778" cy="641908"/>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GMP</a:t>
              </a:r>
              <a:endParaRPr/>
            </a:p>
          </p:txBody>
        </p:sp>
        <p:sp>
          <p:nvSpPr>
            <p:cNvPr id="911" name="Google Shape;911;p48"/>
            <p:cNvSpPr/>
            <p:nvPr/>
          </p:nvSpPr>
          <p:spPr>
            <a:xfrm>
              <a:off x="0" y="3408277"/>
              <a:ext cx="4353230" cy="6292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8"/>
            <p:cNvSpPr txBox="1"/>
            <p:nvPr/>
          </p:nvSpPr>
          <p:spPr>
            <a:xfrm>
              <a:off x="0" y="3408277"/>
              <a:ext cx="4353230" cy="629280"/>
            </a:xfrm>
            <a:prstGeom prst="rect">
              <a:avLst/>
            </a:prstGeom>
            <a:noFill/>
            <a:ln>
              <a:noFill/>
            </a:ln>
          </p:spPr>
          <p:txBody>
            <a:bodyPr spcFirstLastPara="1" wrap="square" lIns="138200" tIns="25400" rIns="142225" bIns="25400" anchor="t" anchorCtr="0">
              <a:noAutofit/>
            </a:bodyPr>
            <a:lstStyle/>
            <a:p>
              <a:pPr marL="228600" marR="0" lvl="1" indent="-228600" algn="l" rtl="0">
                <a:lnSpc>
                  <a:spcPct val="9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sanitation &amp; hygiene</a:t>
              </a:r>
              <a:endParaRPr/>
            </a:p>
          </p:txBody>
        </p:sp>
      </p:grpSp>
      <p:sp>
        <p:nvSpPr>
          <p:cNvPr id="913" name="Google Shape;913;p4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914" name="Google Shape;914;p4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915" name="Google Shape;915;p4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
        <p:nvSpPr>
          <p:cNvPr id="916" name="Google Shape;916;p48"/>
          <p:cNvSpPr txBox="1"/>
          <p:nvPr/>
        </p:nvSpPr>
        <p:spPr>
          <a:xfrm>
            <a:off x="838199" y="1358998"/>
            <a:ext cx="612058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HAS may integrate with:</a:t>
            </a:r>
            <a:endParaRPr/>
          </a:p>
        </p:txBody>
      </p:sp>
      <p:sp>
        <p:nvSpPr>
          <p:cNvPr id="917" name="Google Shape;917;p48"/>
          <p:cNvSpPr txBox="1"/>
          <p:nvPr/>
        </p:nvSpPr>
        <p:spPr>
          <a:xfrm>
            <a:off x="5773993" y="2162183"/>
            <a:ext cx="5579805" cy="2246769"/>
          </a:xfrm>
          <a:prstGeom prst="rect">
            <a:avLst/>
          </a:prstGeom>
          <a:solidFill>
            <a:srgbClr val="D8E2F3"/>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800"/>
              <a:buFont typeface="Calibri"/>
              <a:buNone/>
            </a:pP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Example</a:t>
            </a:r>
            <a:endParaRPr/>
          </a:p>
          <a:p>
            <a:pPr marL="0" marR="0" lvl="0" indent="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Same cleaning SOP used for:</a:t>
            </a:r>
            <a:endParaRPr/>
          </a:p>
          <a:p>
            <a:pPr marL="971550" marR="0" lvl="1" indent="-514350" algn="l" rtl="0">
              <a:spcBef>
                <a:spcPts val="0"/>
              </a:spcBef>
              <a:spcAft>
                <a:spcPts val="0"/>
              </a:spcAft>
              <a:buClr>
                <a:schemeClr val="dk1"/>
              </a:buClr>
              <a:buSzPts val="2800"/>
              <a:buFont typeface="Calibri"/>
              <a:buAutoNum type="arabicPeriod"/>
            </a:pPr>
            <a:r>
              <a:rPr lang="en-US" sz="2800" b="0" i="0" u="none" strike="noStrike" cap="none">
                <a:solidFill>
                  <a:schemeClr val="dk1"/>
                </a:solidFill>
                <a:latin typeface="Calibri"/>
                <a:ea typeface="Calibri"/>
                <a:cs typeface="Calibri"/>
                <a:sym typeface="Calibri"/>
              </a:rPr>
              <a:t>Food safety</a:t>
            </a:r>
            <a:endParaRPr/>
          </a:p>
          <a:p>
            <a:pPr marL="971550" marR="0" lvl="1" indent="-514350" algn="l" rtl="0">
              <a:spcBef>
                <a:spcPts val="0"/>
              </a:spcBef>
              <a:spcAft>
                <a:spcPts val="0"/>
              </a:spcAft>
              <a:buClr>
                <a:schemeClr val="dk1"/>
              </a:buClr>
              <a:buSzPts val="2800"/>
              <a:buFont typeface="Calibri"/>
              <a:buAutoNum type="arabicPeriod"/>
            </a:pPr>
            <a:r>
              <a:rPr lang="en-US" sz="2800" b="0" i="0" u="none" strike="noStrike" cap="none">
                <a:solidFill>
                  <a:schemeClr val="dk1"/>
                </a:solidFill>
                <a:latin typeface="Calibri"/>
                <a:ea typeface="Calibri"/>
                <a:cs typeface="Calibri"/>
                <a:sym typeface="Calibri"/>
              </a:rPr>
              <a:t>Halal compliance</a:t>
            </a:r>
            <a:endParaRPr/>
          </a:p>
        </p:txBody>
      </p:sp>
      <p:pic>
        <p:nvPicPr>
          <p:cNvPr id="918" name="Google Shape;918;p48" descr="What Are the Six Stages of Cleaning?"/>
          <p:cNvPicPr preferRelativeResize="0"/>
          <p:nvPr/>
        </p:nvPicPr>
        <p:blipFill rotWithShape="1">
          <a:blip r:embed="rId3">
            <a:alphaModFix/>
          </a:blip>
          <a:srcRect/>
          <a:stretch/>
        </p:blipFill>
        <p:spPr>
          <a:xfrm>
            <a:off x="5773993" y="4613276"/>
            <a:ext cx="2619375" cy="1743075"/>
          </a:xfrm>
          <a:prstGeom prst="rect">
            <a:avLst/>
          </a:prstGeom>
          <a:noFill/>
          <a:ln>
            <a:noFill/>
          </a:ln>
        </p:spPr>
      </p:pic>
      <p:pic>
        <p:nvPicPr>
          <p:cNvPr id="919" name="Google Shape;919;p48" descr="Cleaning Tips for Every Room in the House"/>
          <p:cNvPicPr preferRelativeResize="0"/>
          <p:nvPr/>
        </p:nvPicPr>
        <p:blipFill rotWithShape="1">
          <a:blip r:embed="rId4">
            <a:alphaModFix/>
          </a:blip>
          <a:srcRect/>
          <a:stretch/>
        </p:blipFill>
        <p:spPr>
          <a:xfrm>
            <a:off x="8463578" y="4593817"/>
            <a:ext cx="2890220" cy="176253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49"/>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PRACTICAL EXAMPLE</a:t>
            </a:r>
            <a:endParaRPr/>
          </a:p>
        </p:txBody>
      </p:sp>
      <p:sp>
        <p:nvSpPr>
          <p:cNvPr id="925" name="Google Shape;925;p49"/>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highlight>
                  <a:srgbClr val="00FFFF"/>
                </a:highlight>
              </a:rPr>
              <a:t>Example 1: Raw Material Control</a:t>
            </a:r>
            <a:endParaRPr/>
          </a:p>
          <a:p>
            <a:pPr marL="228604" lvl="0" indent="-76204" algn="l" rtl="0">
              <a:lnSpc>
                <a:spcPct val="90000"/>
              </a:lnSpc>
              <a:spcBef>
                <a:spcPts val="1001"/>
              </a:spcBef>
              <a:spcAft>
                <a:spcPts val="0"/>
              </a:spcAft>
              <a:buClr>
                <a:schemeClr val="dk1"/>
              </a:buClr>
              <a:buSzPts val="2400"/>
              <a:buNone/>
            </a:pPr>
            <a:endParaRPr sz="2400"/>
          </a:p>
          <a:p>
            <a:pPr marL="228604" lvl="0" indent="-228604" algn="l" rtl="0">
              <a:lnSpc>
                <a:spcPct val="90000"/>
              </a:lnSpc>
              <a:spcBef>
                <a:spcPts val="1001"/>
              </a:spcBef>
              <a:spcAft>
                <a:spcPts val="0"/>
              </a:spcAft>
              <a:buClr>
                <a:schemeClr val="dk1"/>
              </a:buClr>
              <a:buSzPts val="2400"/>
              <a:buChar char="•"/>
            </a:pPr>
            <a:r>
              <a:rPr lang="en-US" sz="2400"/>
              <a:t>Purchasing receives new ingredient</a:t>
            </a:r>
            <a:endParaRPr/>
          </a:p>
          <a:p>
            <a:pPr marL="228604" lvl="0" indent="-228604" algn="l" rtl="0">
              <a:lnSpc>
                <a:spcPct val="90000"/>
              </a:lnSpc>
              <a:spcBef>
                <a:spcPts val="1001"/>
              </a:spcBef>
              <a:spcAft>
                <a:spcPts val="0"/>
              </a:spcAft>
              <a:buClr>
                <a:schemeClr val="dk1"/>
              </a:buClr>
              <a:buSzPts val="2400"/>
              <a:buChar char="•"/>
            </a:pPr>
            <a:r>
              <a:rPr lang="en-US" sz="2400"/>
              <a:t>QA checks:</a:t>
            </a:r>
            <a:endParaRPr/>
          </a:p>
          <a:p>
            <a:pPr marL="685809" lvl="1" indent="-228604" algn="l" rtl="0">
              <a:lnSpc>
                <a:spcPct val="90000"/>
              </a:lnSpc>
              <a:spcBef>
                <a:spcPts val="500"/>
              </a:spcBef>
              <a:spcAft>
                <a:spcPts val="0"/>
              </a:spcAft>
              <a:buClr>
                <a:schemeClr val="dk1"/>
              </a:buClr>
              <a:buSzPts val="2400"/>
              <a:buChar char="•"/>
            </a:pPr>
            <a:r>
              <a:rPr lang="en-US"/>
              <a:t>Halal certificate</a:t>
            </a:r>
            <a:endParaRPr/>
          </a:p>
          <a:p>
            <a:pPr marL="685809" lvl="1" indent="-228604" algn="l" rtl="0">
              <a:lnSpc>
                <a:spcPct val="90000"/>
              </a:lnSpc>
              <a:spcBef>
                <a:spcPts val="500"/>
              </a:spcBef>
              <a:spcAft>
                <a:spcPts val="0"/>
              </a:spcAft>
              <a:buClr>
                <a:schemeClr val="dk1"/>
              </a:buClr>
              <a:buSzPts val="2400"/>
              <a:buChar char="•"/>
            </a:pPr>
            <a:r>
              <a:rPr lang="en-US"/>
              <a:t>Supplier approval</a:t>
            </a:r>
            <a:endParaRPr/>
          </a:p>
          <a:p>
            <a:pPr marL="228604" lvl="0" indent="-228604" algn="l" rtl="0">
              <a:lnSpc>
                <a:spcPct val="90000"/>
              </a:lnSpc>
              <a:spcBef>
                <a:spcPts val="1001"/>
              </a:spcBef>
              <a:spcAft>
                <a:spcPts val="0"/>
              </a:spcAft>
              <a:buClr>
                <a:schemeClr val="dk1"/>
              </a:buClr>
              <a:buSzPts val="2400"/>
              <a:buChar char="•"/>
            </a:pPr>
            <a:r>
              <a:rPr lang="en-US" sz="2400"/>
              <a:t>Material released only after verification</a:t>
            </a:r>
            <a:endParaRPr/>
          </a:p>
          <a:p>
            <a:pPr marL="228604" lvl="0" indent="-50803" algn="l" rtl="0">
              <a:lnSpc>
                <a:spcPct val="90000"/>
              </a:lnSpc>
              <a:spcBef>
                <a:spcPts val="1001"/>
              </a:spcBef>
              <a:spcAft>
                <a:spcPts val="0"/>
              </a:spcAft>
              <a:buClr>
                <a:schemeClr val="dk1"/>
              </a:buClr>
              <a:buSzPts val="2800"/>
              <a:buNone/>
            </a:pPr>
            <a:endParaRPr/>
          </a:p>
          <a:p>
            <a:pPr marL="0" lvl="0" indent="0" algn="l" rtl="0">
              <a:lnSpc>
                <a:spcPct val="90000"/>
              </a:lnSpc>
              <a:spcBef>
                <a:spcPts val="1001"/>
              </a:spcBef>
              <a:spcAft>
                <a:spcPts val="0"/>
              </a:spcAft>
              <a:buClr>
                <a:schemeClr val="dk1"/>
              </a:buClr>
              <a:buSzPts val="2800"/>
              <a:buNone/>
            </a:pPr>
            <a:r>
              <a:rPr lang="en-US"/>
              <a:t>❌ Without verification → </a:t>
            </a:r>
            <a:r>
              <a:rPr lang="en-US" b="1"/>
              <a:t>Major NCR</a:t>
            </a:r>
            <a:endParaRPr/>
          </a:p>
          <a:p>
            <a:pPr marL="228604" lvl="0" indent="-50803" algn="l" rtl="0">
              <a:lnSpc>
                <a:spcPct val="90000"/>
              </a:lnSpc>
              <a:spcBef>
                <a:spcPts val="1001"/>
              </a:spcBef>
              <a:spcAft>
                <a:spcPts val="0"/>
              </a:spcAft>
              <a:buClr>
                <a:schemeClr val="dk1"/>
              </a:buClr>
              <a:buSzPts val="2800"/>
              <a:buNone/>
            </a:pPr>
            <a:endParaRPr/>
          </a:p>
        </p:txBody>
      </p:sp>
      <p:sp>
        <p:nvSpPr>
          <p:cNvPr id="926" name="Google Shape;926;p4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927" name="Google Shape;927;p4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928" name="Google Shape;928;p4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pic>
        <p:nvPicPr>
          <p:cNvPr id="929" name="Google Shape;929;p49"/>
          <p:cNvPicPr preferRelativeResize="0"/>
          <p:nvPr/>
        </p:nvPicPr>
        <p:blipFill rotWithShape="1">
          <a:blip r:embed="rId3">
            <a:alphaModFix/>
          </a:blip>
          <a:srcRect/>
          <a:stretch/>
        </p:blipFill>
        <p:spPr>
          <a:xfrm>
            <a:off x="6688239" y="1267281"/>
            <a:ext cx="4401501" cy="1643067"/>
          </a:xfrm>
          <a:prstGeom prst="rect">
            <a:avLst/>
          </a:prstGeom>
          <a:noFill/>
          <a:ln>
            <a:noFill/>
          </a:ln>
        </p:spPr>
      </p:pic>
      <p:pic>
        <p:nvPicPr>
          <p:cNvPr id="930" name="Google Shape;930;p49"/>
          <p:cNvPicPr preferRelativeResize="0"/>
          <p:nvPr/>
        </p:nvPicPr>
        <p:blipFill rotWithShape="1">
          <a:blip r:embed="rId4">
            <a:alphaModFix/>
          </a:blip>
          <a:srcRect/>
          <a:stretch/>
        </p:blipFill>
        <p:spPr>
          <a:xfrm>
            <a:off x="8270340" y="3071849"/>
            <a:ext cx="2819400" cy="16192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50"/>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COMMON AUDIT FINDINGS RELATED TO HAS</a:t>
            </a:r>
            <a:endParaRPr/>
          </a:p>
        </p:txBody>
      </p:sp>
      <p:graphicFrame>
        <p:nvGraphicFramePr>
          <p:cNvPr id="936" name="Google Shape;936;p50"/>
          <p:cNvGraphicFramePr/>
          <p:nvPr/>
        </p:nvGraphicFramePr>
        <p:xfrm>
          <a:off x="838200" y="1266825"/>
          <a:ext cx="3000000" cy="3000000"/>
        </p:xfrm>
        <a:graphic>
          <a:graphicData uri="http://schemas.openxmlformats.org/drawingml/2006/table">
            <a:tbl>
              <a:tblPr firstRow="1" bandRow="1">
                <a:noFill/>
                <a:tableStyleId>{BECD6F48-8B51-4161-AC7E-E7DA0691A067}</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1"/>
                        <a:t>Audit Finding(s)</a:t>
                      </a:r>
                      <a:endParaRPr/>
                    </a:p>
                  </a:txBody>
                  <a:tcPr marL="91450" marR="91450" marT="45725" marB="45725">
                    <a:noFill/>
                  </a:tcPr>
                </a:tc>
                <a:tc>
                  <a:txBody>
                    <a:bodyPr/>
                    <a:lstStyle/>
                    <a:p>
                      <a:pPr marL="0" marR="0" lvl="0" indent="0" algn="l" rtl="0">
                        <a:spcBef>
                          <a:spcPts val="0"/>
                        </a:spcBef>
                        <a:spcAft>
                          <a:spcPts val="0"/>
                        </a:spcAft>
                        <a:buNone/>
                      </a:pPr>
                      <a:r>
                        <a:rPr lang="en-US" sz="1801"/>
                        <a:t>Risk Level</a:t>
                      </a:r>
                      <a:endParaRPr/>
                    </a:p>
                  </a:txBody>
                  <a:tcPr marL="91450" marR="91450" marT="45725" marB="45725">
                    <a:no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Clr>
                          <a:schemeClr val="dk1"/>
                        </a:buClr>
                        <a:buSzPts val="1801"/>
                        <a:buFont typeface="Calibri"/>
                        <a:buNone/>
                      </a:pPr>
                      <a:r>
                        <a:rPr lang="en-US" sz="1801"/>
                        <a:t>No halal risk assessment</a:t>
                      </a:r>
                      <a:endParaRPr/>
                    </a:p>
                  </a:txBody>
                  <a:tcPr marL="91450" marR="91450" marT="45725" marB="45725" anchor="ctr">
                    <a:noFill/>
                  </a:tcPr>
                </a:tc>
                <a:tc>
                  <a:txBody>
                    <a:bodyPr/>
                    <a:lstStyle/>
                    <a:p>
                      <a:pPr marL="0" marR="0" lvl="0" indent="0" algn="l" rtl="0">
                        <a:spcBef>
                          <a:spcPts val="0"/>
                        </a:spcBef>
                        <a:spcAft>
                          <a:spcPts val="0"/>
                        </a:spcAft>
                        <a:buNone/>
                      </a:pPr>
                      <a:r>
                        <a:rPr lang="en-US" sz="1801"/>
                        <a:t>Major NCR</a:t>
                      </a:r>
                      <a:endParaRPr/>
                    </a:p>
                  </a:txBody>
                  <a:tcPr marL="91450" marR="91450" marT="45725" marB="45725">
                    <a:noFill/>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1"/>
                        <a:t>HAS exists but not implemented</a:t>
                      </a:r>
                      <a:endParaRPr sz="1801"/>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801"/>
                        <a:buFont typeface="Calibri"/>
                        <a:buNone/>
                      </a:pPr>
                      <a:r>
                        <a:rPr lang="en-US" sz="1801" b="0" i="0" u="none" strike="noStrike" cap="none">
                          <a:solidFill>
                            <a:srgbClr val="000000"/>
                          </a:solidFill>
                          <a:latin typeface="Calibri"/>
                          <a:ea typeface="Calibri"/>
                          <a:cs typeface="Calibri"/>
                          <a:sym typeface="Calibri"/>
                        </a:rPr>
                        <a:t>Major NCR</a:t>
                      </a:r>
                      <a:endParaRPr sz="1801" b="0" i="0" u="none" strike="noStrike" cap="none">
                        <a:solidFill>
                          <a:srgbClr val="000000"/>
                        </a:solidFill>
                        <a:latin typeface="Calibri"/>
                        <a:ea typeface="Calibri"/>
                        <a:cs typeface="Calibri"/>
                        <a:sym typeface="Calibri"/>
                      </a:endParaRPr>
                    </a:p>
                  </a:txBody>
                  <a:tcPr marL="91450" marR="91450" marT="45725" marB="45725">
                    <a:no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1"/>
                        <a:t>No evidence of monitoring</a:t>
                      </a:r>
                      <a:endParaRPr/>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801"/>
                        <a:buFont typeface="Calibri"/>
                        <a:buNone/>
                      </a:pPr>
                      <a:r>
                        <a:rPr lang="en-US" sz="1801" b="0" i="0" u="none" strike="noStrike" cap="none">
                          <a:solidFill>
                            <a:srgbClr val="000000"/>
                          </a:solidFill>
                          <a:latin typeface="Calibri"/>
                          <a:ea typeface="Calibri"/>
                          <a:cs typeface="Calibri"/>
                          <a:sym typeface="Calibri"/>
                        </a:rPr>
                        <a:t>Major NCR</a:t>
                      </a:r>
                      <a:endParaRPr/>
                    </a:p>
                  </a:txBody>
                  <a:tcPr marL="91450" marR="91450" marT="45725" marB="45725">
                    <a:noFill/>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1"/>
                        <a:t>Records incomplete</a:t>
                      </a:r>
                      <a:endParaRPr/>
                    </a:p>
                  </a:txBody>
                  <a:tcPr marL="91450" marR="91450" marT="45725" marB="45725">
                    <a:noFill/>
                  </a:tcPr>
                </a:tc>
                <a:tc>
                  <a:txBody>
                    <a:bodyPr/>
                    <a:lstStyle/>
                    <a:p>
                      <a:pPr marL="0" marR="0" lvl="0" indent="0" algn="l" rtl="0">
                        <a:lnSpc>
                          <a:spcPct val="100000"/>
                        </a:lnSpc>
                        <a:spcBef>
                          <a:spcPts val="0"/>
                        </a:spcBef>
                        <a:spcAft>
                          <a:spcPts val="0"/>
                        </a:spcAft>
                        <a:buClr>
                          <a:schemeClr val="dk1"/>
                        </a:buClr>
                        <a:buSzPts val="1801"/>
                        <a:buFont typeface="Calibri"/>
                        <a:buNone/>
                      </a:pPr>
                      <a:r>
                        <a:rPr lang="en-US" sz="1801"/>
                        <a:t>Minor/Major NCR</a:t>
                      </a:r>
                      <a:endParaRPr/>
                    </a:p>
                  </a:txBody>
                  <a:tcPr marL="91450" marR="91450" marT="45725" marB="45725">
                    <a:noFill/>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1"/>
                        <a:t>Employees unaware of HAS</a:t>
                      </a:r>
                      <a:endParaRPr/>
                    </a:p>
                  </a:txBody>
                  <a:tcPr marL="91450" marR="91450" marT="45725" marB="45725">
                    <a:noFill/>
                  </a:tcPr>
                </a:tc>
                <a:tc>
                  <a:txBody>
                    <a:bodyPr/>
                    <a:lstStyle/>
                    <a:p>
                      <a:pPr marL="0" marR="0" lvl="0" indent="0" algn="l" rtl="0">
                        <a:lnSpc>
                          <a:spcPct val="100000"/>
                        </a:lnSpc>
                        <a:spcBef>
                          <a:spcPts val="0"/>
                        </a:spcBef>
                        <a:spcAft>
                          <a:spcPts val="0"/>
                        </a:spcAft>
                        <a:buClr>
                          <a:schemeClr val="dk1"/>
                        </a:buClr>
                        <a:buSzPts val="1801"/>
                        <a:buFont typeface="Calibri"/>
                        <a:buNone/>
                      </a:pPr>
                      <a:r>
                        <a:rPr lang="en-US" sz="1801"/>
                        <a:t>Minor NCR</a:t>
                      </a:r>
                      <a:endParaRPr/>
                    </a:p>
                  </a:txBody>
                  <a:tcPr marL="91450" marR="91450" marT="45725" marB="45725">
                    <a:noFill/>
                  </a:tcPr>
                </a:tc>
                <a:extLst>
                  <a:ext uri="{0D108BD9-81ED-4DB2-BD59-A6C34878D82A}">
                    <a16:rowId xmlns:a16="http://schemas.microsoft.com/office/drawing/2014/main" val="10005"/>
                  </a:ext>
                </a:extLst>
              </a:tr>
            </a:tbl>
          </a:graphicData>
        </a:graphic>
      </p:graphicFrame>
      <p:sp>
        <p:nvSpPr>
          <p:cNvPr id="937" name="Google Shape;937;p5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938" name="Google Shape;938;p5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939" name="Google Shape;939;p5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pic>
        <p:nvPicPr>
          <p:cNvPr id="940" name="Google Shape;940;p50"/>
          <p:cNvPicPr preferRelativeResize="0"/>
          <p:nvPr/>
        </p:nvPicPr>
        <p:blipFill rotWithShape="1">
          <a:blip r:embed="rId3">
            <a:alphaModFix/>
          </a:blip>
          <a:srcRect/>
          <a:stretch/>
        </p:blipFill>
        <p:spPr>
          <a:xfrm>
            <a:off x="838199" y="3733954"/>
            <a:ext cx="2848898" cy="2848898"/>
          </a:xfrm>
          <a:prstGeom prst="rect">
            <a:avLst/>
          </a:prstGeom>
          <a:noFill/>
          <a:ln>
            <a:noFill/>
          </a:ln>
        </p:spPr>
      </p:pic>
      <p:pic>
        <p:nvPicPr>
          <p:cNvPr id="941" name="Google Shape;941;p50"/>
          <p:cNvPicPr preferRelativeResize="0"/>
          <p:nvPr/>
        </p:nvPicPr>
        <p:blipFill rotWithShape="1">
          <a:blip r:embed="rId4">
            <a:alphaModFix/>
          </a:blip>
          <a:srcRect/>
          <a:stretch/>
        </p:blipFill>
        <p:spPr>
          <a:xfrm>
            <a:off x="4038602" y="3901102"/>
            <a:ext cx="3625900" cy="2175540"/>
          </a:xfrm>
          <a:prstGeom prst="rect">
            <a:avLst/>
          </a:prstGeom>
          <a:noFill/>
          <a:ln>
            <a:noFill/>
          </a:ln>
        </p:spPr>
      </p:pic>
      <p:pic>
        <p:nvPicPr>
          <p:cNvPr id="942" name="Google Shape;942;p50"/>
          <p:cNvPicPr preferRelativeResize="0"/>
          <p:nvPr/>
        </p:nvPicPr>
        <p:blipFill rotWithShape="1">
          <a:blip r:embed="rId5">
            <a:alphaModFix/>
          </a:blip>
          <a:srcRect/>
          <a:stretch/>
        </p:blipFill>
        <p:spPr>
          <a:xfrm>
            <a:off x="8163232" y="4033520"/>
            <a:ext cx="2571750" cy="17811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51"/>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endParaRPr/>
          </a:p>
        </p:txBody>
      </p:sp>
      <p:sp>
        <p:nvSpPr>
          <p:cNvPr id="948" name="Google Shape;948;p51"/>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a:t>The Halal Control &amp; Documentation System ensures that </a:t>
            </a:r>
            <a:r>
              <a:rPr lang="en-US" sz="2400" b="1"/>
              <a:t>all activities affecting halal integrity</a:t>
            </a:r>
            <a:r>
              <a:rPr lang="en-US" sz="2400"/>
              <a:t> are </a:t>
            </a:r>
            <a:r>
              <a:rPr lang="en-US" sz="2400" b="1"/>
              <a:t>properly controlled, documented, and traceable</a:t>
            </a:r>
            <a:r>
              <a:rPr lang="en-US" sz="2400"/>
              <a:t>. It provides a framework for </a:t>
            </a:r>
            <a:r>
              <a:rPr lang="en-US" sz="2400" b="1"/>
              <a:t>preventive control</a:t>
            </a:r>
            <a:r>
              <a:rPr lang="en-US" sz="2400"/>
              <a:t>, </a:t>
            </a:r>
            <a:r>
              <a:rPr lang="en-US" sz="2400" b="1"/>
              <a:t>auditable records</a:t>
            </a:r>
            <a:r>
              <a:rPr lang="en-US" sz="2400"/>
              <a:t>, and </a:t>
            </a:r>
            <a:r>
              <a:rPr lang="en-US" sz="2400" b="1"/>
              <a:t>evidence for certification</a:t>
            </a:r>
            <a:r>
              <a:rPr lang="en-US" sz="2400"/>
              <a:t>.</a:t>
            </a:r>
            <a:endParaRPr sz="2400"/>
          </a:p>
        </p:txBody>
      </p:sp>
      <p:sp>
        <p:nvSpPr>
          <p:cNvPr id="949" name="Google Shape;949;p5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950" name="Google Shape;950;p5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951" name="Google Shape;951;p5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
        <p:nvSpPr>
          <p:cNvPr id="952" name="Google Shape;952;p51"/>
          <p:cNvSpPr txBox="1"/>
          <p:nvPr/>
        </p:nvSpPr>
        <p:spPr>
          <a:xfrm>
            <a:off x="978312" y="2882999"/>
            <a:ext cx="10375486" cy="461665"/>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Calibri"/>
              <a:buNone/>
            </a:pPr>
            <a:r>
              <a:rPr lang="en-US" sz="2400" b="1">
                <a:solidFill>
                  <a:schemeClr val="dk1"/>
                </a:solidFill>
                <a:latin typeface="Calibri"/>
                <a:ea typeface="Calibri"/>
                <a:cs typeface="Calibri"/>
                <a:sym typeface="Calibri"/>
              </a:rPr>
              <a:t>If it is not documented, it did not happen</a:t>
            </a:r>
            <a:endParaRPr/>
          </a:p>
        </p:txBody>
      </p:sp>
      <p:pic>
        <p:nvPicPr>
          <p:cNvPr id="953" name="Google Shape;953;p51"/>
          <p:cNvPicPr preferRelativeResize="0"/>
          <p:nvPr/>
        </p:nvPicPr>
        <p:blipFill rotWithShape="1">
          <a:blip r:embed="rId3">
            <a:alphaModFix/>
          </a:blip>
          <a:srcRect/>
          <a:stretch/>
        </p:blipFill>
        <p:spPr>
          <a:xfrm>
            <a:off x="1617407" y="3429000"/>
            <a:ext cx="4427589" cy="2530051"/>
          </a:xfrm>
          <a:prstGeom prst="rect">
            <a:avLst/>
          </a:prstGeom>
          <a:noFill/>
          <a:ln>
            <a:noFill/>
          </a:ln>
        </p:spPr>
      </p:pic>
      <p:pic>
        <p:nvPicPr>
          <p:cNvPr id="954" name="Google Shape;954;p51"/>
          <p:cNvPicPr preferRelativeResize="0"/>
          <p:nvPr/>
        </p:nvPicPr>
        <p:blipFill rotWithShape="1">
          <a:blip r:embed="rId4">
            <a:alphaModFix/>
          </a:blip>
          <a:srcRect/>
          <a:stretch/>
        </p:blipFill>
        <p:spPr>
          <a:xfrm>
            <a:off x="6151921" y="3429000"/>
            <a:ext cx="4560152" cy="253005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52"/>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OBJECTIVES</a:t>
            </a:r>
            <a:endParaRPr/>
          </a:p>
        </p:txBody>
      </p:sp>
      <p:grpSp>
        <p:nvGrpSpPr>
          <p:cNvPr id="960" name="Google Shape;960;p52"/>
          <p:cNvGrpSpPr/>
          <p:nvPr/>
        </p:nvGrpSpPr>
        <p:grpSpPr>
          <a:xfrm>
            <a:off x="-4712922" y="417416"/>
            <a:ext cx="15998180" cy="6609412"/>
            <a:chOff x="-5551124" y="-849865"/>
            <a:chExt cx="15998180" cy="6609412"/>
          </a:xfrm>
        </p:grpSpPr>
        <p:sp>
          <p:nvSpPr>
            <p:cNvPr id="961" name="Google Shape;961;p52"/>
            <p:cNvSpPr/>
            <p:nvPr/>
          </p:nvSpPr>
          <p:spPr>
            <a:xfrm>
              <a:off x="-5551124" y="-849865"/>
              <a:ext cx="6609412" cy="6609412"/>
            </a:xfrm>
            <a:prstGeom prst="blockArc">
              <a:avLst>
                <a:gd name="adj1" fmla="val 18900000"/>
                <a:gd name="adj2" fmla="val 2700000"/>
                <a:gd name="adj3" fmla="val 327"/>
              </a:avLst>
            </a:pr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52"/>
            <p:cNvSpPr/>
            <p:nvPr/>
          </p:nvSpPr>
          <p:spPr>
            <a:xfrm>
              <a:off x="462684" y="306756"/>
              <a:ext cx="9984372" cy="613906"/>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52"/>
            <p:cNvSpPr txBox="1"/>
            <p:nvPr/>
          </p:nvSpPr>
          <p:spPr>
            <a:xfrm>
              <a:off x="462684" y="306756"/>
              <a:ext cx="9984372" cy="613906"/>
            </a:xfrm>
            <a:prstGeom prst="rect">
              <a:avLst/>
            </a:prstGeom>
            <a:noFill/>
            <a:ln>
              <a:noFill/>
            </a:ln>
          </p:spPr>
          <p:txBody>
            <a:bodyPr spcFirstLastPara="1" wrap="square" lIns="487275" tIns="58400" rIns="58400" bIns="58400"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Ensure all materials, processes, and products comply with halal requirements</a:t>
              </a:r>
              <a:endParaRPr sz="2300">
                <a:solidFill>
                  <a:schemeClr val="lt1"/>
                </a:solidFill>
                <a:latin typeface="Calibri"/>
                <a:ea typeface="Calibri"/>
                <a:cs typeface="Calibri"/>
                <a:sym typeface="Calibri"/>
              </a:endParaRPr>
            </a:p>
          </p:txBody>
        </p:sp>
        <p:sp>
          <p:nvSpPr>
            <p:cNvPr id="964" name="Google Shape;964;p52"/>
            <p:cNvSpPr/>
            <p:nvPr/>
          </p:nvSpPr>
          <p:spPr>
            <a:xfrm>
              <a:off x="78992" y="230018"/>
              <a:ext cx="767383" cy="767383"/>
            </a:xfrm>
            <a:prstGeom prst="ellipse">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52"/>
            <p:cNvSpPr/>
            <p:nvPr/>
          </p:nvSpPr>
          <p:spPr>
            <a:xfrm>
              <a:off x="902591" y="1227322"/>
              <a:ext cx="9544464" cy="613906"/>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2"/>
            <p:cNvSpPr txBox="1"/>
            <p:nvPr/>
          </p:nvSpPr>
          <p:spPr>
            <a:xfrm>
              <a:off x="902591" y="1227322"/>
              <a:ext cx="9544464" cy="613906"/>
            </a:xfrm>
            <a:prstGeom prst="rect">
              <a:avLst/>
            </a:prstGeom>
            <a:noFill/>
            <a:ln>
              <a:noFill/>
            </a:ln>
          </p:spPr>
          <p:txBody>
            <a:bodyPr spcFirstLastPara="1" wrap="square" lIns="487275" tIns="58400" rIns="58400" bIns="58400"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Provide clear instructions for employees on halal control procedures</a:t>
              </a:r>
              <a:endParaRPr sz="2300">
                <a:solidFill>
                  <a:schemeClr val="lt1"/>
                </a:solidFill>
                <a:latin typeface="Calibri"/>
                <a:ea typeface="Calibri"/>
                <a:cs typeface="Calibri"/>
                <a:sym typeface="Calibri"/>
              </a:endParaRPr>
            </a:p>
          </p:txBody>
        </p:sp>
        <p:sp>
          <p:nvSpPr>
            <p:cNvPr id="967" name="Google Shape;967;p52"/>
            <p:cNvSpPr/>
            <p:nvPr/>
          </p:nvSpPr>
          <p:spPr>
            <a:xfrm>
              <a:off x="518900" y="1150583"/>
              <a:ext cx="767383" cy="767383"/>
            </a:xfrm>
            <a:prstGeom prst="ellipse">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52"/>
            <p:cNvSpPr/>
            <p:nvPr/>
          </p:nvSpPr>
          <p:spPr>
            <a:xfrm>
              <a:off x="1037608" y="2147887"/>
              <a:ext cx="9409448" cy="613906"/>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2"/>
            <p:cNvSpPr txBox="1"/>
            <p:nvPr/>
          </p:nvSpPr>
          <p:spPr>
            <a:xfrm>
              <a:off x="1037608" y="2147887"/>
              <a:ext cx="9409448" cy="613906"/>
            </a:xfrm>
            <a:prstGeom prst="rect">
              <a:avLst/>
            </a:prstGeom>
            <a:noFill/>
            <a:ln>
              <a:noFill/>
            </a:ln>
          </p:spPr>
          <p:txBody>
            <a:bodyPr spcFirstLastPara="1" wrap="square" lIns="487275" tIns="58400" rIns="58400" bIns="58400"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Maintain records as evidence for auditors and certification bodies</a:t>
              </a:r>
              <a:endParaRPr sz="2300">
                <a:solidFill>
                  <a:schemeClr val="lt1"/>
                </a:solidFill>
                <a:latin typeface="Calibri"/>
                <a:ea typeface="Calibri"/>
                <a:cs typeface="Calibri"/>
                <a:sym typeface="Calibri"/>
              </a:endParaRPr>
            </a:p>
          </p:txBody>
        </p:sp>
        <p:sp>
          <p:nvSpPr>
            <p:cNvPr id="970" name="Google Shape;970;p52"/>
            <p:cNvSpPr/>
            <p:nvPr/>
          </p:nvSpPr>
          <p:spPr>
            <a:xfrm>
              <a:off x="653916" y="2071149"/>
              <a:ext cx="767383" cy="767383"/>
            </a:xfrm>
            <a:prstGeom prst="ellipse">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2"/>
            <p:cNvSpPr/>
            <p:nvPr/>
          </p:nvSpPr>
          <p:spPr>
            <a:xfrm>
              <a:off x="902591" y="3068453"/>
              <a:ext cx="9544464" cy="613906"/>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52"/>
            <p:cNvSpPr txBox="1"/>
            <p:nvPr/>
          </p:nvSpPr>
          <p:spPr>
            <a:xfrm>
              <a:off x="902591" y="3068453"/>
              <a:ext cx="9544464" cy="613906"/>
            </a:xfrm>
            <a:prstGeom prst="rect">
              <a:avLst/>
            </a:prstGeom>
            <a:noFill/>
            <a:ln>
              <a:noFill/>
            </a:ln>
          </p:spPr>
          <p:txBody>
            <a:bodyPr spcFirstLastPara="1" wrap="square" lIns="487275" tIns="58400" rIns="58400" bIns="58400"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Facilitate monitoring, verification, and continuous improvement</a:t>
              </a:r>
              <a:endParaRPr sz="2300">
                <a:solidFill>
                  <a:schemeClr val="lt1"/>
                </a:solidFill>
                <a:latin typeface="Calibri"/>
                <a:ea typeface="Calibri"/>
                <a:cs typeface="Calibri"/>
                <a:sym typeface="Calibri"/>
              </a:endParaRPr>
            </a:p>
          </p:txBody>
        </p:sp>
        <p:sp>
          <p:nvSpPr>
            <p:cNvPr id="973" name="Google Shape;973;p52"/>
            <p:cNvSpPr/>
            <p:nvPr/>
          </p:nvSpPr>
          <p:spPr>
            <a:xfrm>
              <a:off x="518900" y="2991714"/>
              <a:ext cx="767383" cy="767383"/>
            </a:xfrm>
            <a:prstGeom prst="ellipse">
              <a:avLst/>
            </a:prstGeom>
            <a:solidFill>
              <a:schemeClr val="lt1"/>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52"/>
            <p:cNvSpPr/>
            <p:nvPr/>
          </p:nvSpPr>
          <p:spPr>
            <a:xfrm>
              <a:off x="462684" y="3989018"/>
              <a:ext cx="9984372" cy="613906"/>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52"/>
            <p:cNvSpPr txBox="1"/>
            <p:nvPr/>
          </p:nvSpPr>
          <p:spPr>
            <a:xfrm>
              <a:off x="462684" y="3989018"/>
              <a:ext cx="9984372" cy="613906"/>
            </a:xfrm>
            <a:prstGeom prst="rect">
              <a:avLst/>
            </a:prstGeom>
            <a:noFill/>
            <a:ln>
              <a:noFill/>
            </a:ln>
          </p:spPr>
          <p:txBody>
            <a:bodyPr spcFirstLastPara="1" wrap="square" lIns="487275" tIns="58400" rIns="58400" bIns="58400"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US" sz="2300">
                  <a:solidFill>
                    <a:schemeClr val="lt1"/>
                  </a:solidFill>
                  <a:latin typeface="Calibri"/>
                  <a:ea typeface="Calibri"/>
                  <a:cs typeface="Calibri"/>
                  <a:sym typeface="Calibri"/>
                </a:rPr>
                <a:t>Support traceability from raw materials to finished products</a:t>
              </a:r>
              <a:endParaRPr sz="2300">
                <a:solidFill>
                  <a:schemeClr val="lt1"/>
                </a:solidFill>
                <a:latin typeface="Calibri"/>
                <a:ea typeface="Calibri"/>
                <a:cs typeface="Calibri"/>
                <a:sym typeface="Calibri"/>
              </a:endParaRPr>
            </a:p>
          </p:txBody>
        </p:sp>
        <p:sp>
          <p:nvSpPr>
            <p:cNvPr id="976" name="Google Shape;976;p52"/>
            <p:cNvSpPr/>
            <p:nvPr/>
          </p:nvSpPr>
          <p:spPr>
            <a:xfrm>
              <a:off x="78992" y="3912280"/>
              <a:ext cx="767383" cy="767383"/>
            </a:xfrm>
            <a:prstGeom prst="ellipse">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7" name="Google Shape;977;p5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978" name="Google Shape;978;p5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979" name="Google Shape;979;p5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53"/>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SCOPE</a:t>
            </a:r>
            <a:endParaRPr/>
          </a:p>
        </p:txBody>
      </p:sp>
      <p:grpSp>
        <p:nvGrpSpPr>
          <p:cNvPr id="985" name="Google Shape;985;p53"/>
          <p:cNvGrpSpPr/>
          <p:nvPr/>
        </p:nvGrpSpPr>
        <p:grpSpPr>
          <a:xfrm>
            <a:off x="1499919" y="1428528"/>
            <a:ext cx="9192165" cy="4745583"/>
            <a:chOff x="661717" y="2851"/>
            <a:chExt cx="9192165" cy="4745583"/>
          </a:xfrm>
        </p:grpSpPr>
        <p:sp>
          <p:nvSpPr>
            <p:cNvPr id="986" name="Google Shape;986;p53"/>
            <p:cNvSpPr/>
            <p:nvPr/>
          </p:nvSpPr>
          <p:spPr>
            <a:xfrm>
              <a:off x="661717" y="2851"/>
              <a:ext cx="2137650" cy="1472841"/>
            </a:xfrm>
            <a:prstGeom prst="roundRect">
              <a:avLst>
                <a:gd name="adj" fmla="val 16667"/>
              </a:avLst>
            </a:prstGeom>
            <a:blipFill rotWithShape="1">
              <a:blip r:embed="rId3">
                <a:alphaModFix/>
              </a:blip>
              <a:stretch>
                <a:fillRect l="-11999" r="-11997"/>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53"/>
            <p:cNvSpPr/>
            <p:nvPr/>
          </p:nvSpPr>
          <p:spPr>
            <a:xfrm>
              <a:off x="661717" y="1475692"/>
              <a:ext cx="2137650" cy="7930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3"/>
            <p:cNvSpPr txBox="1"/>
            <p:nvPr/>
          </p:nvSpPr>
          <p:spPr>
            <a:xfrm>
              <a:off x="661717" y="1475692"/>
              <a:ext cx="2137650" cy="793068"/>
            </a:xfrm>
            <a:prstGeom prst="rect">
              <a:avLst/>
            </a:prstGeom>
            <a:noFill/>
            <a:ln>
              <a:noFill/>
            </a:ln>
          </p:spPr>
          <p:txBody>
            <a:bodyPr spcFirstLastPara="1" wrap="square" lIns="113775" tIns="113775" rIns="113775" bIns="0" anchor="t"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Supplier and material management</a:t>
              </a:r>
              <a:endParaRPr/>
            </a:p>
          </p:txBody>
        </p:sp>
        <p:sp>
          <p:nvSpPr>
            <p:cNvPr id="989" name="Google Shape;989;p53"/>
            <p:cNvSpPr/>
            <p:nvPr/>
          </p:nvSpPr>
          <p:spPr>
            <a:xfrm>
              <a:off x="3013222" y="2851"/>
              <a:ext cx="2137650" cy="1472841"/>
            </a:xfrm>
            <a:prstGeom prst="roundRect">
              <a:avLst>
                <a:gd name="adj" fmla="val 16667"/>
              </a:avLst>
            </a:prstGeom>
            <a:blipFill rotWithShape="1">
              <a:blip r:embed="rId4">
                <a:alphaModFix/>
              </a:blip>
              <a:stretch>
                <a:fillRect l="-63999" r="-63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3"/>
            <p:cNvSpPr/>
            <p:nvPr/>
          </p:nvSpPr>
          <p:spPr>
            <a:xfrm>
              <a:off x="3013222" y="1475692"/>
              <a:ext cx="2137650" cy="7930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3"/>
            <p:cNvSpPr txBox="1"/>
            <p:nvPr/>
          </p:nvSpPr>
          <p:spPr>
            <a:xfrm>
              <a:off x="3013222" y="1475692"/>
              <a:ext cx="2137650" cy="793068"/>
            </a:xfrm>
            <a:prstGeom prst="rect">
              <a:avLst/>
            </a:prstGeom>
            <a:noFill/>
            <a:ln>
              <a:noFill/>
            </a:ln>
          </p:spPr>
          <p:txBody>
            <a:bodyPr spcFirstLastPara="1" wrap="square" lIns="113775" tIns="113775" rIns="113775" bIns="0" anchor="t"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Production and processing</a:t>
              </a:r>
              <a:endParaRPr/>
            </a:p>
          </p:txBody>
        </p:sp>
        <p:sp>
          <p:nvSpPr>
            <p:cNvPr id="992" name="Google Shape;992;p53"/>
            <p:cNvSpPr/>
            <p:nvPr/>
          </p:nvSpPr>
          <p:spPr>
            <a:xfrm>
              <a:off x="5364727" y="2851"/>
              <a:ext cx="2137650" cy="1472841"/>
            </a:xfrm>
            <a:prstGeom prst="roundRect">
              <a:avLst>
                <a:gd name="adj" fmla="val 16667"/>
              </a:avLst>
            </a:prstGeom>
            <a:blipFill rotWithShape="1">
              <a:blip r:embed="rId5">
                <a:alphaModFix/>
              </a:blip>
              <a:stretch>
                <a:fillRect l="-10999" r="-10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3"/>
            <p:cNvSpPr/>
            <p:nvPr/>
          </p:nvSpPr>
          <p:spPr>
            <a:xfrm>
              <a:off x="5364727" y="1475692"/>
              <a:ext cx="2137650" cy="7930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3"/>
            <p:cNvSpPr txBox="1"/>
            <p:nvPr/>
          </p:nvSpPr>
          <p:spPr>
            <a:xfrm>
              <a:off x="5364727" y="1475692"/>
              <a:ext cx="2137650" cy="793068"/>
            </a:xfrm>
            <a:prstGeom prst="rect">
              <a:avLst/>
            </a:prstGeom>
            <a:noFill/>
            <a:ln>
              <a:noFill/>
            </a:ln>
          </p:spPr>
          <p:txBody>
            <a:bodyPr spcFirstLastPara="1" wrap="square" lIns="113775" tIns="113775" rIns="113775" bIns="0" anchor="t"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Storage and warehousing</a:t>
              </a:r>
              <a:endParaRPr/>
            </a:p>
          </p:txBody>
        </p:sp>
        <p:sp>
          <p:nvSpPr>
            <p:cNvPr id="995" name="Google Shape;995;p53"/>
            <p:cNvSpPr/>
            <p:nvPr/>
          </p:nvSpPr>
          <p:spPr>
            <a:xfrm>
              <a:off x="7716232" y="2851"/>
              <a:ext cx="2137650" cy="1472841"/>
            </a:xfrm>
            <a:prstGeom prst="roundRect">
              <a:avLst>
                <a:gd name="adj" fmla="val 16667"/>
              </a:avLst>
            </a:prstGeom>
            <a:blipFill rotWithShape="1">
              <a:blip r:embed="rId6">
                <a:alphaModFix/>
              </a:blip>
              <a:stretch>
                <a:fillRect l="-10999" r="-10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3"/>
            <p:cNvSpPr/>
            <p:nvPr/>
          </p:nvSpPr>
          <p:spPr>
            <a:xfrm>
              <a:off x="7716232" y="1475692"/>
              <a:ext cx="2137650" cy="7930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3"/>
            <p:cNvSpPr txBox="1"/>
            <p:nvPr/>
          </p:nvSpPr>
          <p:spPr>
            <a:xfrm>
              <a:off x="7716232" y="1475692"/>
              <a:ext cx="2137650" cy="793068"/>
            </a:xfrm>
            <a:prstGeom prst="rect">
              <a:avLst/>
            </a:prstGeom>
            <a:noFill/>
            <a:ln>
              <a:noFill/>
            </a:ln>
          </p:spPr>
          <p:txBody>
            <a:bodyPr spcFirstLastPara="1" wrap="square" lIns="113775" tIns="113775" rIns="113775" bIns="0" anchor="t"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Cleaning and sanitation</a:t>
              </a:r>
              <a:endParaRPr/>
            </a:p>
          </p:txBody>
        </p:sp>
        <p:sp>
          <p:nvSpPr>
            <p:cNvPr id="998" name="Google Shape;998;p53"/>
            <p:cNvSpPr/>
            <p:nvPr/>
          </p:nvSpPr>
          <p:spPr>
            <a:xfrm>
              <a:off x="1837469" y="2482525"/>
              <a:ext cx="2137650" cy="1472841"/>
            </a:xfrm>
            <a:prstGeom prst="roundRect">
              <a:avLst>
                <a:gd name="adj" fmla="val 16667"/>
              </a:avLst>
            </a:prstGeom>
            <a:blipFill rotWithShape="1">
              <a:blip r:embed="rId7">
                <a:alphaModFix/>
              </a:blip>
              <a:stretch>
                <a:fillRect t="-9999" b="-9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3"/>
            <p:cNvSpPr/>
            <p:nvPr/>
          </p:nvSpPr>
          <p:spPr>
            <a:xfrm>
              <a:off x="1837469" y="3955366"/>
              <a:ext cx="2137650" cy="7930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3"/>
            <p:cNvSpPr txBox="1"/>
            <p:nvPr/>
          </p:nvSpPr>
          <p:spPr>
            <a:xfrm>
              <a:off x="1837469" y="3955366"/>
              <a:ext cx="2137650" cy="793068"/>
            </a:xfrm>
            <a:prstGeom prst="rect">
              <a:avLst/>
            </a:prstGeom>
            <a:noFill/>
            <a:ln>
              <a:noFill/>
            </a:ln>
          </p:spPr>
          <p:txBody>
            <a:bodyPr spcFirstLastPara="1" wrap="square" lIns="113775" tIns="113775" rIns="113775" bIns="0" anchor="t"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Packaging and labelling</a:t>
              </a:r>
              <a:endParaRPr/>
            </a:p>
          </p:txBody>
        </p:sp>
        <p:sp>
          <p:nvSpPr>
            <p:cNvPr id="1001" name="Google Shape;1001;p53"/>
            <p:cNvSpPr/>
            <p:nvPr/>
          </p:nvSpPr>
          <p:spPr>
            <a:xfrm>
              <a:off x="4188974" y="2482525"/>
              <a:ext cx="2137650" cy="1472841"/>
            </a:xfrm>
            <a:prstGeom prst="roundRect">
              <a:avLst>
                <a:gd name="adj" fmla="val 16667"/>
              </a:avLst>
            </a:prstGeom>
            <a:blipFill rotWithShape="1">
              <a:blip r:embed="rId8">
                <a:alphaModFix/>
              </a:blip>
              <a:stretch>
                <a:fillRect l="-10999" r="-10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3"/>
            <p:cNvSpPr/>
            <p:nvPr/>
          </p:nvSpPr>
          <p:spPr>
            <a:xfrm>
              <a:off x="4188974" y="3955366"/>
              <a:ext cx="2137650" cy="7930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3"/>
            <p:cNvSpPr txBox="1"/>
            <p:nvPr/>
          </p:nvSpPr>
          <p:spPr>
            <a:xfrm>
              <a:off x="4188974" y="3955366"/>
              <a:ext cx="2137650" cy="793068"/>
            </a:xfrm>
            <a:prstGeom prst="rect">
              <a:avLst/>
            </a:prstGeom>
            <a:noFill/>
            <a:ln>
              <a:noFill/>
            </a:ln>
          </p:spPr>
          <p:txBody>
            <a:bodyPr spcFirstLastPara="1" wrap="square" lIns="113775" tIns="113775" rIns="113775" bIns="0" anchor="t"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Distribution and logistics</a:t>
              </a:r>
              <a:endParaRPr/>
            </a:p>
          </p:txBody>
        </p:sp>
        <p:sp>
          <p:nvSpPr>
            <p:cNvPr id="1004" name="Google Shape;1004;p53"/>
            <p:cNvSpPr/>
            <p:nvPr/>
          </p:nvSpPr>
          <p:spPr>
            <a:xfrm>
              <a:off x="6540480" y="2482525"/>
              <a:ext cx="2137650" cy="1472841"/>
            </a:xfrm>
            <a:prstGeom prst="roundRect">
              <a:avLst>
                <a:gd name="adj" fmla="val 16667"/>
              </a:avLst>
            </a:prstGeom>
            <a:blipFill rotWithShape="1">
              <a:blip r:embed="rId9">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3"/>
            <p:cNvSpPr/>
            <p:nvPr/>
          </p:nvSpPr>
          <p:spPr>
            <a:xfrm>
              <a:off x="6540480" y="3955366"/>
              <a:ext cx="2137650" cy="7930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3"/>
            <p:cNvSpPr txBox="1"/>
            <p:nvPr/>
          </p:nvSpPr>
          <p:spPr>
            <a:xfrm>
              <a:off x="6540480" y="3955366"/>
              <a:ext cx="2137650" cy="793068"/>
            </a:xfrm>
            <a:prstGeom prst="rect">
              <a:avLst/>
            </a:prstGeom>
            <a:noFill/>
            <a:ln>
              <a:noFill/>
            </a:ln>
          </p:spPr>
          <p:txBody>
            <a:bodyPr spcFirstLastPara="1" wrap="square" lIns="113775" tIns="113775" rIns="113775" bIns="0" anchor="t" anchorCtr="0">
              <a:noAutofit/>
            </a:bodyPr>
            <a:lstStyle/>
            <a:p>
              <a:pPr marL="0" marR="0" lvl="0" indent="0" algn="ctr" rtl="0">
                <a:lnSpc>
                  <a:spcPct val="90000"/>
                </a:lnSpc>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Supporting functions (maintenance, calibration, training)</a:t>
              </a:r>
              <a:endParaRPr/>
            </a:p>
          </p:txBody>
        </p:sp>
      </p:grpSp>
      <p:sp>
        <p:nvSpPr>
          <p:cNvPr id="1007" name="Google Shape;1007;p5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008" name="Google Shape;1008;p5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009" name="Google Shape;1009;p5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54"/>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Calibri"/>
              <a:buNone/>
            </a:pPr>
            <a:r>
              <a:rPr lang="en-US"/>
              <a:t>HALAL CONTROL &amp; DOCUMENTATION SYSTEM</a:t>
            </a:r>
            <a:endParaRPr/>
          </a:p>
        </p:txBody>
      </p:sp>
      <p:grpSp>
        <p:nvGrpSpPr>
          <p:cNvPr id="1015" name="Google Shape;1015;p54"/>
          <p:cNvGrpSpPr/>
          <p:nvPr/>
        </p:nvGrpSpPr>
        <p:grpSpPr>
          <a:xfrm>
            <a:off x="838202" y="1533831"/>
            <a:ext cx="10515600" cy="4643130"/>
            <a:chOff x="0" y="0"/>
            <a:chExt cx="10515600" cy="4643130"/>
          </a:xfrm>
        </p:grpSpPr>
        <p:sp>
          <p:nvSpPr>
            <p:cNvPr id="1016" name="Google Shape;1016;p54"/>
            <p:cNvSpPr/>
            <p:nvPr/>
          </p:nvSpPr>
          <p:spPr>
            <a:xfrm>
              <a:off x="0" y="0"/>
              <a:ext cx="10515600" cy="1392939"/>
            </a:xfrm>
            <a:prstGeom prst="rect">
              <a:avLst/>
            </a:prstGeom>
            <a:solidFill>
              <a:srgbClr val="E176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4"/>
            <p:cNvSpPr txBox="1"/>
            <p:nvPr/>
          </p:nvSpPr>
          <p:spPr>
            <a:xfrm>
              <a:off x="0" y="0"/>
              <a:ext cx="10515600" cy="1392939"/>
            </a:xfrm>
            <a:prstGeom prst="rect">
              <a:avLst/>
            </a:prstGeom>
            <a:noFill/>
            <a:ln>
              <a:noFill/>
            </a:ln>
          </p:spPr>
          <p:txBody>
            <a:bodyPr spcFirstLastPara="1" wrap="square" lIns="243825" tIns="243825" rIns="243825" bIns="243825" anchor="ctr" anchorCtr="0">
              <a:noAutofit/>
            </a:bodyPr>
            <a:lstStyle/>
            <a:p>
              <a:pPr marL="0" marR="0" lvl="0" indent="0" algn="ctr" rtl="0">
                <a:lnSpc>
                  <a:spcPct val="90000"/>
                </a:lnSpc>
                <a:spcBef>
                  <a:spcPts val="0"/>
                </a:spcBef>
                <a:spcAft>
                  <a:spcPts val="0"/>
                </a:spcAft>
                <a:buClr>
                  <a:schemeClr val="dk1"/>
                </a:buClr>
                <a:buSzPts val="6400"/>
                <a:buFont typeface="Calibri"/>
                <a:buNone/>
              </a:pPr>
              <a:r>
                <a:rPr lang="en-US" sz="6400">
                  <a:solidFill>
                    <a:schemeClr val="dk1"/>
                  </a:solidFill>
                  <a:latin typeface="Calibri"/>
                  <a:ea typeface="Calibri"/>
                  <a:cs typeface="Calibri"/>
                  <a:sym typeface="Calibri"/>
                </a:rPr>
                <a:t>Key Components</a:t>
              </a:r>
              <a:endParaRPr/>
            </a:p>
          </p:txBody>
        </p:sp>
        <p:sp>
          <p:nvSpPr>
            <p:cNvPr id="1018" name="Google Shape;1018;p54"/>
            <p:cNvSpPr/>
            <p:nvPr/>
          </p:nvSpPr>
          <p:spPr>
            <a:xfrm>
              <a:off x="5134" y="1392939"/>
              <a:ext cx="1750888" cy="2925172"/>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54"/>
            <p:cNvSpPr txBox="1"/>
            <p:nvPr/>
          </p:nvSpPr>
          <p:spPr>
            <a:xfrm>
              <a:off x="5134" y="1392939"/>
              <a:ext cx="1750888" cy="2925172"/>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Halal Control Procedures (SOPs)</a:t>
              </a:r>
              <a:endParaRPr/>
            </a:p>
          </p:txBody>
        </p:sp>
        <p:sp>
          <p:nvSpPr>
            <p:cNvPr id="1020" name="Google Shape;1020;p54"/>
            <p:cNvSpPr/>
            <p:nvPr/>
          </p:nvSpPr>
          <p:spPr>
            <a:xfrm>
              <a:off x="1756023" y="1392939"/>
              <a:ext cx="1750888" cy="2925172"/>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4"/>
            <p:cNvSpPr txBox="1"/>
            <p:nvPr/>
          </p:nvSpPr>
          <p:spPr>
            <a:xfrm>
              <a:off x="1756023" y="1392939"/>
              <a:ext cx="1750888" cy="2925172"/>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Halal Documentation</a:t>
              </a:r>
              <a:endParaRPr/>
            </a:p>
          </p:txBody>
        </p:sp>
        <p:sp>
          <p:nvSpPr>
            <p:cNvPr id="1022" name="Google Shape;1022;p54"/>
            <p:cNvSpPr/>
            <p:nvPr/>
          </p:nvSpPr>
          <p:spPr>
            <a:xfrm>
              <a:off x="3506911" y="1392939"/>
              <a:ext cx="1750888" cy="2925172"/>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54"/>
            <p:cNvSpPr txBox="1"/>
            <p:nvPr/>
          </p:nvSpPr>
          <p:spPr>
            <a:xfrm>
              <a:off x="3506911" y="1392939"/>
              <a:ext cx="1750888" cy="2925172"/>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Document Control</a:t>
              </a:r>
              <a:endParaRPr/>
            </a:p>
          </p:txBody>
        </p:sp>
        <p:sp>
          <p:nvSpPr>
            <p:cNvPr id="1024" name="Google Shape;1024;p54"/>
            <p:cNvSpPr/>
            <p:nvPr/>
          </p:nvSpPr>
          <p:spPr>
            <a:xfrm>
              <a:off x="5257800" y="1392939"/>
              <a:ext cx="1750888" cy="2925172"/>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4"/>
            <p:cNvSpPr txBox="1"/>
            <p:nvPr/>
          </p:nvSpPr>
          <p:spPr>
            <a:xfrm>
              <a:off x="5257800" y="1392939"/>
              <a:ext cx="1750888" cy="2925172"/>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Control of External Documents</a:t>
              </a:r>
              <a:endParaRPr/>
            </a:p>
          </p:txBody>
        </p:sp>
        <p:sp>
          <p:nvSpPr>
            <p:cNvPr id="1026" name="Google Shape;1026;p54"/>
            <p:cNvSpPr/>
            <p:nvPr/>
          </p:nvSpPr>
          <p:spPr>
            <a:xfrm>
              <a:off x="7008688" y="1392939"/>
              <a:ext cx="1750888" cy="2925172"/>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4"/>
            <p:cNvSpPr txBox="1"/>
            <p:nvPr/>
          </p:nvSpPr>
          <p:spPr>
            <a:xfrm>
              <a:off x="7008688" y="1392939"/>
              <a:ext cx="1750888" cy="2925172"/>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Record Control &amp; Traceability</a:t>
              </a:r>
              <a:endParaRPr/>
            </a:p>
          </p:txBody>
        </p:sp>
        <p:sp>
          <p:nvSpPr>
            <p:cNvPr id="1028" name="Google Shape;1028;p54"/>
            <p:cNvSpPr/>
            <p:nvPr/>
          </p:nvSpPr>
          <p:spPr>
            <a:xfrm>
              <a:off x="8759576" y="1392939"/>
              <a:ext cx="1750888" cy="2925172"/>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54"/>
            <p:cNvSpPr txBox="1"/>
            <p:nvPr/>
          </p:nvSpPr>
          <p:spPr>
            <a:xfrm>
              <a:off x="8759576" y="1392939"/>
              <a:ext cx="1750888" cy="2925172"/>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Monitoring, Verification, and Audit</a:t>
              </a:r>
              <a:endParaRPr/>
            </a:p>
          </p:txBody>
        </p:sp>
        <p:sp>
          <p:nvSpPr>
            <p:cNvPr id="1030" name="Google Shape;1030;p54"/>
            <p:cNvSpPr/>
            <p:nvPr/>
          </p:nvSpPr>
          <p:spPr>
            <a:xfrm>
              <a:off x="0" y="4318111"/>
              <a:ext cx="10515600" cy="325019"/>
            </a:xfrm>
            <a:prstGeom prst="rect">
              <a:avLst/>
            </a:prstGeom>
            <a:solidFill>
              <a:srgbClr val="E176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1" name="Google Shape;1031;p5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032" name="Google Shape;1032;p5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033" name="Google Shape;1033;p5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55"/>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KEY COMPONENTS</a:t>
            </a:r>
            <a:endParaRPr/>
          </a:p>
        </p:txBody>
      </p:sp>
      <p:sp>
        <p:nvSpPr>
          <p:cNvPr id="1039" name="Google Shape;1039;p55"/>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highlight>
                  <a:srgbClr val="00FFFF"/>
                </a:highlight>
              </a:rPr>
              <a:t>Halal Control Procedures (SOPs)</a:t>
            </a:r>
            <a:endParaRPr/>
          </a:p>
          <a:p>
            <a:pPr marL="0" lvl="0" indent="0" algn="l" rtl="0">
              <a:lnSpc>
                <a:spcPct val="90000"/>
              </a:lnSpc>
              <a:spcBef>
                <a:spcPts val="1001"/>
              </a:spcBef>
              <a:spcAft>
                <a:spcPts val="0"/>
              </a:spcAft>
              <a:buClr>
                <a:schemeClr val="dk1"/>
              </a:buClr>
              <a:buSzPts val="2800"/>
              <a:buNone/>
            </a:pPr>
            <a:endParaRPr b="1">
              <a:highlight>
                <a:srgbClr val="00FFFF"/>
              </a:highlight>
            </a:endParaRPr>
          </a:p>
          <a:p>
            <a:pPr marL="228604" lvl="0" indent="-228604" algn="l" rtl="0">
              <a:lnSpc>
                <a:spcPct val="90000"/>
              </a:lnSpc>
              <a:spcBef>
                <a:spcPts val="1001"/>
              </a:spcBef>
              <a:spcAft>
                <a:spcPts val="0"/>
              </a:spcAft>
              <a:buClr>
                <a:schemeClr val="dk1"/>
              </a:buClr>
              <a:buSzPts val="2000"/>
              <a:buChar char="•"/>
            </a:pPr>
            <a:r>
              <a:rPr lang="en-US" sz="2000" b="1"/>
              <a:t>Purpose:</a:t>
            </a:r>
            <a:r>
              <a:rPr lang="en-US" sz="2000"/>
              <a:t> Ensure consistent halal compliance in every activity</a:t>
            </a:r>
            <a:endParaRPr/>
          </a:p>
          <a:p>
            <a:pPr marL="228604" lvl="0" indent="-101604" algn="l" rtl="0">
              <a:lnSpc>
                <a:spcPct val="90000"/>
              </a:lnSpc>
              <a:spcBef>
                <a:spcPts val="1001"/>
              </a:spcBef>
              <a:spcAft>
                <a:spcPts val="0"/>
              </a:spcAft>
              <a:buClr>
                <a:schemeClr val="dk1"/>
              </a:buClr>
              <a:buSzPts val="2000"/>
              <a:buNone/>
            </a:pPr>
            <a:endParaRPr sz="2000" b="1"/>
          </a:p>
          <a:p>
            <a:pPr marL="228604" lvl="0" indent="-228604" algn="l" rtl="0">
              <a:lnSpc>
                <a:spcPct val="90000"/>
              </a:lnSpc>
              <a:spcBef>
                <a:spcPts val="1001"/>
              </a:spcBef>
              <a:spcAft>
                <a:spcPts val="0"/>
              </a:spcAft>
              <a:buClr>
                <a:schemeClr val="dk1"/>
              </a:buClr>
              <a:buSzPts val="2000"/>
              <a:buChar char="•"/>
            </a:pPr>
            <a:r>
              <a:rPr lang="en-US" sz="2000" b="1"/>
              <a:t>Content of SOPs:</a:t>
            </a:r>
            <a:endParaRPr sz="2000"/>
          </a:p>
          <a:p>
            <a:pPr marL="685809" lvl="1" indent="-228604" algn="l" rtl="0">
              <a:lnSpc>
                <a:spcPct val="90000"/>
              </a:lnSpc>
              <a:spcBef>
                <a:spcPts val="500"/>
              </a:spcBef>
              <a:spcAft>
                <a:spcPts val="0"/>
              </a:spcAft>
              <a:buClr>
                <a:schemeClr val="dk1"/>
              </a:buClr>
              <a:buSzPts val="2000"/>
              <a:buChar char="•"/>
            </a:pPr>
            <a:r>
              <a:rPr lang="en-US" sz="2000"/>
              <a:t>Purpose &amp; scope</a:t>
            </a:r>
            <a:endParaRPr/>
          </a:p>
          <a:p>
            <a:pPr marL="685809" lvl="1" indent="-228604" algn="l" rtl="0">
              <a:lnSpc>
                <a:spcPct val="90000"/>
              </a:lnSpc>
              <a:spcBef>
                <a:spcPts val="500"/>
              </a:spcBef>
              <a:spcAft>
                <a:spcPts val="0"/>
              </a:spcAft>
              <a:buClr>
                <a:schemeClr val="dk1"/>
              </a:buClr>
              <a:buSzPts val="2000"/>
              <a:buChar char="•"/>
            </a:pPr>
            <a:r>
              <a:rPr lang="en-US" sz="2000"/>
              <a:t>Responsibilities</a:t>
            </a:r>
            <a:endParaRPr/>
          </a:p>
          <a:p>
            <a:pPr marL="685809" lvl="1" indent="-228604" algn="l" rtl="0">
              <a:lnSpc>
                <a:spcPct val="90000"/>
              </a:lnSpc>
              <a:spcBef>
                <a:spcPts val="500"/>
              </a:spcBef>
              <a:spcAft>
                <a:spcPts val="0"/>
              </a:spcAft>
              <a:buClr>
                <a:schemeClr val="dk1"/>
              </a:buClr>
              <a:buSzPts val="2000"/>
              <a:buChar char="•"/>
            </a:pPr>
            <a:r>
              <a:rPr lang="en-US" sz="2000"/>
              <a:t>Step-by-step instructions</a:t>
            </a:r>
            <a:endParaRPr/>
          </a:p>
          <a:p>
            <a:pPr marL="685809" lvl="1" indent="-228604" algn="l" rtl="0">
              <a:lnSpc>
                <a:spcPct val="90000"/>
              </a:lnSpc>
              <a:spcBef>
                <a:spcPts val="500"/>
              </a:spcBef>
              <a:spcAft>
                <a:spcPts val="0"/>
              </a:spcAft>
              <a:buClr>
                <a:schemeClr val="dk1"/>
              </a:buClr>
              <a:buSzPts val="2000"/>
              <a:buChar char="•"/>
            </a:pPr>
            <a:r>
              <a:rPr lang="en-US" sz="2000"/>
              <a:t>Verification / monitoring points</a:t>
            </a:r>
            <a:endParaRPr/>
          </a:p>
          <a:p>
            <a:pPr marL="685809" lvl="1" indent="-228604" algn="l" rtl="0">
              <a:lnSpc>
                <a:spcPct val="90000"/>
              </a:lnSpc>
              <a:spcBef>
                <a:spcPts val="500"/>
              </a:spcBef>
              <a:spcAft>
                <a:spcPts val="0"/>
              </a:spcAft>
              <a:buClr>
                <a:schemeClr val="dk1"/>
              </a:buClr>
              <a:buSzPts val="2000"/>
              <a:buChar char="•"/>
            </a:pPr>
            <a:r>
              <a:rPr lang="en-US" sz="2000"/>
              <a:t>Records to be maintained</a:t>
            </a:r>
            <a:endParaRPr/>
          </a:p>
          <a:p>
            <a:pPr marL="228604" lvl="0" indent="-50803" algn="l" rtl="0">
              <a:lnSpc>
                <a:spcPct val="90000"/>
              </a:lnSpc>
              <a:spcBef>
                <a:spcPts val="1001"/>
              </a:spcBef>
              <a:spcAft>
                <a:spcPts val="0"/>
              </a:spcAft>
              <a:buClr>
                <a:schemeClr val="dk1"/>
              </a:buClr>
              <a:buSzPts val="2800"/>
              <a:buNone/>
            </a:pPr>
            <a:endParaRPr/>
          </a:p>
        </p:txBody>
      </p:sp>
      <p:sp>
        <p:nvSpPr>
          <p:cNvPr id="1040" name="Google Shape;1040;p5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041" name="Google Shape;1041;p5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042" name="Google Shape;1042;p5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56"/>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KEY COMPONENTS</a:t>
            </a:r>
            <a:endParaRPr/>
          </a:p>
        </p:txBody>
      </p:sp>
      <p:sp>
        <p:nvSpPr>
          <p:cNvPr id="1048" name="Google Shape;1048;p56"/>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highlight>
                  <a:srgbClr val="00FFFF"/>
                </a:highlight>
              </a:rPr>
              <a:t>Halal Control Procedures (SOPs)</a:t>
            </a:r>
            <a:endParaRPr/>
          </a:p>
          <a:p>
            <a:pPr marL="0" lvl="0" indent="0" algn="l" rtl="0">
              <a:lnSpc>
                <a:spcPct val="90000"/>
              </a:lnSpc>
              <a:spcBef>
                <a:spcPts val="1001"/>
              </a:spcBef>
              <a:spcAft>
                <a:spcPts val="0"/>
              </a:spcAft>
              <a:buClr>
                <a:schemeClr val="dk1"/>
              </a:buClr>
              <a:buSzPts val="1200"/>
              <a:buNone/>
            </a:pPr>
            <a:endParaRPr sz="1200" b="1">
              <a:highlight>
                <a:srgbClr val="00FFFF"/>
              </a:highlight>
            </a:endParaRPr>
          </a:p>
          <a:p>
            <a:pPr marL="0" lvl="0" indent="0" algn="l" rtl="0">
              <a:lnSpc>
                <a:spcPct val="90000"/>
              </a:lnSpc>
              <a:spcBef>
                <a:spcPts val="1001"/>
              </a:spcBef>
              <a:spcAft>
                <a:spcPts val="0"/>
              </a:spcAft>
              <a:buClr>
                <a:schemeClr val="dk1"/>
              </a:buClr>
              <a:buSzPts val="2800"/>
              <a:buNone/>
            </a:pPr>
            <a:r>
              <a:rPr lang="en-US"/>
              <a:t>Examples:</a:t>
            </a:r>
            <a:endParaRPr/>
          </a:p>
          <a:p>
            <a:pPr marL="0" lvl="0" indent="0" algn="l" rtl="0">
              <a:lnSpc>
                <a:spcPct val="90000"/>
              </a:lnSpc>
              <a:spcBef>
                <a:spcPts val="1001"/>
              </a:spcBef>
              <a:spcAft>
                <a:spcPts val="0"/>
              </a:spcAft>
              <a:buClr>
                <a:schemeClr val="dk1"/>
              </a:buClr>
              <a:buSzPts val="2800"/>
              <a:buNone/>
            </a:pPr>
            <a:endParaRPr/>
          </a:p>
        </p:txBody>
      </p:sp>
      <p:sp>
        <p:nvSpPr>
          <p:cNvPr id="1049" name="Google Shape;1049;p5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050" name="Google Shape;1050;p5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051" name="Google Shape;1051;p5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aphicFrame>
        <p:nvGraphicFramePr>
          <p:cNvPr id="1052" name="Google Shape;1052;p56"/>
          <p:cNvGraphicFramePr/>
          <p:nvPr/>
        </p:nvGraphicFramePr>
        <p:xfrm>
          <a:off x="950452" y="2912267"/>
          <a:ext cx="3000000" cy="3000000"/>
        </p:xfrm>
        <a:graphic>
          <a:graphicData uri="http://schemas.openxmlformats.org/drawingml/2006/table">
            <a:tbl>
              <a:tblPr firstRow="1" bandRow="1">
                <a:noFill/>
                <a:tableStyleId>{BECD6F48-8B51-4161-AC7E-E7DA0691A067}</a:tableStyleId>
              </a:tblPr>
              <a:tblGrid>
                <a:gridCol w="2766150">
                  <a:extLst>
                    <a:ext uri="{9D8B030D-6E8A-4147-A177-3AD203B41FA5}">
                      <a16:colId xmlns:a16="http://schemas.microsoft.com/office/drawing/2014/main" val="20000"/>
                    </a:ext>
                  </a:extLst>
                </a:gridCol>
                <a:gridCol w="4169425">
                  <a:extLst>
                    <a:ext uri="{9D8B030D-6E8A-4147-A177-3AD203B41FA5}">
                      <a16:colId xmlns:a16="http://schemas.microsoft.com/office/drawing/2014/main" val="20001"/>
                    </a:ext>
                  </a:extLst>
                </a:gridCol>
                <a:gridCol w="34677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1"/>
                        <a:t>Area		</a:t>
                      </a:r>
                      <a:endParaRPr sz="1801"/>
                    </a:p>
                  </a:txBody>
                  <a:tcPr marL="91450" marR="91450" marT="45725" marB="45725">
                    <a:noFill/>
                  </a:tcPr>
                </a:tc>
                <a:tc>
                  <a:txBody>
                    <a:bodyPr/>
                    <a:lstStyle/>
                    <a:p>
                      <a:pPr marL="0" marR="0" lvl="0" indent="0" algn="l" rtl="0">
                        <a:spcBef>
                          <a:spcPts val="0"/>
                        </a:spcBef>
                        <a:spcAft>
                          <a:spcPts val="0"/>
                        </a:spcAft>
                        <a:buNone/>
                      </a:pPr>
                      <a:r>
                        <a:rPr lang="en-US" sz="1801"/>
                        <a:t>SOP Example</a:t>
                      </a:r>
                      <a:endParaRPr sz="1801"/>
                    </a:p>
                  </a:txBody>
                  <a:tcPr marL="91450" marR="91450" marT="45725" marB="45725">
                    <a:noFill/>
                  </a:tcPr>
                </a:tc>
                <a:tc>
                  <a:txBody>
                    <a:bodyPr/>
                    <a:lstStyle/>
                    <a:p>
                      <a:pPr marL="0" marR="0" lvl="0" indent="0" algn="l" rtl="0">
                        <a:spcBef>
                          <a:spcPts val="0"/>
                        </a:spcBef>
                        <a:spcAft>
                          <a:spcPts val="0"/>
                        </a:spcAft>
                        <a:buNone/>
                      </a:pPr>
                      <a:r>
                        <a:rPr lang="en-US" sz="1801"/>
                        <a:t>Control Purpose</a:t>
                      </a:r>
                      <a:endParaRPr sz="1801"/>
                    </a:p>
                  </a:txBody>
                  <a:tcPr marL="91450" marR="91450" marT="45725" marB="45725">
                    <a:no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1"/>
                        <a:t>Receiving	</a:t>
                      </a:r>
                      <a:endParaRPr/>
                    </a:p>
                  </a:txBody>
                  <a:tcPr marL="91450" marR="91450" marT="45725" marB="45725">
                    <a:noFill/>
                  </a:tcPr>
                </a:tc>
                <a:tc>
                  <a:txBody>
                    <a:bodyPr/>
                    <a:lstStyle/>
                    <a:p>
                      <a:pPr marL="0" marR="0" lvl="0" indent="0" algn="l" rtl="0">
                        <a:spcBef>
                          <a:spcPts val="0"/>
                        </a:spcBef>
                        <a:spcAft>
                          <a:spcPts val="0"/>
                        </a:spcAft>
                        <a:buNone/>
                      </a:pPr>
                      <a:r>
                        <a:rPr lang="en-US" sz="1801"/>
                        <a:t>Verify halal certificate &amp; supplier approval</a:t>
                      </a:r>
                      <a:endParaRPr/>
                    </a:p>
                  </a:txBody>
                  <a:tcPr marL="91450" marR="91450" marT="45725" marB="45725">
                    <a:noFill/>
                  </a:tcPr>
                </a:tc>
                <a:tc>
                  <a:txBody>
                    <a:bodyPr/>
                    <a:lstStyle/>
                    <a:p>
                      <a:pPr marL="0" marR="0" lvl="0" indent="0" algn="l" rtl="0">
                        <a:spcBef>
                          <a:spcPts val="0"/>
                        </a:spcBef>
                        <a:spcAft>
                          <a:spcPts val="0"/>
                        </a:spcAft>
                        <a:buNone/>
                      </a:pPr>
                      <a:r>
                        <a:rPr lang="en-US" sz="1801"/>
                        <a:t>Prevent non-halal material entry</a:t>
                      </a:r>
                      <a:endParaRPr/>
                    </a:p>
                  </a:txBody>
                  <a:tcPr marL="91450" marR="91450" marT="45725" marB="45725">
                    <a:noFill/>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1"/>
                        <a:t>Storage	</a:t>
                      </a:r>
                      <a:endParaRPr/>
                    </a:p>
                  </a:txBody>
                  <a:tcPr marL="91450" marR="91450" marT="45725" marB="45725">
                    <a:noFill/>
                  </a:tcPr>
                </a:tc>
                <a:tc>
                  <a:txBody>
                    <a:bodyPr/>
                    <a:lstStyle/>
                    <a:p>
                      <a:pPr marL="0" marR="0" lvl="0" indent="0" algn="l" rtl="0">
                        <a:spcBef>
                          <a:spcPts val="0"/>
                        </a:spcBef>
                        <a:spcAft>
                          <a:spcPts val="0"/>
                        </a:spcAft>
                        <a:buNone/>
                      </a:pPr>
                      <a:r>
                        <a:rPr lang="en-US" sz="1801"/>
                        <a:t>Segregation of halal and non-halal</a:t>
                      </a:r>
                      <a:endParaRPr/>
                    </a:p>
                  </a:txBody>
                  <a:tcPr marL="91450" marR="91450" marT="45725" marB="45725">
                    <a:noFill/>
                  </a:tcPr>
                </a:tc>
                <a:tc>
                  <a:txBody>
                    <a:bodyPr/>
                    <a:lstStyle/>
                    <a:p>
                      <a:pPr marL="0" marR="0" lvl="0" indent="0" algn="l" rtl="0">
                        <a:spcBef>
                          <a:spcPts val="0"/>
                        </a:spcBef>
                        <a:spcAft>
                          <a:spcPts val="0"/>
                        </a:spcAft>
                        <a:buNone/>
                      </a:pPr>
                      <a:r>
                        <a:rPr lang="en-US" sz="1801"/>
                        <a:t>Avoid cross-contamination</a:t>
                      </a:r>
                      <a:endParaRPr/>
                    </a:p>
                  </a:txBody>
                  <a:tcPr marL="91450" marR="91450" marT="45725" marB="45725">
                    <a:no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1"/>
                        <a:t>Processing	</a:t>
                      </a:r>
                      <a:endParaRPr/>
                    </a:p>
                  </a:txBody>
                  <a:tcPr marL="91450" marR="91450" marT="45725" marB="45725">
                    <a:noFill/>
                  </a:tcPr>
                </a:tc>
                <a:tc>
                  <a:txBody>
                    <a:bodyPr/>
                    <a:lstStyle/>
                    <a:p>
                      <a:pPr marL="0" marR="0" lvl="0" indent="0" algn="l" rtl="0">
                        <a:spcBef>
                          <a:spcPts val="0"/>
                        </a:spcBef>
                        <a:spcAft>
                          <a:spcPts val="0"/>
                        </a:spcAft>
                        <a:buNone/>
                      </a:pPr>
                      <a:r>
                        <a:rPr lang="en-US" sz="1801"/>
                        <a:t>Equipment changeover &amp; cleaning</a:t>
                      </a:r>
                      <a:endParaRPr/>
                    </a:p>
                  </a:txBody>
                  <a:tcPr marL="91450" marR="91450" marT="45725" marB="45725">
                    <a:noFill/>
                  </a:tcPr>
                </a:tc>
                <a:tc>
                  <a:txBody>
                    <a:bodyPr/>
                    <a:lstStyle/>
                    <a:p>
                      <a:pPr marL="0" marR="0" lvl="0" indent="0" algn="l" rtl="0">
                        <a:spcBef>
                          <a:spcPts val="0"/>
                        </a:spcBef>
                        <a:spcAft>
                          <a:spcPts val="0"/>
                        </a:spcAft>
                        <a:buNone/>
                      </a:pPr>
                      <a:r>
                        <a:rPr lang="en-US" sz="1801"/>
                        <a:t>Maintain halal integrity</a:t>
                      </a:r>
                      <a:endParaRPr/>
                    </a:p>
                  </a:txBody>
                  <a:tcPr marL="91450" marR="91450" marT="45725" marB="45725">
                    <a:noFill/>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1"/>
                        <a:t>Packaging	</a:t>
                      </a:r>
                      <a:endParaRPr/>
                    </a:p>
                  </a:txBody>
                  <a:tcPr marL="91450" marR="91450" marT="45725" marB="45725">
                    <a:noFill/>
                  </a:tcPr>
                </a:tc>
                <a:tc>
                  <a:txBody>
                    <a:bodyPr/>
                    <a:lstStyle/>
                    <a:p>
                      <a:pPr marL="0" marR="0" lvl="0" indent="0" algn="l" rtl="0">
                        <a:spcBef>
                          <a:spcPts val="0"/>
                        </a:spcBef>
                        <a:spcAft>
                          <a:spcPts val="0"/>
                        </a:spcAft>
                        <a:buNone/>
                      </a:pPr>
                      <a:r>
                        <a:rPr lang="en-US" sz="1801"/>
                        <a:t>Correct label application	</a:t>
                      </a:r>
                      <a:endParaRPr/>
                    </a:p>
                  </a:txBody>
                  <a:tcPr marL="91450" marR="91450" marT="45725" marB="45725">
                    <a:noFill/>
                  </a:tcPr>
                </a:tc>
                <a:tc>
                  <a:txBody>
                    <a:bodyPr/>
                    <a:lstStyle/>
                    <a:p>
                      <a:pPr marL="0" marR="0" lvl="0" indent="0" algn="l" rtl="0">
                        <a:spcBef>
                          <a:spcPts val="0"/>
                        </a:spcBef>
                        <a:spcAft>
                          <a:spcPts val="0"/>
                        </a:spcAft>
                        <a:buNone/>
                      </a:pPr>
                      <a:r>
                        <a:rPr lang="en-US" sz="1801"/>
                        <a:t>Ensure halal product identification</a:t>
                      </a:r>
                      <a:endParaRPr/>
                    </a:p>
                  </a:txBody>
                  <a:tcPr marL="91450" marR="91450" marT="45725" marB="45725">
                    <a:noFill/>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1"/>
                        <a:t>Cleaning	</a:t>
                      </a:r>
                      <a:endParaRPr/>
                    </a:p>
                  </a:txBody>
                  <a:tcPr marL="91450" marR="91450" marT="45725" marB="45725">
                    <a:noFill/>
                  </a:tcPr>
                </a:tc>
                <a:tc>
                  <a:txBody>
                    <a:bodyPr/>
                    <a:lstStyle/>
                    <a:p>
                      <a:pPr marL="0" marR="0" lvl="0" indent="0" algn="l" rtl="0">
                        <a:spcBef>
                          <a:spcPts val="0"/>
                        </a:spcBef>
                        <a:spcAft>
                          <a:spcPts val="0"/>
                        </a:spcAft>
                        <a:buNone/>
                      </a:pPr>
                      <a:r>
                        <a:rPr lang="en-US" sz="1801"/>
                        <a:t>Approved chemical usage	</a:t>
                      </a:r>
                      <a:endParaRPr/>
                    </a:p>
                  </a:txBody>
                  <a:tcPr marL="91450" marR="91450" marT="45725" marB="45725">
                    <a:noFill/>
                  </a:tcPr>
                </a:tc>
                <a:tc>
                  <a:txBody>
                    <a:bodyPr/>
                    <a:lstStyle/>
                    <a:p>
                      <a:pPr marL="0" marR="0" lvl="0" indent="0" algn="l" rtl="0">
                        <a:spcBef>
                          <a:spcPts val="0"/>
                        </a:spcBef>
                        <a:spcAft>
                          <a:spcPts val="0"/>
                        </a:spcAft>
                        <a:buNone/>
                      </a:pPr>
                      <a:r>
                        <a:rPr lang="en-US" sz="1801"/>
                        <a:t>Prevent contamination</a:t>
                      </a:r>
                      <a:endParaRPr/>
                    </a:p>
                  </a:txBody>
                  <a:tcPr marL="91450" marR="91450" marT="45725" marB="45725">
                    <a:noFill/>
                  </a:tcPr>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1"/>
                        <a:t>Waste	</a:t>
                      </a:r>
                      <a:endParaRPr/>
                    </a:p>
                  </a:txBody>
                  <a:tcPr marL="91450" marR="91450" marT="45725" marB="45725">
                    <a:noFill/>
                  </a:tcPr>
                </a:tc>
                <a:tc>
                  <a:txBody>
                    <a:bodyPr/>
                    <a:lstStyle/>
                    <a:p>
                      <a:pPr marL="0" marR="0" lvl="0" indent="0" algn="l" rtl="0">
                        <a:spcBef>
                          <a:spcPts val="0"/>
                        </a:spcBef>
                        <a:spcAft>
                          <a:spcPts val="0"/>
                        </a:spcAft>
                        <a:buNone/>
                      </a:pPr>
                      <a:r>
                        <a:rPr lang="en-US" sz="1801"/>
                        <a:t>Disposal of non-halal waste	</a:t>
                      </a:r>
                      <a:endParaRPr/>
                    </a:p>
                  </a:txBody>
                  <a:tcPr marL="91450" marR="91450" marT="45725" marB="45725">
                    <a:noFill/>
                  </a:tcPr>
                </a:tc>
                <a:tc>
                  <a:txBody>
                    <a:bodyPr/>
                    <a:lstStyle/>
                    <a:p>
                      <a:pPr marL="0" marR="0" lvl="0" indent="0" algn="l" rtl="0">
                        <a:spcBef>
                          <a:spcPts val="0"/>
                        </a:spcBef>
                        <a:spcAft>
                          <a:spcPts val="0"/>
                        </a:spcAft>
                        <a:buNone/>
                      </a:pPr>
                      <a:r>
                        <a:rPr lang="en-US" sz="1801"/>
                        <a:t>Prevent cross-contact</a:t>
                      </a:r>
                      <a:endParaRPr/>
                    </a:p>
                  </a:txBody>
                  <a:tcPr marL="91450" marR="91450" marT="45725" marB="45725">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57"/>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KEY COMPONENTS</a:t>
            </a:r>
            <a:endParaRPr/>
          </a:p>
        </p:txBody>
      </p:sp>
      <p:sp>
        <p:nvSpPr>
          <p:cNvPr id="1058" name="Google Shape;1058;p57"/>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highlight>
                  <a:srgbClr val="00FFFF"/>
                </a:highlight>
              </a:rPr>
              <a:t>Halal Documentation</a:t>
            </a:r>
            <a:endParaRPr/>
          </a:p>
          <a:p>
            <a:pPr marL="228604" lvl="0" indent="-171454" algn="l" rtl="0">
              <a:lnSpc>
                <a:spcPct val="90000"/>
              </a:lnSpc>
              <a:spcBef>
                <a:spcPts val="1001"/>
              </a:spcBef>
              <a:spcAft>
                <a:spcPts val="0"/>
              </a:spcAft>
              <a:buClr>
                <a:schemeClr val="dk1"/>
              </a:buClr>
              <a:buSzPts val="900"/>
              <a:buNone/>
            </a:pPr>
            <a:endParaRPr sz="900" b="1"/>
          </a:p>
          <a:p>
            <a:pPr marL="0" lvl="0" indent="0" algn="l" rtl="0">
              <a:lnSpc>
                <a:spcPct val="90000"/>
              </a:lnSpc>
              <a:spcBef>
                <a:spcPts val="1001"/>
              </a:spcBef>
              <a:spcAft>
                <a:spcPts val="0"/>
              </a:spcAft>
              <a:buClr>
                <a:schemeClr val="dk1"/>
              </a:buClr>
              <a:buSzPts val="2800"/>
              <a:buNone/>
            </a:pPr>
            <a:r>
              <a:rPr lang="en-US" b="1"/>
              <a:t>Types of Documentation:</a:t>
            </a:r>
            <a:endParaRPr/>
          </a:p>
          <a:p>
            <a:pPr marL="0" lvl="0" indent="0" algn="l" rtl="0">
              <a:lnSpc>
                <a:spcPct val="90000"/>
              </a:lnSpc>
              <a:spcBef>
                <a:spcPts val="1001"/>
              </a:spcBef>
              <a:spcAft>
                <a:spcPts val="0"/>
              </a:spcAft>
              <a:buClr>
                <a:schemeClr val="dk1"/>
              </a:buClr>
              <a:buSzPts val="2800"/>
              <a:buNone/>
            </a:pPr>
            <a:endParaRPr/>
          </a:p>
        </p:txBody>
      </p:sp>
      <p:sp>
        <p:nvSpPr>
          <p:cNvPr id="1059" name="Google Shape;1059;p5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060" name="Google Shape;1060;p5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061" name="Google Shape;1061;p5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1062" name="Google Shape;1062;p57"/>
          <p:cNvGrpSpPr/>
          <p:nvPr/>
        </p:nvGrpSpPr>
        <p:grpSpPr>
          <a:xfrm>
            <a:off x="838202" y="2753883"/>
            <a:ext cx="10515599" cy="3402562"/>
            <a:chOff x="0" y="20515"/>
            <a:chExt cx="10515599" cy="3402562"/>
          </a:xfrm>
        </p:grpSpPr>
        <p:sp>
          <p:nvSpPr>
            <p:cNvPr id="1063" name="Google Shape;1063;p57"/>
            <p:cNvSpPr/>
            <p:nvPr/>
          </p:nvSpPr>
          <p:spPr>
            <a:xfrm>
              <a:off x="0" y="41862"/>
              <a:ext cx="2626332" cy="45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7"/>
            <p:cNvSpPr txBox="1"/>
            <p:nvPr/>
          </p:nvSpPr>
          <p:spPr>
            <a:xfrm>
              <a:off x="0" y="41862"/>
              <a:ext cx="2626332" cy="455400"/>
            </a:xfrm>
            <a:prstGeom prst="rect">
              <a:avLst/>
            </a:prstGeom>
            <a:noFill/>
            <a:ln>
              <a:noFill/>
            </a:ln>
          </p:spPr>
          <p:txBody>
            <a:bodyPr spcFirstLastPara="1" wrap="square" lIns="163575" tIns="58400" rIns="163575" bIns="58400" anchor="ctr" anchorCtr="0">
              <a:noAutofit/>
            </a:bodyPr>
            <a:lstStyle/>
            <a:p>
              <a:pPr marL="0" marR="0" lvl="0" indent="0" algn="r" rtl="0">
                <a:lnSpc>
                  <a:spcPct val="90000"/>
                </a:lnSpc>
                <a:spcBef>
                  <a:spcPts val="0"/>
                </a:spcBef>
                <a:spcAft>
                  <a:spcPts val="0"/>
                </a:spcAft>
                <a:buClr>
                  <a:schemeClr val="dk1"/>
                </a:buClr>
                <a:buSzPts val="2300"/>
                <a:buFont typeface="Calibri"/>
                <a:buNone/>
              </a:pPr>
              <a:r>
                <a:rPr lang="en-US" sz="2300" b="1">
                  <a:solidFill>
                    <a:schemeClr val="dk1"/>
                  </a:solidFill>
                  <a:latin typeface="Calibri"/>
                  <a:ea typeface="Calibri"/>
                  <a:cs typeface="Calibri"/>
                  <a:sym typeface="Calibri"/>
                </a:rPr>
                <a:t>Halal/HAS Manual</a:t>
              </a:r>
              <a:endParaRPr sz="2300">
                <a:solidFill>
                  <a:schemeClr val="dk1"/>
                </a:solidFill>
                <a:latin typeface="Calibri"/>
                <a:ea typeface="Calibri"/>
                <a:cs typeface="Calibri"/>
                <a:sym typeface="Calibri"/>
              </a:endParaRPr>
            </a:p>
          </p:txBody>
        </p:sp>
        <p:sp>
          <p:nvSpPr>
            <p:cNvPr id="1065" name="Google Shape;1065;p57"/>
            <p:cNvSpPr/>
            <p:nvPr/>
          </p:nvSpPr>
          <p:spPr>
            <a:xfrm>
              <a:off x="2626332" y="20515"/>
              <a:ext cx="525266" cy="498093"/>
            </a:xfrm>
            <a:prstGeom prst="leftBrace">
              <a:avLst>
                <a:gd name="adj1" fmla="val 35000"/>
                <a:gd name="adj2" fmla="val 50000"/>
              </a:avLst>
            </a:prstGeom>
            <a:noFill/>
            <a:ln w="12700"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7"/>
            <p:cNvSpPr/>
            <p:nvPr/>
          </p:nvSpPr>
          <p:spPr>
            <a:xfrm>
              <a:off x="3361705" y="20515"/>
              <a:ext cx="7143624" cy="498093"/>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7"/>
            <p:cNvSpPr txBox="1"/>
            <p:nvPr/>
          </p:nvSpPr>
          <p:spPr>
            <a:xfrm>
              <a:off x="3361705" y="20515"/>
              <a:ext cx="7143624" cy="498093"/>
            </a:xfrm>
            <a:prstGeom prst="rect">
              <a:avLst/>
            </a:prstGeom>
            <a:noFill/>
            <a:ln>
              <a:noFill/>
            </a:ln>
          </p:spPr>
          <p:txBody>
            <a:bodyPr spcFirstLastPara="1" wrap="square" lIns="87625" tIns="87625" rIns="87625" bIns="87625" anchor="ctr" anchorCtr="0">
              <a:noAutofit/>
            </a:bodyPr>
            <a:lstStyle/>
            <a:p>
              <a:pPr marL="228600" marR="0" lvl="1" indent="-228600" algn="l" rtl="0">
                <a:lnSpc>
                  <a:spcPct val="90000"/>
                </a:lnSpc>
                <a:spcBef>
                  <a:spcPts val="0"/>
                </a:spcBef>
                <a:spcAft>
                  <a:spcPts val="0"/>
                </a:spcAft>
                <a:buClr>
                  <a:schemeClr val="lt1"/>
                </a:buClr>
                <a:buSzPts val="2300"/>
                <a:buFont typeface="Calibri"/>
                <a:buChar char="•"/>
              </a:pPr>
              <a:r>
                <a:rPr lang="en-US" sz="2300" b="0" i="0" u="none" strike="noStrike" cap="none">
                  <a:solidFill>
                    <a:schemeClr val="lt1"/>
                  </a:solidFill>
                  <a:latin typeface="Calibri"/>
                  <a:ea typeface="Calibri"/>
                  <a:cs typeface="Calibri"/>
                  <a:sym typeface="Calibri"/>
                </a:rPr>
                <a:t>overarching system guide</a:t>
              </a:r>
              <a:endParaRPr sz="2300" b="0" i="0" u="none" strike="noStrike" cap="none">
                <a:solidFill>
                  <a:schemeClr val="lt1"/>
                </a:solidFill>
                <a:latin typeface="Calibri"/>
                <a:ea typeface="Calibri"/>
                <a:cs typeface="Calibri"/>
                <a:sym typeface="Calibri"/>
              </a:endParaRPr>
            </a:p>
          </p:txBody>
        </p:sp>
        <p:sp>
          <p:nvSpPr>
            <p:cNvPr id="1068" name="Google Shape;1068;p57"/>
            <p:cNvSpPr/>
            <p:nvPr/>
          </p:nvSpPr>
          <p:spPr>
            <a:xfrm>
              <a:off x="0" y="622756"/>
              <a:ext cx="2628900" cy="45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7"/>
            <p:cNvSpPr txBox="1"/>
            <p:nvPr/>
          </p:nvSpPr>
          <p:spPr>
            <a:xfrm>
              <a:off x="0" y="622756"/>
              <a:ext cx="2628900" cy="455400"/>
            </a:xfrm>
            <a:prstGeom prst="rect">
              <a:avLst/>
            </a:prstGeom>
            <a:noFill/>
            <a:ln>
              <a:noFill/>
            </a:ln>
          </p:spPr>
          <p:txBody>
            <a:bodyPr spcFirstLastPara="1" wrap="square" lIns="163575" tIns="58400" rIns="163575" bIns="58400" anchor="ctr" anchorCtr="0">
              <a:noAutofit/>
            </a:bodyPr>
            <a:lstStyle/>
            <a:p>
              <a:pPr marL="0" marR="0" lvl="0" indent="0" algn="r" rtl="0">
                <a:lnSpc>
                  <a:spcPct val="90000"/>
                </a:lnSpc>
                <a:spcBef>
                  <a:spcPts val="0"/>
                </a:spcBef>
                <a:spcAft>
                  <a:spcPts val="0"/>
                </a:spcAft>
                <a:buClr>
                  <a:schemeClr val="dk1"/>
                </a:buClr>
                <a:buSzPts val="2300"/>
                <a:buFont typeface="Calibri"/>
                <a:buNone/>
              </a:pPr>
              <a:r>
                <a:rPr lang="en-US" sz="2300" b="1">
                  <a:solidFill>
                    <a:schemeClr val="dk1"/>
                  </a:solidFill>
                  <a:latin typeface="Calibri"/>
                  <a:ea typeface="Calibri"/>
                  <a:cs typeface="Calibri"/>
                  <a:sym typeface="Calibri"/>
                </a:rPr>
                <a:t>SOPs</a:t>
              </a:r>
              <a:endParaRPr sz="2300">
                <a:solidFill>
                  <a:schemeClr val="dk1"/>
                </a:solidFill>
                <a:latin typeface="Calibri"/>
                <a:ea typeface="Calibri"/>
                <a:cs typeface="Calibri"/>
                <a:sym typeface="Calibri"/>
              </a:endParaRPr>
            </a:p>
          </p:txBody>
        </p:sp>
        <p:sp>
          <p:nvSpPr>
            <p:cNvPr id="1070" name="Google Shape;1070;p57"/>
            <p:cNvSpPr/>
            <p:nvPr/>
          </p:nvSpPr>
          <p:spPr>
            <a:xfrm>
              <a:off x="2628899" y="601409"/>
              <a:ext cx="525780" cy="498093"/>
            </a:xfrm>
            <a:prstGeom prst="leftBrace">
              <a:avLst>
                <a:gd name="adj1" fmla="val 35000"/>
                <a:gd name="adj2" fmla="val 50000"/>
              </a:avLst>
            </a:prstGeom>
            <a:noFill/>
            <a:ln w="12700"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57"/>
            <p:cNvSpPr/>
            <p:nvPr/>
          </p:nvSpPr>
          <p:spPr>
            <a:xfrm>
              <a:off x="3364991" y="601409"/>
              <a:ext cx="7150608" cy="498093"/>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57"/>
            <p:cNvSpPr txBox="1"/>
            <p:nvPr/>
          </p:nvSpPr>
          <p:spPr>
            <a:xfrm>
              <a:off x="3364991" y="601409"/>
              <a:ext cx="7150608" cy="498093"/>
            </a:xfrm>
            <a:prstGeom prst="rect">
              <a:avLst/>
            </a:prstGeom>
            <a:noFill/>
            <a:ln>
              <a:noFill/>
            </a:ln>
          </p:spPr>
          <p:txBody>
            <a:bodyPr spcFirstLastPara="1" wrap="square" lIns="87625" tIns="87625" rIns="87625" bIns="87625" anchor="ctr" anchorCtr="0">
              <a:noAutofit/>
            </a:bodyPr>
            <a:lstStyle/>
            <a:p>
              <a:pPr marL="228600" marR="0" lvl="1" indent="-228600" algn="l" rtl="0">
                <a:lnSpc>
                  <a:spcPct val="90000"/>
                </a:lnSpc>
                <a:spcBef>
                  <a:spcPts val="0"/>
                </a:spcBef>
                <a:spcAft>
                  <a:spcPts val="0"/>
                </a:spcAft>
                <a:buClr>
                  <a:schemeClr val="lt1"/>
                </a:buClr>
                <a:buSzPts val="2300"/>
                <a:buFont typeface="Calibri"/>
                <a:buChar char="•"/>
              </a:pPr>
              <a:r>
                <a:rPr lang="en-US" sz="2300" b="0" i="0" u="none" strike="noStrike" cap="none">
                  <a:solidFill>
                    <a:schemeClr val="lt1"/>
                  </a:solidFill>
                  <a:latin typeface="Calibri"/>
                  <a:ea typeface="Calibri"/>
                  <a:cs typeface="Calibri"/>
                  <a:sym typeface="Calibri"/>
                </a:rPr>
                <a:t>detailed work procedures</a:t>
              </a:r>
              <a:endParaRPr sz="2300" b="0" i="0" u="none" strike="noStrike" cap="none">
                <a:solidFill>
                  <a:schemeClr val="lt1"/>
                </a:solidFill>
                <a:latin typeface="Calibri"/>
                <a:ea typeface="Calibri"/>
                <a:cs typeface="Calibri"/>
                <a:sym typeface="Calibri"/>
              </a:endParaRPr>
            </a:p>
          </p:txBody>
        </p:sp>
        <p:sp>
          <p:nvSpPr>
            <p:cNvPr id="1073" name="Google Shape;1073;p57"/>
            <p:cNvSpPr/>
            <p:nvPr/>
          </p:nvSpPr>
          <p:spPr>
            <a:xfrm>
              <a:off x="0" y="1203650"/>
              <a:ext cx="2626332" cy="45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57"/>
            <p:cNvSpPr txBox="1"/>
            <p:nvPr/>
          </p:nvSpPr>
          <p:spPr>
            <a:xfrm>
              <a:off x="0" y="1203650"/>
              <a:ext cx="2626332" cy="455400"/>
            </a:xfrm>
            <a:prstGeom prst="rect">
              <a:avLst/>
            </a:prstGeom>
            <a:noFill/>
            <a:ln>
              <a:noFill/>
            </a:ln>
          </p:spPr>
          <p:txBody>
            <a:bodyPr spcFirstLastPara="1" wrap="square" lIns="163575" tIns="58400" rIns="163575" bIns="58400" anchor="ctr" anchorCtr="0">
              <a:noAutofit/>
            </a:bodyPr>
            <a:lstStyle/>
            <a:p>
              <a:pPr marL="0" marR="0" lvl="0" indent="0" algn="r" rtl="0">
                <a:lnSpc>
                  <a:spcPct val="90000"/>
                </a:lnSpc>
                <a:spcBef>
                  <a:spcPts val="0"/>
                </a:spcBef>
                <a:spcAft>
                  <a:spcPts val="0"/>
                </a:spcAft>
                <a:buClr>
                  <a:schemeClr val="dk1"/>
                </a:buClr>
                <a:buSzPts val="2300"/>
                <a:buFont typeface="Calibri"/>
                <a:buNone/>
              </a:pPr>
              <a:r>
                <a:rPr lang="en-US" sz="2300" b="1">
                  <a:solidFill>
                    <a:schemeClr val="dk1"/>
                  </a:solidFill>
                  <a:latin typeface="Calibri"/>
                  <a:ea typeface="Calibri"/>
                  <a:cs typeface="Calibri"/>
                  <a:sym typeface="Calibri"/>
                </a:rPr>
                <a:t>Work Instructions</a:t>
              </a:r>
              <a:r>
                <a:rPr lang="en-US" sz="2300">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p:txBody>
        </p:sp>
        <p:sp>
          <p:nvSpPr>
            <p:cNvPr id="1075" name="Google Shape;1075;p57"/>
            <p:cNvSpPr/>
            <p:nvPr/>
          </p:nvSpPr>
          <p:spPr>
            <a:xfrm>
              <a:off x="2626332" y="1182303"/>
              <a:ext cx="525266" cy="498093"/>
            </a:xfrm>
            <a:prstGeom prst="leftBrace">
              <a:avLst>
                <a:gd name="adj1" fmla="val 35000"/>
                <a:gd name="adj2" fmla="val 50000"/>
              </a:avLst>
            </a:prstGeom>
            <a:noFill/>
            <a:ln w="12700"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57"/>
            <p:cNvSpPr/>
            <p:nvPr/>
          </p:nvSpPr>
          <p:spPr>
            <a:xfrm>
              <a:off x="3361705" y="1182303"/>
              <a:ext cx="7143624" cy="498093"/>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57"/>
            <p:cNvSpPr txBox="1"/>
            <p:nvPr/>
          </p:nvSpPr>
          <p:spPr>
            <a:xfrm>
              <a:off x="3361705" y="1182303"/>
              <a:ext cx="7143624" cy="498093"/>
            </a:xfrm>
            <a:prstGeom prst="rect">
              <a:avLst/>
            </a:prstGeom>
            <a:noFill/>
            <a:ln>
              <a:noFill/>
            </a:ln>
          </p:spPr>
          <p:txBody>
            <a:bodyPr spcFirstLastPara="1" wrap="square" lIns="87625" tIns="87625" rIns="87625" bIns="87625" anchor="ctr" anchorCtr="0">
              <a:noAutofit/>
            </a:bodyPr>
            <a:lstStyle/>
            <a:p>
              <a:pPr marL="228600" marR="0" lvl="1" indent="-228600" algn="l" rtl="0">
                <a:lnSpc>
                  <a:spcPct val="90000"/>
                </a:lnSpc>
                <a:spcBef>
                  <a:spcPts val="0"/>
                </a:spcBef>
                <a:spcAft>
                  <a:spcPts val="0"/>
                </a:spcAft>
                <a:buClr>
                  <a:schemeClr val="lt1"/>
                </a:buClr>
                <a:buSzPts val="2300"/>
                <a:buFont typeface="Calibri"/>
                <a:buChar char="•"/>
              </a:pPr>
              <a:r>
                <a:rPr lang="en-US" sz="2300" b="0" i="0" u="none" strike="noStrike" cap="none">
                  <a:solidFill>
                    <a:schemeClr val="lt1"/>
                  </a:solidFill>
                  <a:latin typeface="Calibri"/>
                  <a:ea typeface="Calibri"/>
                  <a:cs typeface="Calibri"/>
                  <a:sym typeface="Calibri"/>
                </a:rPr>
                <a:t>for specific operations</a:t>
              </a:r>
              <a:endParaRPr sz="2300" b="0" i="0" u="none" strike="noStrike" cap="none">
                <a:solidFill>
                  <a:schemeClr val="lt1"/>
                </a:solidFill>
                <a:latin typeface="Calibri"/>
                <a:ea typeface="Calibri"/>
                <a:cs typeface="Calibri"/>
                <a:sym typeface="Calibri"/>
              </a:endParaRPr>
            </a:p>
          </p:txBody>
        </p:sp>
        <p:sp>
          <p:nvSpPr>
            <p:cNvPr id="1078" name="Google Shape;1078;p57"/>
            <p:cNvSpPr/>
            <p:nvPr/>
          </p:nvSpPr>
          <p:spPr>
            <a:xfrm>
              <a:off x="0" y="1784543"/>
              <a:ext cx="2626332" cy="45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57"/>
            <p:cNvSpPr txBox="1"/>
            <p:nvPr/>
          </p:nvSpPr>
          <p:spPr>
            <a:xfrm>
              <a:off x="0" y="1784543"/>
              <a:ext cx="2626332" cy="455400"/>
            </a:xfrm>
            <a:prstGeom prst="rect">
              <a:avLst/>
            </a:prstGeom>
            <a:noFill/>
            <a:ln>
              <a:noFill/>
            </a:ln>
          </p:spPr>
          <p:txBody>
            <a:bodyPr spcFirstLastPara="1" wrap="square" lIns="163575" tIns="58400" rIns="163575" bIns="58400" anchor="ctr" anchorCtr="0">
              <a:noAutofit/>
            </a:bodyPr>
            <a:lstStyle/>
            <a:p>
              <a:pPr marL="0" marR="0" lvl="0" indent="0" algn="r" rtl="0">
                <a:lnSpc>
                  <a:spcPct val="90000"/>
                </a:lnSpc>
                <a:spcBef>
                  <a:spcPts val="0"/>
                </a:spcBef>
                <a:spcAft>
                  <a:spcPts val="0"/>
                </a:spcAft>
                <a:buClr>
                  <a:schemeClr val="dk1"/>
                </a:buClr>
                <a:buSzPts val="2300"/>
                <a:buFont typeface="Calibri"/>
                <a:buNone/>
              </a:pPr>
              <a:r>
                <a:rPr lang="en-US" sz="2300" b="1">
                  <a:solidFill>
                    <a:schemeClr val="dk1"/>
                  </a:solidFill>
                  <a:latin typeface="Calibri"/>
                  <a:ea typeface="Calibri"/>
                  <a:cs typeface="Calibri"/>
                  <a:sym typeface="Calibri"/>
                </a:rPr>
                <a:t>Forms / Checklists</a:t>
              </a:r>
              <a:endParaRPr sz="2300">
                <a:solidFill>
                  <a:schemeClr val="dk1"/>
                </a:solidFill>
                <a:latin typeface="Calibri"/>
                <a:ea typeface="Calibri"/>
                <a:cs typeface="Calibri"/>
                <a:sym typeface="Calibri"/>
              </a:endParaRPr>
            </a:p>
          </p:txBody>
        </p:sp>
        <p:sp>
          <p:nvSpPr>
            <p:cNvPr id="1080" name="Google Shape;1080;p57"/>
            <p:cNvSpPr/>
            <p:nvPr/>
          </p:nvSpPr>
          <p:spPr>
            <a:xfrm>
              <a:off x="2626332" y="1763197"/>
              <a:ext cx="525266" cy="498093"/>
            </a:xfrm>
            <a:prstGeom prst="leftBrace">
              <a:avLst>
                <a:gd name="adj1" fmla="val 35000"/>
                <a:gd name="adj2" fmla="val 50000"/>
              </a:avLst>
            </a:prstGeom>
            <a:noFill/>
            <a:ln w="12700"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7"/>
            <p:cNvSpPr/>
            <p:nvPr/>
          </p:nvSpPr>
          <p:spPr>
            <a:xfrm>
              <a:off x="3361705" y="1763197"/>
              <a:ext cx="7143624" cy="498093"/>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7"/>
            <p:cNvSpPr txBox="1"/>
            <p:nvPr/>
          </p:nvSpPr>
          <p:spPr>
            <a:xfrm>
              <a:off x="3361705" y="1763197"/>
              <a:ext cx="7143624" cy="498093"/>
            </a:xfrm>
            <a:prstGeom prst="rect">
              <a:avLst/>
            </a:prstGeom>
            <a:noFill/>
            <a:ln>
              <a:noFill/>
            </a:ln>
          </p:spPr>
          <p:txBody>
            <a:bodyPr spcFirstLastPara="1" wrap="square" lIns="87625" tIns="87625" rIns="87625" bIns="87625" anchor="ctr" anchorCtr="0">
              <a:noAutofit/>
            </a:bodyPr>
            <a:lstStyle/>
            <a:p>
              <a:pPr marL="228600" marR="0" lvl="1" indent="-228600" algn="l" rtl="0">
                <a:lnSpc>
                  <a:spcPct val="90000"/>
                </a:lnSpc>
                <a:spcBef>
                  <a:spcPts val="0"/>
                </a:spcBef>
                <a:spcAft>
                  <a:spcPts val="0"/>
                </a:spcAft>
                <a:buClr>
                  <a:schemeClr val="lt1"/>
                </a:buClr>
                <a:buSzPts val="2300"/>
                <a:buFont typeface="Calibri"/>
                <a:buChar char="•"/>
              </a:pPr>
              <a:r>
                <a:rPr lang="en-US" sz="2300" b="0" i="0" u="none" strike="noStrike" cap="none">
                  <a:solidFill>
                    <a:schemeClr val="lt1"/>
                  </a:solidFill>
                  <a:latin typeface="Calibri"/>
                  <a:ea typeface="Calibri"/>
                  <a:cs typeface="Calibri"/>
                  <a:sym typeface="Calibri"/>
                </a:rPr>
                <a:t>daily/weekly/shift records</a:t>
              </a:r>
              <a:endParaRPr sz="2300" b="0" i="0" u="none" strike="noStrike" cap="none">
                <a:solidFill>
                  <a:schemeClr val="lt1"/>
                </a:solidFill>
                <a:latin typeface="Calibri"/>
                <a:ea typeface="Calibri"/>
                <a:cs typeface="Calibri"/>
                <a:sym typeface="Calibri"/>
              </a:endParaRPr>
            </a:p>
          </p:txBody>
        </p:sp>
        <p:sp>
          <p:nvSpPr>
            <p:cNvPr id="1083" name="Google Shape;1083;p57"/>
            <p:cNvSpPr/>
            <p:nvPr/>
          </p:nvSpPr>
          <p:spPr>
            <a:xfrm>
              <a:off x="0" y="2365437"/>
              <a:ext cx="2628900" cy="45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7"/>
            <p:cNvSpPr txBox="1"/>
            <p:nvPr/>
          </p:nvSpPr>
          <p:spPr>
            <a:xfrm>
              <a:off x="0" y="2365437"/>
              <a:ext cx="2628900" cy="455400"/>
            </a:xfrm>
            <a:prstGeom prst="rect">
              <a:avLst/>
            </a:prstGeom>
            <a:noFill/>
            <a:ln>
              <a:noFill/>
            </a:ln>
          </p:spPr>
          <p:txBody>
            <a:bodyPr spcFirstLastPara="1" wrap="square" lIns="163575" tIns="58400" rIns="163575" bIns="58400" anchor="ctr" anchorCtr="0">
              <a:noAutofit/>
            </a:bodyPr>
            <a:lstStyle/>
            <a:p>
              <a:pPr marL="0" marR="0" lvl="0" indent="0" algn="r" rtl="0">
                <a:lnSpc>
                  <a:spcPct val="90000"/>
                </a:lnSpc>
                <a:spcBef>
                  <a:spcPts val="0"/>
                </a:spcBef>
                <a:spcAft>
                  <a:spcPts val="0"/>
                </a:spcAft>
                <a:buClr>
                  <a:schemeClr val="dk1"/>
                </a:buClr>
                <a:buSzPts val="2300"/>
                <a:buFont typeface="Calibri"/>
                <a:buNone/>
              </a:pPr>
              <a:r>
                <a:rPr lang="en-US" sz="2300" b="1">
                  <a:solidFill>
                    <a:schemeClr val="dk1"/>
                  </a:solidFill>
                  <a:latin typeface="Calibri"/>
                  <a:ea typeface="Calibri"/>
                  <a:cs typeface="Calibri"/>
                  <a:sym typeface="Calibri"/>
                </a:rPr>
                <a:t>Registers</a:t>
              </a:r>
              <a:endParaRPr sz="2300">
                <a:solidFill>
                  <a:schemeClr val="dk1"/>
                </a:solidFill>
                <a:latin typeface="Calibri"/>
                <a:ea typeface="Calibri"/>
                <a:cs typeface="Calibri"/>
                <a:sym typeface="Calibri"/>
              </a:endParaRPr>
            </a:p>
          </p:txBody>
        </p:sp>
        <p:sp>
          <p:nvSpPr>
            <p:cNvPr id="1085" name="Google Shape;1085;p57"/>
            <p:cNvSpPr/>
            <p:nvPr/>
          </p:nvSpPr>
          <p:spPr>
            <a:xfrm>
              <a:off x="2628899" y="2344090"/>
              <a:ext cx="525780" cy="498093"/>
            </a:xfrm>
            <a:prstGeom prst="leftBrace">
              <a:avLst>
                <a:gd name="adj1" fmla="val 35000"/>
                <a:gd name="adj2" fmla="val 50000"/>
              </a:avLst>
            </a:prstGeom>
            <a:noFill/>
            <a:ln w="12700"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7"/>
            <p:cNvSpPr/>
            <p:nvPr/>
          </p:nvSpPr>
          <p:spPr>
            <a:xfrm>
              <a:off x="3364991" y="2344090"/>
              <a:ext cx="7150608" cy="498093"/>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7"/>
            <p:cNvSpPr txBox="1"/>
            <p:nvPr/>
          </p:nvSpPr>
          <p:spPr>
            <a:xfrm>
              <a:off x="3364991" y="2344090"/>
              <a:ext cx="7150608" cy="498093"/>
            </a:xfrm>
            <a:prstGeom prst="rect">
              <a:avLst/>
            </a:prstGeom>
            <a:noFill/>
            <a:ln>
              <a:noFill/>
            </a:ln>
          </p:spPr>
          <p:txBody>
            <a:bodyPr spcFirstLastPara="1" wrap="square" lIns="87625" tIns="87625" rIns="87625" bIns="87625" anchor="ctr" anchorCtr="0">
              <a:noAutofit/>
            </a:bodyPr>
            <a:lstStyle/>
            <a:p>
              <a:pPr marL="228600" marR="0" lvl="1" indent="-228600" algn="l" rtl="0">
                <a:lnSpc>
                  <a:spcPct val="90000"/>
                </a:lnSpc>
                <a:spcBef>
                  <a:spcPts val="0"/>
                </a:spcBef>
                <a:spcAft>
                  <a:spcPts val="0"/>
                </a:spcAft>
                <a:buClr>
                  <a:schemeClr val="lt1"/>
                </a:buClr>
                <a:buSzPts val="2300"/>
                <a:buFont typeface="Calibri"/>
                <a:buChar char="•"/>
              </a:pPr>
              <a:r>
                <a:rPr lang="en-US" sz="2300" b="0" i="0" u="none" strike="noStrike" cap="none">
                  <a:solidFill>
                    <a:schemeClr val="lt1"/>
                  </a:solidFill>
                  <a:latin typeface="Calibri"/>
                  <a:ea typeface="Calibri"/>
                  <a:cs typeface="Calibri"/>
                  <a:sym typeface="Calibri"/>
                </a:rPr>
                <a:t>supplier, training, corrective actions</a:t>
              </a:r>
              <a:endParaRPr sz="2300" b="0" i="0" u="none" strike="noStrike" cap="none">
                <a:solidFill>
                  <a:schemeClr val="lt1"/>
                </a:solidFill>
                <a:latin typeface="Calibri"/>
                <a:ea typeface="Calibri"/>
                <a:cs typeface="Calibri"/>
                <a:sym typeface="Calibri"/>
              </a:endParaRPr>
            </a:p>
          </p:txBody>
        </p:sp>
        <p:sp>
          <p:nvSpPr>
            <p:cNvPr id="1088" name="Google Shape;1088;p57"/>
            <p:cNvSpPr/>
            <p:nvPr/>
          </p:nvSpPr>
          <p:spPr>
            <a:xfrm>
              <a:off x="0" y="2946331"/>
              <a:ext cx="2628900" cy="45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7"/>
            <p:cNvSpPr txBox="1"/>
            <p:nvPr/>
          </p:nvSpPr>
          <p:spPr>
            <a:xfrm>
              <a:off x="0" y="2946331"/>
              <a:ext cx="2628900" cy="455400"/>
            </a:xfrm>
            <a:prstGeom prst="rect">
              <a:avLst/>
            </a:prstGeom>
            <a:noFill/>
            <a:ln>
              <a:noFill/>
            </a:ln>
          </p:spPr>
          <p:txBody>
            <a:bodyPr spcFirstLastPara="1" wrap="square" lIns="163575" tIns="58400" rIns="163575" bIns="58400" anchor="ctr" anchorCtr="0">
              <a:noAutofit/>
            </a:bodyPr>
            <a:lstStyle/>
            <a:p>
              <a:pPr marL="0" marR="0" lvl="0" indent="0" algn="r" rtl="0">
                <a:lnSpc>
                  <a:spcPct val="90000"/>
                </a:lnSpc>
                <a:spcBef>
                  <a:spcPts val="0"/>
                </a:spcBef>
                <a:spcAft>
                  <a:spcPts val="0"/>
                </a:spcAft>
                <a:buClr>
                  <a:schemeClr val="dk1"/>
                </a:buClr>
                <a:buSzPts val="2300"/>
                <a:buFont typeface="Calibri"/>
                <a:buNone/>
              </a:pPr>
              <a:r>
                <a:rPr lang="en-US" sz="2300" b="1">
                  <a:solidFill>
                    <a:schemeClr val="dk1"/>
                  </a:solidFill>
                  <a:latin typeface="Calibri"/>
                  <a:ea typeface="Calibri"/>
                  <a:cs typeface="Calibri"/>
                  <a:sym typeface="Calibri"/>
                </a:rPr>
                <a:t>Certificates</a:t>
              </a:r>
              <a:r>
                <a:rPr lang="en-US" sz="2300">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p:txBody>
        </p:sp>
        <p:sp>
          <p:nvSpPr>
            <p:cNvPr id="1090" name="Google Shape;1090;p57"/>
            <p:cNvSpPr/>
            <p:nvPr/>
          </p:nvSpPr>
          <p:spPr>
            <a:xfrm>
              <a:off x="2628899" y="2924984"/>
              <a:ext cx="525780" cy="498093"/>
            </a:xfrm>
            <a:prstGeom prst="leftBrace">
              <a:avLst>
                <a:gd name="adj1" fmla="val 35000"/>
                <a:gd name="adj2" fmla="val 50000"/>
              </a:avLst>
            </a:prstGeom>
            <a:noFill/>
            <a:ln w="12700"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7"/>
            <p:cNvSpPr/>
            <p:nvPr/>
          </p:nvSpPr>
          <p:spPr>
            <a:xfrm>
              <a:off x="3364991" y="2924984"/>
              <a:ext cx="7150608" cy="498093"/>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7"/>
            <p:cNvSpPr txBox="1"/>
            <p:nvPr/>
          </p:nvSpPr>
          <p:spPr>
            <a:xfrm>
              <a:off x="3364991" y="2924984"/>
              <a:ext cx="7150608" cy="498093"/>
            </a:xfrm>
            <a:prstGeom prst="rect">
              <a:avLst/>
            </a:prstGeom>
            <a:noFill/>
            <a:ln>
              <a:noFill/>
            </a:ln>
          </p:spPr>
          <p:txBody>
            <a:bodyPr spcFirstLastPara="1" wrap="square" lIns="87625" tIns="87625" rIns="87625" bIns="87625" anchor="ctr" anchorCtr="0">
              <a:noAutofit/>
            </a:bodyPr>
            <a:lstStyle/>
            <a:p>
              <a:pPr marL="228600" marR="0" lvl="1" indent="-228600" algn="l" rtl="0">
                <a:lnSpc>
                  <a:spcPct val="90000"/>
                </a:lnSpc>
                <a:spcBef>
                  <a:spcPts val="0"/>
                </a:spcBef>
                <a:spcAft>
                  <a:spcPts val="0"/>
                </a:spcAft>
                <a:buClr>
                  <a:schemeClr val="lt1"/>
                </a:buClr>
                <a:buSzPts val="2300"/>
                <a:buFont typeface="Calibri"/>
                <a:buChar char="•"/>
              </a:pPr>
              <a:r>
                <a:rPr lang="en-US" sz="2300" b="0" i="0" u="none" strike="noStrike" cap="none">
                  <a:solidFill>
                    <a:schemeClr val="lt1"/>
                  </a:solidFill>
                  <a:latin typeface="Calibri"/>
                  <a:ea typeface="Calibri"/>
                  <a:cs typeface="Calibri"/>
                  <a:sym typeface="Calibri"/>
                </a:rPr>
                <a:t>halal certificates from suppliers</a:t>
              </a:r>
              <a:endParaRPr sz="2300" b="0" i="0" u="none" strike="noStrike" cap="none">
                <a:solidFill>
                  <a:schemeClr val="lt1"/>
                </a:solidFill>
                <a:latin typeface="Calibri"/>
                <a:ea typeface="Calibri"/>
                <a:cs typeface="Calibri"/>
                <a:sym typeface="Calibri"/>
              </a:endParaRPr>
            </a:p>
          </p:txBody>
        </p:sp>
      </p:grpSp>
      <p:sp>
        <p:nvSpPr>
          <p:cNvPr id="1093" name="Google Shape;1093;p57"/>
          <p:cNvSpPr txBox="1"/>
          <p:nvPr/>
        </p:nvSpPr>
        <p:spPr>
          <a:xfrm>
            <a:off x="7012857" y="1366273"/>
            <a:ext cx="4264743" cy="1200329"/>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All documents must be </a:t>
            </a:r>
            <a:r>
              <a:rPr lang="en-US" sz="2400" b="1">
                <a:solidFill>
                  <a:schemeClr val="dk1"/>
                </a:solidFill>
                <a:latin typeface="Calibri"/>
                <a:ea typeface="Calibri"/>
                <a:cs typeface="Calibri"/>
                <a:sym typeface="Calibri"/>
              </a:rPr>
              <a:t>controlled, up-to-date, accessible, and auditable</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58"/>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KEY COMPONENTS</a:t>
            </a:r>
            <a:endParaRPr/>
          </a:p>
        </p:txBody>
      </p:sp>
      <p:sp>
        <p:nvSpPr>
          <p:cNvPr id="1099" name="Google Shape;1099;p58"/>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Document Control</a:t>
            </a:r>
            <a:endParaRPr/>
          </a:p>
          <a:p>
            <a:pPr marL="0" lvl="0" indent="0" algn="l" rtl="0">
              <a:lnSpc>
                <a:spcPct val="90000"/>
              </a:lnSpc>
              <a:spcBef>
                <a:spcPts val="1001"/>
              </a:spcBef>
              <a:spcAft>
                <a:spcPts val="0"/>
              </a:spcAft>
              <a:buClr>
                <a:schemeClr val="dk1"/>
              </a:buClr>
              <a:buSzPts val="1200"/>
              <a:buNone/>
            </a:pPr>
            <a:endParaRPr sz="1200" b="1"/>
          </a:p>
          <a:p>
            <a:pPr marL="0" lvl="0" indent="0" algn="l" rtl="0">
              <a:lnSpc>
                <a:spcPct val="90000"/>
              </a:lnSpc>
              <a:spcBef>
                <a:spcPts val="1001"/>
              </a:spcBef>
              <a:spcAft>
                <a:spcPts val="0"/>
              </a:spcAft>
              <a:buClr>
                <a:schemeClr val="dk1"/>
              </a:buClr>
              <a:buSzPts val="2400"/>
              <a:buNone/>
            </a:pPr>
            <a:r>
              <a:rPr lang="en-US" sz="2400" b="1"/>
              <a:t>Purpose:</a:t>
            </a:r>
            <a:r>
              <a:rPr lang="en-US" sz="2400"/>
              <a:t> Prevent misuse or outdated documents from affecting halal compliance.</a:t>
            </a:r>
            <a:endParaRPr/>
          </a:p>
          <a:p>
            <a:pPr marL="228604" lvl="0" indent="-161929" algn="l" rtl="0">
              <a:lnSpc>
                <a:spcPct val="90000"/>
              </a:lnSpc>
              <a:spcBef>
                <a:spcPts val="1001"/>
              </a:spcBef>
              <a:spcAft>
                <a:spcPts val="0"/>
              </a:spcAft>
              <a:buClr>
                <a:schemeClr val="dk1"/>
              </a:buClr>
              <a:buSzPts val="1050"/>
              <a:buNone/>
            </a:pPr>
            <a:endParaRPr sz="1050" b="1"/>
          </a:p>
          <a:p>
            <a:pPr marL="0" lvl="0" indent="0" algn="l" rtl="0">
              <a:lnSpc>
                <a:spcPct val="90000"/>
              </a:lnSpc>
              <a:spcBef>
                <a:spcPts val="1001"/>
              </a:spcBef>
              <a:spcAft>
                <a:spcPts val="0"/>
              </a:spcAft>
              <a:buClr>
                <a:schemeClr val="dk1"/>
              </a:buClr>
              <a:buSzPts val="2400"/>
              <a:buNone/>
            </a:pPr>
            <a:r>
              <a:rPr lang="en-US" sz="2400" b="1"/>
              <a:t>Requirements:</a:t>
            </a:r>
            <a:endParaRPr sz="2400"/>
          </a:p>
          <a:p>
            <a:pPr marL="228604" lvl="0" indent="-228604" algn="l" rtl="0">
              <a:lnSpc>
                <a:spcPct val="90000"/>
              </a:lnSpc>
              <a:spcBef>
                <a:spcPts val="1001"/>
              </a:spcBef>
              <a:spcAft>
                <a:spcPts val="0"/>
              </a:spcAft>
              <a:buClr>
                <a:schemeClr val="dk1"/>
              </a:buClr>
              <a:buSzPts val="2400"/>
              <a:buChar char="•"/>
            </a:pPr>
            <a:r>
              <a:rPr lang="en-US" sz="2400"/>
              <a:t>Each document must have:</a:t>
            </a:r>
            <a:endParaRPr/>
          </a:p>
          <a:p>
            <a:pPr marL="685809" lvl="1" indent="-228604" algn="l" rtl="0">
              <a:lnSpc>
                <a:spcPct val="90000"/>
              </a:lnSpc>
              <a:spcBef>
                <a:spcPts val="500"/>
              </a:spcBef>
              <a:spcAft>
                <a:spcPts val="0"/>
              </a:spcAft>
              <a:buClr>
                <a:schemeClr val="dk1"/>
              </a:buClr>
              <a:buSzPts val="2400"/>
              <a:buChar char="•"/>
            </a:pPr>
            <a:r>
              <a:rPr lang="en-US"/>
              <a:t>Code / number</a:t>
            </a:r>
            <a:endParaRPr/>
          </a:p>
          <a:p>
            <a:pPr marL="685809" lvl="1" indent="-228604" algn="l" rtl="0">
              <a:lnSpc>
                <a:spcPct val="90000"/>
              </a:lnSpc>
              <a:spcBef>
                <a:spcPts val="500"/>
              </a:spcBef>
              <a:spcAft>
                <a:spcPts val="0"/>
              </a:spcAft>
              <a:buClr>
                <a:schemeClr val="dk1"/>
              </a:buClr>
              <a:buSzPts val="2400"/>
              <a:buChar char="•"/>
            </a:pPr>
            <a:r>
              <a:rPr lang="en-US"/>
              <a:t>Version &amp; revision date</a:t>
            </a:r>
            <a:endParaRPr/>
          </a:p>
          <a:p>
            <a:pPr marL="685809" lvl="1" indent="-228604" algn="l" rtl="0">
              <a:lnSpc>
                <a:spcPct val="90000"/>
              </a:lnSpc>
              <a:spcBef>
                <a:spcPts val="500"/>
              </a:spcBef>
              <a:spcAft>
                <a:spcPts val="0"/>
              </a:spcAft>
              <a:buClr>
                <a:schemeClr val="dk1"/>
              </a:buClr>
              <a:buSzPts val="2400"/>
              <a:buChar char="•"/>
            </a:pPr>
            <a:r>
              <a:rPr lang="en-US"/>
              <a:t>Approval signature</a:t>
            </a:r>
            <a:endParaRPr/>
          </a:p>
          <a:p>
            <a:pPr marL="228604" lvl="0" indent="-50803" algn="l" rtl="0">
              <a:lnSpc>
                <a:spcPct val="90000"/>
              </a:lnSpc>
              <a:spcBef>
                <a:spcPts val="1001"/>
              </a:spcBef>
              <a:spcAft>
                <a:spcPts val="0"/>
              </a:spcAft>
              <a:buClr>
                <a:schemeClr val="dk1"/>
              </a:buClr>
              <a:buSzPts val="2800"/>
              <a:buNone/>
            </a:pPr>
            <a:endParaRPr/>
          </a:p>
        </p:txBody>
      </p:sp>
      <p:sp>
        <p:nvSpPr>
          <p:cNvPr id="1100" name="Google Shape;1100;p5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101" name="Google Shape;1101;p5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102" name="Google Shape;1102;p5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
        <p:nvSpPr>
          <p:cNvPr id="1103" name="Google Shape;1103;p58"/>
          <p:cNvSpPr txBox="1"/>
          <p:nvPr/>
        </p:nvSpPr>
        <p:spPr>
          <a:xfrm>
            <a:off x="990599" y="5175220"/>
            <a:ext cx="10210798" cy="830997"/>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Only the </a:t>
            </a:r>
            <a:r>
              <a:rPr lang="en-US" sz="2400" b="1">
                <a:solidFill>
                  <a:schemeClr val="dk1"/>
                </a:solidFill>
                <a:latin typeface="Calibri"/>
                <a:ea typeface="Calibri"/>
                <a:cs typeface="Calibri"/>
                <a:sym typeface="Calibri"/>
              </a:rPr>
              <a:t>current version</a:t>
            </a:r>
            <a:r>
              <a:rPr lang="en-US" sz="2400">
                <a:solidFill>
                  <a:schemeClr val="dk1"/>
                </a:solidFill>
                <a:latin typeface="Calibri"/>
                <a:ea typeface="Calibri"/>
                <a:cs typeface="Calibri"/>
                <a:sym typeface="Calibri"/>
              </a:rPr>
              <a:t> can be used in operations</a:t>
            </a:r>
            <a:endParaRPr/>
          </a:p>
          <a:p>
            <a:pPr marL="0" marR="0" lvl="0" indent="0" algn="ctr" rtl="0">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Obsolete documents must be </a:t>
            </a:r>
            <a:r>
              <a:rPr lang="en-US" sz="2400" b="1">
                <a:solidFill>
                  <a:schemeClr val="dk1"/>
                </a:solidFill>
                <a:latin typeface="Calibri"/>
                <a:ea typeface="Calibri"/>
                <a:cs typeface="Calibri"/>
                <a:sym typeface="Calibri"/>
              </a:rPr>
              <a:t>removed or clearly marked</a:t>
            </a:r>
            <a:endParaRPr sz="2400">
              <a:solidFill>
                <a:schemeClr val="dk1"/>
              </a:solidFill>
              <a:latin typeface="Calibri"/>
              <a:ea typeface="Calibri"/>
              <a:cs typeface="Calibri"/>
              <a:sym typeface="Calibri"/>
            </a:endParaRPr>
          </a:p>
        </p:txBody>
      </p:sp>
      <p:pic>
        <p:nvPicPr>
          <p:cNvPr id="1104" name="Google Shape;1104;p58" descr="Document Control Process ..."/>
          <p:cNvPicPr preferRelativeResize="0"/>
          <p:nvPr/>
        </p:nvPicPr>
        <p:blipFill rotWithShape="1">
          <a:blip r:embed="rId3">
            <a:alphaModFix/>
          </a:blip>
          <a:srcRect/>
          <a:stretch/>
        </p:blipFill>
        <p:spPr>
          <a:xfrm>
            <a:off x="8809550" y="2888684"/>
            <a:ext cx="2733675" cy="1666875"/>
          </a:xfrm>
          <a:prstGeom prst="rect">
            <a:avLst/>
          </a:prstGeom>
          <a:noFill/>
          <a:ln>
            <a:noFill/>
          </a:ln>
        </p:spPr>
      </p:pic>
      <p:pic>
        <p:nvPicPr>
          <p:cNvPr id="1105" name="Google Shape;1105;p58" descr="Document Control | Its Important Role ..."/>
          <p:cNvPicPr preferRelativeResize="0"/>
          <p:nvPr/>
        </p:nvPicPr>
        <p:blipFill rotWithShape="1">
          <a:blip r:embed="rId4">
            <a:alphaModFix/>
          </a:blip>
          <a:srcRect/>
          <a:stretch/>
        </p:blipFill>
        <p:spPr>
          <a:xfrm>
            <a:off x="6329977" y="2888684"/>
            <a:ext cx="2619375" cy="17430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59"/>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KEY COMPONENTS</a:t>
            </a:r>
            <a:endParaRPr/>
          </a:p>
        </p:txBody>
      </p:sp>
      <p:sp>
        <p:nvSpPr>
          <p:cNvPr id="1111" name="Google Shape;1111;p59"/>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highlight>
                  <a:srgbClr val="00FFFF"/>
                </a:highlight>
              </a:rPr>
              <a:t>Control of External Documents</a:t>
            </a:r>
            <a:endParaRPr/>
          </a:p>
          <a:p>
            <a:pPr marL="0" lvl="0" indent="0" algn="l" rtl="0">
              <a:lnSpc>
                <a:spcPct val="90000"/>
              </a:lnSpc>
              <a:spcBef>
                <a:spcPts val="1001"/>
              </a:spcBef>
              <a:spcAft>
                <a:spcPts val="0"/>
              </a:spcAft>
              <a:buClr>
                <a:schemeClr val="dk1"/>
              </a:buClr>
              <a:buSzPts val="3200"/>
              <a:buNone/>
            </a:pPr>
            <a:endParaRPr sz="3200" b="1">
              <a:highlight>
                <a:srgbClr val="00FFFF"/>
              </a:highlight>
            </a:endParaRPr>
          </a:p>
          <a:p>
            <a:pPr marL="228604" lvl="0" indent="-228604" algn="l" rtl="0">
              <a:lnSpc>
                <a:spcPct val="90000"/>
              </a:lnSpc>
              <a:spcBef>
                <a:spcPts val="1001"/>
              </a:spcBef>
              <a:spcAft>
                <a:spcPts val="0"/>
              </a:spcAft>
              <a:buClr>
                <a:schemeClr val="dk1"/>
              </a:buClr>
              <a:buSzPts val="2400"/>
              <a:buChar char="•"/>
            </a:pPr>
            <a:r>
              <a:rPr lang="en-US" sz="2400"/>
              <a:t>Supplier halal certificates, fatwa, or regulatory documents are considered </a:t>
            </a:r>
            <a:r>
              <a:rPr lang="en-US" sz="2400" b="1"/>
              <a:t>external documents</a:t>
            </a:r>
            <a:endParaRPr sz="2400"/>
          </a:p>
          <a:p>
            <a:pPr marL="228604" lvl="0" indent="-152404" algn="l" rtl="0">
              <a:lnSpc>
                <a:spcPct val="90000"/>
              </a:lnSpc>
              <a:spcBef>
                <a:spcPts val="1001"/>
              </a:spcBef>
              <a:spcAft>
                <a:spcPts val="0"/>
              </a:spcAft>
              <a:buClr>
                <a:schemeClr val="dk1"/>
              </a:buClr>
              <a:buSzPts val="1200"/>
              <a:buNone/>
            </a:pPr>
            <a:endParaRPr sz="1200"/>
          </a:p>
          <a:p>
            <a:pPr marL="228604" lvl="0" indent="-228604" algn="l" rtl="0">
              <a:lnSpc>
                <a:spcPct val="90000"/>
              </a:lnSpc>
              <a:spcBef>
                <a:spcPts val="1001"/>
              </a:spcBef>
              <a:spcAft>
                <a:spcPts val="0"/>
              </a:spcAft>
              <a:buClr>
                <a:schemeClr val="dk1"/>
              </a:buClr>
              <a:buSzPts val="2400"/>
              <a:buChar char="•"/>
            </a:pPr>
            <a:r>
              <a:rPr lang="en-US" sz="2400"/>
              <a:t>Must be:</a:t>
            </a:r>
            <a:endParaRPr/>
          </a:p>
          <a:p>
            <a:pPr marL="685809" lvl="1" indent="-228604" algn="l" rtl="0">
              <a:lnSpc>
                <a:spcPct val="90000"/>
              </a:lnSpc>
              <a:spcBef>
                <a:spcPts val="500"/>
              </a:spcBef>
              <a:spcAft>
                <a:spcPts val="0"/>
              </a:spcAft>
              <a:buClr>
                <a:schemeClr val="dk1"/>
              </a:buClr>
              <a:buSzPts val="2400"/>
              <a:buChar char="•"/>
            </a:pPr>
            <a:r>
              <a:rPr lang="en-US"/>
              <a:t>Verified for validity</a:t>
            </a:r>
            <a:endParaRPr/>
          </a:p>
          <a:p>
            <a:pPr marL="685809" lvl="1" indent="-228604" algn="l" rtl="0">
              <a:lnSpc>
                <a:spcPct val="90000"/>
              </a:lnSpc>
              <a:spcBef>
                <a:spcPts val="500"/>
              </a:spcBef>
              <a:spcAft>
                <a:spcPts val="0"/>
              </a:spcAft>
              <a:buClr>
                <a:schemeClr val="dk1"/>
              </a:buClr>
              <a:buSzPts val="2400"/>
              <a:buChar char="•"/>
            </a:pPr>
            <a:r>
              <a:rPr lang="en-US"/>
              <a:t>Recorded in the </a:t>
            </a:r>
            <a:r>
              <a:rPr lang="en-US" b="1"/>
              <a:t>approved supplier list</a:t>
            </a:r>
            <a:endParaRPr/>
          </a:p>
          <a:p>
            <a:pPr marL="685809" lvl="1" indent="-228604" algn="l" rtl="0">
              <a:lnSpc>
                <a:spcPct val="90000"/>
              </a:lnSpc>
              <a:spcBef>
                <a:spcPts val="500"/>
              </a:spcBef>
              <a:spcAft>
                <a:spcPts val="0"/>
              </a:spcAft>
              <a:buClr>
                <a:schemeClr val="dk1"/>
              </a:buClr>
              <a:buSzPts val="2400"/>
              <a:buChar char="•"/>
            </a:pPr>
            <a:r>
              <a:rPr lang="en-US"/>
              <a:t>Updated regularly</a:t>
            </a:r>
            <a:endParaRPr/>
          </a:p>
          <a:p>
            <a:pPr marL="228604" lvl="0" indent="-50803" algn="l" rtl="0">
              <a:lnSpc>
                <a:spcPct val="90000"/>
              </a:lnSpc>
              <a:spcBef>
                <a:spcPts val="1001"/>
              </a:spcBef>
              <a:spcAft>
                <a:spcPts val="0"/>
              </a:spcAft>
              <a:buClr>
                <a:schemeClr val="dk1"/>
              </a:buClr>
              <a:buSzPts val="2800"/>
              <a:buNone/>
            </a:pPr>
            <a:endParaRPr/>
          </a:p>
        </p:txBody>
      </p:sp>
      <p:sp>
        <p:nvSpPr>
          <p:cNvPr id="1112" name="Google Shape;1112;p5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113" name="Google Shape;1113;p5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114" name="Google Shape;1114;p5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pic>
        <p:nvPicPr>
          <p:cNvPr id="1115" name="Google Shape;1115;p59"/>
          <p:cNvPicPr preferRelativeResize="0"/>
          <p:nvPr/>
        </p:nvPicPr>
        <p:blipFill rotWithShape="1">
          <a:blip r:embed="rId3">
            <a:alphaModFix/>
          </a:blip>
          <a:srcRect/>
          <a:stretch/>
        </p:blipFill>
        <p:spPr>
          <a:xfrm>
            <a:off x="8791573" y="2917329"/>
            <a:ext cx="2302413" cy="1600562"/>
          </a:xfrm>
          <a:prstGeom prst="rect">
            <a:avLst/>
          </a:prstGeom>
          <a:noFill/>
          <a:ln>
            <a:noFill/>
          </a:ln>
        </p:spPr>
      </p:pic>
      <p:pic>
        <p:nvPicPr>
          <p:cNvPr id="1116" name="Google Shape;1116;p59"/>
          <p:cNvPicPr preferRelativeResize="0"/>
          <p:nvPr/>
        </p:nvPicPr>
        <p:blipFill rotWithShape="1">
          <a:blip r:embed="rId4">
            <a:alphaModFix/>
          </a:blip>
          <a:srcRect/>
          <a:stretch/>
        </p:blipFill>
        <p:spPr>
          <a:xfrm>
            <a:off x="7050883" y="4517891"/>
            <a:ext cx="2838450" cy="16097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60"/>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KEY COMPONENTS</a:t>
            </a:r>
            <a:endParaRPr/>
          </a:p>
        </p:txBody>
      </p:sp>
      <p:sp>
        <p:nvSpPr>
          <p:cNvPr id="1122" name="Google Shape;1122;p60"/>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highlight>
                  <a:srgbClr val="00FFFF"/>
                </a:highlight>
              </a:rPr>
              <a:t>Record Control &amp; Traceability</a:t>
            </a:r>
            <a:endParaRPr/>
          </a:p>
          <a:p>
            <a:pPr marL="0" lvl="0" indent="0" algn="l" rtl="0">
              <a:lnSpc>
                <a:spcPct val="90000"/>
              </a:lnSpc>
              <a:spcBef>
                <a:spcPts val="1001"/>
              </a:spcBef>
              <a:spcAft>
                <a:spcPts val="0"/>
              </a:spcAft>
              <a:buClr>
                <a:schemeClr val="dk1"/>
              </a:buClr>
              <a:buSzPts val="2800"/>
              <a:buNone/>
            </a:pPr>
            <a:endParaRPr b="1"/>
          </a:p>
          <a:p>
            <a:pPr marL="0" lvl="0" indent="0" algn="l" rtl="0">
              <a:lnSpc>
                <a:spcPct val="90000"/>
              </a:lnSpc>
              <a:spcBef>
                <a:spcPts val="1001"/>
              </a:spcBef>
              <a:spcAft>
                <a:spcPts val="0"/>
              </a:spcAft>
              <a:buClr>
                <a:schemeClr val="dk1"/>
              </a:buClr>
              <a:buSzPts val="2800"/>
              <a:buNone/>
            </a:pPr>
            <a:r>
              <a:rPr lang="en-US" b="1"/>
              <a:t>Purpose:</a:t>
            </a:r>
            <a:r>
              <a:rPr lang="en-US"/>
              <a:t> Provide </a:t>
            </a:r>
            <a:r>
              <a:rPr lang="en-US" b="1"/>
              <a:t>evidence for audits</a:t>
            </a:r>
            <a:r>
              <a:rPr lang="en-US"/>
              <a:t> and allow </a:t>
            </a:r>
            <a:r>
              <a:rPr lang="en-US" b="1"/>
              <a:t>full traceability</a:t>
            </a:r>
            <a:endParaRPr/>
          </a:p>
          <a:p>
            <a:pPr marL="0" lvl="0" indent="0" algn="l" rtl="0">
              <a:lnSpc>
                <a:spcPct val="90000"/>
              </a:lnSpc>
              <a:spcBef>
                <a:spcPts val="1001"/>
              </a:spcBef>
              <a:spcAft>
                <a:spcPts val="0"/>
              </a:spcAft>
              <a:buClr>
                <a:schemeClr val="dk1"/>
              </a:buClr>
              <a:buSzPts val="2800"/>
              <a:buNone/>
            </a:pPr>
            <a:endParaRPr b="1"/>
          </a:p>
          <a:p>
            <a:pPr marL="0" lvl="0" indent="0" algn="l" rtl="0">
              <a:lnSpc>
                <a:spcPct val="90000"/>
              </a:lnSpc>
              <a:spcBef>
                <a:spcPts val="1001"/>
              </a:spcBef>
              <a:spcAft>
                <a:spcPts val="0"/>
              </a:spcAft>
              <a:buClr>
                <a:schemeClr val="dk1"/>
              </a:buClr>
              <a:buSzPts val="2800"/>
              <a:buNone/>
            </a:pPr>
            <a:r>
              <a:rPr lang="en-US" b="1"/>
              <a:t>Types of Records:</a:t>
            </a:r>
            <a:endParaRPr/>
          </a:p>
          <a:p>
            <a:pPr marL="0" lvl="0" indent="0" algn="l" rtl="0">
              <a:lnSpc>
                <a:spcPct val="90000"/>
              </a:lnSpc>
              <a:spcBef>
                <a:spcPts val="1001"/>
              </a:spcBef>
              <a:spcAft>
                <a:spcPts val="0"/>
              </a:spcAft>
              <a:buClr>
                <a:schemeClr val="dk1"/>
              </a:buClr>
              <a:buSzPts val="2800"/>
              <a:buNone/>
            </a:pPr>
            <a:endParaRPr/>
          </a:p>
        </p:txBody>
      </p:sp>
      <p:sp>
        <p:nvSpPr>
          <p:cNvPr id="1123" name="Google Shape;1123;p6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124" name="Google Shape;1124;p6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125" name="Google Shape;1125;p6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1126" name="Google Shape;1126;p60"/>
          <p:cNvGrpSpPr/>
          <p:nvPr/>
        </p:nvGrpSpPr>
        <p:grpSpPr>
          <a:xfrm>
            <a:off x="839481" y="4067047"/>
            <a:ext cx="10513032" cy="970433"/>
            <a:chOff x="1283" y="553238"/>
            <a:chExt cx="10513032" cy="970433"/>
          </a:xfrm>
        </p:grpSpPr>
        <p:sp>
          <p:nvSpPr>
            <p:cNvPr id="1127" name="Google Shape;1127;p60"/>
            <p:cNvSpPr/>
            <p:nvPr/>
          </p:nvSpPr>
          <p:spPr>
            <a:xfrm>
              <a:off x="1283" y="553238"/>
              <a:ext cx="1617389" cy="970433"/>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0"/>
            <p:cNvSpPr txBox="1"/>
            <p:nvPr/>
          </p:nvSpPr>
          <p:spPr>
            <a:xfrm>
              <a:off x="1283" y="553238"/>
              <a:ext cx="1617389" cy="970433"/>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Receiving inspection checklist</a:t>
              </a:r>
              <a:endParaRPr sz="1900">
                <a:solidFill>
                  <a:schemeClr val="lt1"/>
                </a:solidFill>
                <a:latin typeface="Calibri"/>
                <a:ea typeface="Calibri"/>
                <a:cs typeface="Calibri"/>
                <a:sym typeface="Calibri"/>
              </a:endParaRPr>
            </a:p>
          </p:txBody>
        </p:sp>
        <p:sp>
          <p:nvSpPr>
            <p:cNvPr id="1129" name="Google Shape;1129;p60"/>
            <p:cNvSpPr/>
            <p:nvPr/>
          </p:nvSpPr>
          <p:spPr>
            <a:xfrm>
              <a:off x="1780412" y="553238"/>
              <a:ext cx="1617389" cy="970433"/>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0"/>
            <p:cNvSpPr txBox="1"/>
            <p:nvPr/>
          </p:nvSpPr>
          <p:spPr>
            <a:xfrm>
              <a:off x="1780412" y="553238"/>
              <a:ext cx="1617389" cy="970433"/>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Cleaning logs</a:t>
              </a:r>
              <a:endParaRPr sz="1900">
                <a:solidFill>
                  <a:schemeClr val="lt1"/>
                </a:solidFill>
                <a:latin typeface="Calibri"/>
                <a:ea typeface="Calibri"/>
                <a:cs typeface="Calibri"/>
                <a:sym typeface="Calibri"/>
              </a:endParaRPr>
            </a:p>
          </p:txBody>
        </p:sp>
        <p:sp>
          <p:nvSpPr>
            <p:cNvPr id="1131" name="Google Shape;1131;p60"/>
            <p:cNvSpPr/>
            <p:nvPr/>
          </p:nvSpPr>
          <p:spPr>
            <a:xfrm>
              <a:off x="3559540" y="553238"/>
              <a:ext cx="1617389" cy="970433"/>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0"/>
            <p:cNvSpPr txBox="1"/>
            <p:nvPr/>
          </p:nvSpPr>
          <p:spPr>
            <a:xfrm>
              <a:off x="3559540" y="553238"/>
              <a:ext cx="1617389" cy="970433"/>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Production batch records</a:t>
              </a:r>
              <a:endParaRPr sz="1900">
                <a:solidFill>
                  <a:schemeClr val="lt1"/>
                </a:solidFill>
                <a:latin typeface="Calibri"/>
                <a:ea typeface="Calibri"/>
                <a:cs typeface="Calibri"/>
                <a:sym typeface="Calibri"/>
              </a:endParaRPr>
            </a:p>
          </p:txBody>
        </p:sp>
        <p:sp>
          <p:nvSpPr>
            <p:cNvPr id="1133" name="Google Shape;1133;p60"/>
            <p:cNvSpPr/>
            <p:nvPr/>
          </p:nvSpPr>
          <p:spPr>
            <a:xfrm>
              <a:off x="5338669" y="553238"/>
              <a:ext cx="1617389" cy="970433"/>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60"/>
            <p:cNvSpPr txBox="1"/>
            <p:nvPr/>
          </p:nvSpPr>
          <p:spPr>
            <a:xfrm>
              <a:off x="5338669" y="553238"/>
              <a:ext cx="1617389" cy="970433"/>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Storage &amp; segregation logs</a:t>
              </a:r>
              <a:endParaRPr sz="1900">
                <a:solidFill>
                  <a:schemeClr val="lt1"/>
                </a:solidFill>
                <a:latin typeface="Calibri"/>
                <a:ea typeface="Calibri"/>
                <a:cs typeface="Calibri"/>
                <a:sym typeface="Calibri"/>
              </a:endParaRPr>
            </a:p>
          </p:txBody>
        </p:sp>
        <p:sp>
          <p:nvSpPr>
            <p:cNvPr id="1135" name="Google Shape;1135;p60"/>
            <p:cNvSpPr/>
            <p:nvPr/>
          </p:nvSpPr>
          <p:spPr>
            <a:xfrm>
              <a:off x="7117798" y="553238"/>
              <a:ext cx="1617389" cy="970433"/>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60"/>
            <p:cNvSpPr txBox="1"/>
            <p:nvPr/>
          </p:nvSpPr>
          <p:spPr>
            <a:xfrm>
              <a:off x="7117798" y="553238"/>
              <a:ext cx="1617389" cy="970433"/>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Training attendance</a:t>
              </a:r>
              <a:endParaRPr sz="1900">
                <a:solidFill>
                  <a:schemeClr val="lt1"/>
                </a:solidFill>
                <a:latin typeface="Calibri"/>
                <a:ea typeface="Calibri"/>
                <a:cs typeface="Calibri"/>
                <a:sym typeface="Calibri"/>
              </a:endParaRPr>
            </a:p>
          </p:txBody>
        </p:sp>
        <p:sp>
          <p:nvSpPr>
            <p:cNvPr id="1137" name="Google Shape;1137;p60"/>
            <p:cNvSpPr/>
            <p:nvPr/>
          </p:nvSpPr>
          <p:spPr>
            <a:xfrm>
              <a:off x="8896926" y="553238"/>
              <a:ext cx="1617389" cy="970433"/>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60"/>
            <p:cNvSpPr txBox="1"/>
            <p:nvPr/>
          </p:nvSpPr>
          <p:spPr>
            <a:xfrm>
              <a:off x="8896926" y="553238"/>
              <a:ext cx="1617389" cy="970433"/>
            </a:xfrm>
            <a:prstGeom prst="rect">
              <a:avLst/>
            </a:prstGeom>
            <a:no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Internal audit reports</a:t>
              </a:r>
              <a:endParaRPr sz="1900">
                <a:solidFill>
                  <a:schemeClr val="lt1"/>
                </a:solidFill>
                <a:latin typeface="Calibri"/>
                <a:ea typeface="Calibri"/>
                <a:cs typeface="Calibri"/>
                <a:sym typeface="Calibri"/>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61"/>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KEY COMPONENTS</a:t>
            </a:r>
            <a:endParaRPr/>
          </a:p>
        </p:txBody>
      </p:sp>
      <p:sp>
        <p:nvSpPr>
          <p:cNvPr id="1144" name="Google Shape;1144;p61"/>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r>
              <a:rPr lang="en-US" sz="3200" b="1">
                <a:highlight>
                  <a:srgbClr val="00FFFF"/>
                </a:highlight>
              </a:rPr>
              <a:t>Monitoring, Verification, and Audit</a:t>
            </a:r>
            <a:endParaRPr/>
          </a:p>
          <a:p>
            <a:pPr marL="0" lvl="0" indent="0" algn="l" rtl="0">
              <a:lnSpc>
                <a:spcPct val="90000"/>
              </a:lnSpc>
              <a:spcBef>
                <a:spcPts val="1001"/>
              </a:spcBef>
              <a:spcAft>
                <a:spcPts val="0"/>
              </a:spcAft>
              <a:buClr>
                <a:schemeClr val="dk1"/>
              </a:buClr>
              <a:buSzPts val="700"/>
              <a:buNone/>
            </a:pPr>
            <a:endParaRPr sz="700" b="1"/>
          </a:p>
          <a:p>
            <a:pPr marL="0" lvl="0" indent="0" algn="l" rtl="0">
              <a:lnSpc>
                <a:spcPct val="90000"/>
              </a:lnSpc>
              <a:spcBef>
                <a:spcPts val="1001"/>
              </a:spcBef>
              <a:spcAft>
                <a:spcPts val="0"/>
              </a:spcAft>
              <a:buClr>
                <a:schemeClr val="dk1"/>
              </a:buClr>
              <a:buSzPts val="2800"/>
              <a:buNone/>
            </a:pPr>
            <a:r>
              <a:rPr lang="en-US" b="1"/>
              <a:t>Monitoring:</a:t>
            </a:r>
            <a:r>
              <a:rPr lang="en-US"/>
              <a:t> Daily checks by supervisors</a:t>
            </a:r>
            <a:br>
              <a:rPr lang="en-US"/>
            </a:br>
            <a:endParaRPr sz="1050"/>
          </a:p>
          <a:p>
            <a:pPr marL="0" lvl="0" indent="0" algn="l" rtl="0">
              <a:lnSpc>
                <a:spcPct val="90000"/>
              </a:lnSpc>
              <a:spcBef>
                <a:spcPts val="1001"/>
              </a:spcBef>
              <a:spcAft>
                <a:spcPts val="0"/>
              </a:spcAft>
              <a:buClr>
                <a:schemeClr val="dk1"/>
              </a:buClr>
              <a:buSzPts val="2800"/>
              <a:buNone/>
            </a:pPr>
            <a:r>
              <a:rPr lang="en-US" b="1"/>
              <a:t>Verification:</a:t>
            </a:r>
            <a:endParaRPr/>
          </a:p>
          <a:p>
            <a:pPr marL="228604" lvl="0" indent="-228604" algn="l" rtl="0">
              <a:lnSpc>
                <a:spcPct val="90000"/>
              </a:lnSpc>
              <a:spcBef>
                <a:spcPts val="1001"/>
              </a:spcBef>
              <a:spcAft>
                <a:spcPts val="0"/>
              </a:spcAft>
              <a:buClr>
                <a:schemeClr val="dk1"/>
              </a:buClr>
              <a:buSzPts val="2400"/>
              <a:buChar char="•"/>
            </a:pPr>
            <a:r>
              <a:rPr lang="en-US" sz="2400"/>
              <a:t>Internal halal audits</a:t>
            </a:r>
            <a:endParaRPr/>
          </a:p>
          <a:p>
            <a:pPr marL="228604" lvl="0" indent="-228604" algn="l" rtl="0">
              <a:lnSpc>
                <a:spcPct val="90000"/>
              </a:lnSpc>
              <a:spcBef>
                <a:spcPts val="1001"/>
              </a:spcBef>
              <a:spcAft>
                <a:spcPts val="0"/>
              </a:spcAft>
              <a:buClr>
                <a:schemeClr val="dk1"/>
              </a:buClr>
              <a:buSzPts val="2400"/>
              <a:buChar char="•"/>
            </a:pPr>
            <a:r>
              <a:rPr lang="en-US" sz="2400"/>
              <a:t>Review of records and documentation</a:t>
            </a:r>
            <a:br>
              <a:rPr lang="en-US" sz="2400"/>
            </a:br>
            <a:r>
              <a:rPr lang="en-US" sz="2400" b="1"/>
              <a:t>Improvement:</a:t>
            </a:r>
            <a:endParaRPr sz="2400"/>
          </a:p>
          <a:p>
            <a:pPr marL="228604" lvl="0" indent="-228604" algn="l" rtl="0">
              <a:lnSpc>
                <a:spcPct val="90000"/>
              </a:lnSpc>
              <a:spcBef>
                <a:spcPts val="1001"/>
              </a:spcBef>
              <a:spcAft>
                <a:spcPts val="0"/>
              </a:spcAft>
              <a:buClr>
                <a:schemeClr val="dk1"/>
              </a:buClr>
              <a:buSzPts val="2400"/>
              <a:buChar char="•"/>
            </a:pPr>
            <a:r>
              <a:rPr lang="en-US" sz="2400"/>
              <a:t>Corrective Action Requests (CARs)</a:t>
            </a:r>
            <a:endParaRPr/>
          </a:p>
          <a:p>
            <a:pPr marL="228604" lvl="0" indent="-228604" algn="l" rtl="0">
              <a:lnSpc>
                <a:spcPct val="90000"/>
              </a:lnSpc>
              <a:spcBef>
                <a:spcPts val="1001"/>
              </a:spcBef>
              <a:spcAft>
                <a:spcPts val="0"/>
              </a:spcAft>
              <a:buClr>
                <a:schemeClr val="dk1"/>
              </a:buClr>
              <a:buSzPts val="2400"/>
              <a:buChar char="•"/>
            </a:pPr>
            <a:r>
              <a:rPr lang="en-US" sz="2400"/>
              <a:t>Preventive measures for repeat issues</a:t>
            </a:r>
            <a:endParaRPr/>
          </a:p>
          <a:p>
            <a:pPr marL="228604" lvl="0" indent="-50803" algn="l" rtl="0">
              <a:lnSpc>
                <a:spcPct val="90000"/>
              </a:lnSpc>
              <a:spcBef>
                <a:spcPts val="1001"/>
              </a:spcBef>
              <a:spcAft>
                <a:spcPts val="0"/>
              </a:spcAft>
              <a:buClr>
                <a:schemeClr val="dk1"/>
              </a:buClr>
              <a:buSzPts val="2800"/>
              <a:buNone/>
            </a:pPr>
            <a:endParaRPr/>
          </a:p>
        </p:txBody>
      </p:sp>
      <p:sp>
        <p:nvSpPr>
          <p:cNvPr id="1145" name="Google Shape;1145;p6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146" name="Google Shape;1146;p6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147" name="Google Shape;1147;p6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
        <p:nvSpPr>
          <p:cNvPr id="1148" name="Google Shape;1148;p61"/>
          <p:cNvSpPr txBox="1"/>
          <p:nvPr/>
        </p:nvSpPr>
        <p:spPr>
          <a:xfrm>
            <a:off x="838198" y="5458202"/>
            <a:ext cx="10515598" cy="369332"/>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Missing cleaning log → CAR raised → retraining conducted → monitored for 2 weeks</a:t>
            </a:r>
            <a:endParaRPr sz="1800" b="1">
              <a:solidFill>
                <a:schemeClr val="dk1"/>
              </a:solidFill>
              <a:latin typeface="Calibri"/>
              <a:ea typeface="Calibri"/>
              <a:cs typeface="Calibri"/>
              <a:sym typeface="Calibri"/>
            </a:endParaRPr>
          </a:p>
        </p:txBody>
      </p:sp>
      <p:pic>
        <p:nvPicPr>
          <p:cNvPr id="1149" name="Google Shape;1149;p61" descr="A person sitting at a desk with a computer and a chart&#10;&#10;AI-generated content may be incorrect."/>
          <p:cNvPicPr preferRelativeResize="0"/>
          <p:nvPr/>
        </p:nvPicPr>
        <p:blipFill rotWithShape="1">
          <a:blip r:embed="rId3">
            <a:alphaModFix/>
          </a:blip>
          <a:srcRect t="29246"/>
          <a:stretch/>
        </p:blipFill>
        <p:spPr>
          <a:xfrm>
            <a:off x="7543544" y="1267281"/>
            <a:ext cx="3822543" cy="1801685"/>
          </a:xfrm>
          <a:prstGeom prst="rect">
            <a:avLst/>
          </a:prstGeom>
          <a:noFill/>
          <a:ln>
            <a:noFill/>
          </a:ln>
        </p:spPr>
      </p:pic>
      <p:pic>
        <p:nvPicPr>
          <p:cNvPr id="1150" name="Google Shape;1150;p61" descr="A hand holding a magnifying glass&#10;&#10;AI-generated content may be incorrect."/>
          <p:cNvPicPr preferRelativeResize="0"/>
          <p:nvPr/>
        </p:nvPicPr>
        <p:blipFill rotWithShape="1">
          <a:blip r:embed="rId4">
            <a:alphaModFix/>
          </a:blip>
          <a:srcRect/>
          <a:stretch/>
        </p:blipFill>
        <p:spPr>
          <a:xfrm>
            <a:off x="7543545" y="3096944"/>
            <a:ext cx="2019556" cy="1367827"/>
          </a:xfrm>
          <a:prstGeom prst="rect">
            <a:avLst/>
          </a:prstGeom>
          <a:noFill/>
          <a:ln>
            <a:noFill/>
          </a:ln>
        </p:spPr>
      </p:pic>
      <p:pic>
        <p:nvPicPr>
          <p:cNvPr id="1151" name="Google Shape;1151;p61" descr="A person and person sitting at a table with laptops&#10;&#10;AI-generated content may be incorrect."/>
          <p:cNvPicPr preferRelativeResize="0"/>
          <p:nvPr/>
        </p:nvPicPr>
        <p:blipFill rotWithShape="1">
          <a:blip r:embed="rId5">
            <a:alphaModFix/>
          </a:blip>
          <a:srcRect l="11377" r="11925"/>
          <a:stretch/>
        </p:blipFill>
        <p:spPr>
          <a:xfrm>
            <a:off x="9667875" y="3096944"/>
            <a:ext cx="1974896" cy="153220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62"/>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MAINTENANCE OF HAS </a:t>
            </a:r>
            <a:endParaRPr/>
          </a:p>
        </p:txBody>
      </p:sp>
      <p:grpSp>
        <p:nvGrpSpPr>
          <p:cNvPr id="1157" name="Google Shape;1157;p62"/>
          <p:cNvGrpSpPr/>
          <p:nvPr/>
        </p:nvGrpSpPr>
        <p:grpSpPr>
          <a:xfrm>
            <a:off x="838202" y="1300041"/>
            <a:ext cx="10515600" cy="4844160"/>
            <a:chOff x="0" y="32760"/>
            <a:chExt cx="10515600" cy="4844160"/>
          </a:xfrm>
        </p:grpSpPr>
        <p:sp>
          <p:nvSpPr>
            <p:cNvPr id="1158" name="Google Shape;1158;p62"/>
            <p:cNvSpPr/>
            <p:nvPr/>
          </p:nvSpPr>
          <p:spPr>
            <a:xfrm>
              <a:off x="0" y="32760"/>
              <a:ext cx="10515600" cy="108576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62"/>
            <p:cNvSpPr txBox="1"/>
            <p:nvPr/>
          </p:nvSpPr>
          <p:spPr>
            <a:xfrm>
              <a:off x="53002" y="85762"/>
              <a:ext cx="10409596" cy="979756"/>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All HAS documents shall be reviewed periodically to ensure continued relevance, accuracy, and effectiveness. </a:t>
              </a:r>
              <a:endParaRPr sz="2000">
                <a:solidFill>
                  <a:schemeClr val="lt1"/>
                </a:solidFill>
                <a:latin typeface="Calibri"/>
                <a:ea typeface="Calibri"/>
                <a:cs typeface="Calibri"/>
                <a:sym typeface="Calibri"/>
              </a:endParaRPr>
            </a:p>
          </p:txBody>
        </p:sp>
        <p:sp>
          <p:nvSpPr>
            <p:cNvPr id="1160" name="Google Shape;1160;p62"/>
            <p:cNvSpPr/>
            <p:nvPr/>
          </p:nvSpPr>
          <p:spPr>
            <a:xfrm>
              <a:off x="0" y="1285560"/>
              <a:ext cx="10515600" cy="1085760"/>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62"/>
            <p:cNvSpPr txBox="1"/>
            <p:nvPr/>
          </p:nvSpPr>
          <p:spPr>
            <a:xfrm>
              <a:off x="53002" y="1338562"/>
              <a:ext cx="10409596" cy="979756"/>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The review outcome may include revision, amendment, reconfirmation, supersession, or withdrawal of documents.</a:t>
              </a:r>
              <a:endParaRPr sz="2000">
                <a:solidFill>
                  <a:schemeClr val="lt1"/>
                </a:solidFill>
                <a:latin typeface="Calibri"/>
                <a:ea typeface="Calibri"/>
                <a:cs typeface="Calibri"/>
                <a:sym typeface="Calibri"/>
              </a:endParaRPr>
            </a:p>
          </p:txBody>
        </p:sp>
        <p:sp>
          <p:nvSpPr>
            <p:cNvPr id="1162" name="Google Shape;1162;p62"/>
            <p:cNvSpPr/>
            <p:nvPr/>
          </p:nvSpPr>
          <p:spPr>
            <a:xfrm>
              <a:off x="0" y="2538360"/>
              <a:ext cx="10515600" cy="1085760"/>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62"/>
            <p:cNvSpPr txBox="1"/>
            <p:nvPr/>
          </p:nvSpPr>
          <p:spPr>
            <a:xfrm>
              <a:off x="53002" y="2591362"/>
              <a:ext cx="10409596" cy="979756"/>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all HAS documents shall be reviewed at least once a year. </a:t>
              </a:r>
              <a:endParaRPr sz="2000">
                <a:solidFill>
                  <a:schemeClr val="lt1"/>
                </a:solidFill>
                <a:latin typeface="Calibri"/>
                <a:ea typeface="Calibri"/>
                <a:cs typeface="Calibri"/>
                <a:sym typeface="Calibri"/>
              </a:endParaRPr>
            </a:p>
          </p:txBody>
        </p:sp>
        <p:sp>
          <p:nvSpPr>
            <p:cNvPr id="1164" name="Google Shape;1164;p62"/>
            <p:cNvSpPr/>
            <p:nvPr/>
          </p:nvSpPr>
          <p:spPr>
            <a:xfrm>
              <a:off x="0" y="3791160"/>
              <a:ext cx="10515600" cy="108576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62"/>
            <p:cNvSpPr txBox="1"/>
            <p:nvPr/>
          </p:nvSpPr>
          <p:spPr>
            <a:xfrm>
              <a:off x="53002" y="3844162"/>
              <a:ext cx="10409596" cy="979756"/>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Calibri"/>
                <a:buNone/>
              </a:pPr>
              <a:r>
                <a:rPr lang="en-US" sz="2000">
                  <a:solidFill>
                    <a:schemeClr val="lt1"/>
                  </a:solidFill>
                  <a:latin typeface="Calibri"/>
                  <a:ea typeface="Calibri"/>
                  <a:cs typeface="Calibri"/>
                  <a:sym typeface="Calibri"/>
                </a:rPr>
                <a:t>Immediate review shall be conducted when there are changes in the Internal Halal Committee (IHC), operational monitoring schedules, or any changes in operations and/or the supply chain.</a:t>
              </a:r>
              <a:endParaRPr sz="2000">
                <a:solidFill>
                  <a:schemeClr val="lt1"/>
                </a:solidFill>
                <a:latin typeface="Calibri"/>
                <a:ea typeface="Calibri"/>
                <a:cs typeface="Calibri"/>
                <a:sym typeface="Calibri"/>
              </a:endParaRPr>
            </a:p>
          </p:txBody>
        </p:sp>
      </p:grpSp>
      <p:sp>
        <p:nvSpPr>
          <p:cNvPr id="1166" name="Google Shape;1166;p6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167" name="Google Shape;1167;p6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168" name="Google Shape;1168;p6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63"/>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MAINTENANCE OF HAS </a:t>
            </a:r>
            <a:endParaRPr/>
          </a:p>
        </p:txBody>
      </p:sp>
      <p:sp>
        <p:nvSpPr>
          <p:cNvPr id="1174" name="Google Shape;1174;p6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175" name="Google Shape;1175;p6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176" name="Google Shape;1176;p6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1177" name="Google Shape;1177;p63"/>
          <p:cNvGrpSpPr/>
          <p:nvPr/>
        </p:nvGrpSpPr>
        <p:grpSpPr>
          <a:xfrm>
            <a:off x="2528811" y="1269678"/>
            <a:ext cx="7134381" cy="4904887"/>
            <a:chOff x="1690609" y="2397"/>
            <a:chExt cx="7134381" cy="4904887"/>
          </a:xfrm>
        </p:grpSpPr>
        <p:sp>
          <p:nvSpPr>
            <p:cNvPr id="1178" name="Google Shape;1178;p63"/>
            <p:cNvSpPr/>
            <p:nvPr/>
          </p:nvSpPr>
          <p:spPr>
            <a:xfrm>
              <a:off x="1690609" y="1711676"/>
              <a:ext cx="2972659" cy="1486329"/>
            </a:xfrm>
            <a:prstGeom prst="roundRect">
              <a:avLst>
                <a:gd name="adj" fmla="val 10000"/>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63"/>
            <p:cNvSpPr txBox="1"/>
            <p:nvPr/>
          </p:nvSpPr>
          <p:spPr>
            <a:xfrm>
              <a:off x="1734142" y="1755209"/>
              <a:ext cx="2885593" cy="1399263"/>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Document Review Process</a:t>
              </a:r>
              <a:endParaRPr sz="1800">
                <a:solidFill>
                  <a:schemeClr val="lt1"/>
                </a:solidFill>
                <a:latin typeface="Calibri"/>
                <a:ea typeface="Calibri"/>
                <a:cs typeface="Calibri"/>
                <a:sym typeface="Calibri"/>
              </a:endParaRPr>
            </a:p>
          </p:txBody>
        </p:sp>
        <p:sp>
          <p:nvSpPr>
            <p:cNvPr id="1180" name="Google Shape;1180;p63"/>
            <p:cNvSpPr/>
            <p:nvPr/>
          </p:nvSpPr>
          <p:spPr>
            <a:xfrm rot="-3310531">
              <a:off x="4216706" y="1572955"/>
              <a:ext cx="2082187" cy="54492"/>
            </a:xfrm>
            <a:custGeom>
              <a:avLst/>
              <a:gdLst/>
              <a:ahLst/>
              <a:cxnLst/>
              <a:rect l="l" t="t" r="r" b="b"/>
              <a:pathLst>
                <a:path w="120000" h="120000" extrusionOk="0">
                  <a:moveTo>
                    <a:pt x="0" y="60000"/>
                  </a:moveTo>
                  <a:lnTo>
                    <a:pt x="120000" y="6000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63"/>
            <p:cNvSpPr txBox="1"/>
            <p:nvPr/>
          </p:nvSpPr>
          <p:spPr>
            <a:xfrm rot="-3310531">
              <a:off x="5205745" y="1548146"/>
              <a:ext cx="104109" cy="104109"/>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700"/>
                <a:buFont typeface="Calibri"/>
                <a:buNone/>
              </a:pPr>
              <a:endParaRPr sz="700">
                <a:solidFill>
                  <a:schemeClr val="dk1"/>
                </a:solidFill>
                <a:latin typeface="Calibri"/>
                <a:ea typeface="Calibri"/>
                <a:cs typeface="Calibri"/>
                <a:sym typeface="Calibri"/>
              </a:endParaRPr>
            </a:p>
          </p:txBody>
        </p:sp>
        <p:sp>
          <p:nvSpPr>
            <p:cNvPr id="1182" name="Google Shape;1182;p63"/>
            <p:cNvSpPr/>
            <p:nvPr/>
          </p:nvSpPr>
          <p:spPr>
            <a:xfrm>
              <a:off x="5852331" y="2397"/>
              <a:ext cx="2972659" cy="1486329"/>
            </a:xfrm>
            <a:prstGeom prst="roundRect">
              <a:avLst>
                <a:gd name="adj" fmla="val 1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63"/>
            <p:cNvSpPr txBox="1"/>
            <p:nvPr/>
          </p:nvSpPr>
          <p:spPr>
            <a:xfrm>
              <a:off x="5895864" y="45930"/>
              <a:ext cx="2885593" cy="1399263"/>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The document review process begins when the Halal Personnel submits a document review report to the IHC. </a:t>
              </a:r>
              <a:endParaRPr sz="1800">
                <a:solidFill>
                  <a:schemeClr val="lt1"/>
                </a:solidFill>
                <a:latin typeface="Calibri"/>
                <a:ea typeface="Calibri"/>
                <a:cs typeface="Calibri"/>
                <a:sym typeface="Calibri"/>
              </a:endParaRPr>
            </a:p>
          </p:txBody>
        </p:sp>
        <p:sp>
          <p:nvSpPr>
            <p:cNvPr id="1184" name="Google Shape;1184;p63"/>
            <p:cNvSpPr/>
            <p:nvPr/>
          </p:nvSpPr>
          <p:spPr>
            <a:xfrm>
              <a:off x="4663268" y="2427594"/>
              <a:ext cx="1189063" cy="54492"/>
            </a:xfrm>
            <a:custGeom>
              <a:avLst/>
              <a:gdLst/>
              <a:ahLst/>
              <a:cxnLst/>
              <a:rect l="l" t="t" r="r" b="b"/>
              <a:pathLst>
                <a:path w="120000" h="120000" extrusionOk="0">
                  <a:moveTo>
                    <a:pt x="0" y="60000"/>
                  </a:moveTo>
                  <a:lnTo>
                    <a:pt x="120000" y="6000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63"/>
            <p:cNvSpPr txBox="1"/>
            <p:nvPr/>
          </p:nvSpPr>
          <p:spPr>
            <a:xfrm>
              <a:off x="5228073" y="2425114"/>
              <a:ext cx="59453" cy="5945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1186" name="Google Shape;1186;p63"/>
            <p:cNvSpPr/>
            <p:nvPr/>
          </p:nvSpPr>
          <p:spPr>
            <a:xfrm>
              <a:off x="5852331" y="1711676"/>
              <a:ext cx="2972659" cy="1486329"/>
            </a:xfrm>
            <a:prstGeom prst="roundRect">
              <a:avLst>
                <a:gd name="adj" fmla="val 1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63"/>
            <p:cNvSpPr txBox="1"/>
            <p:nvPr/>
          </p:nvSpPr>
          <p:spPr>
            <a:xfrm>
              <a:off x="5895864" y="1755209"/>
              <a:ext cx="2885593" cy="1399263"/>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The IHC will review the report and decide whether the document should be revised, amended, reconfirmed, superseded, or withdrawn. </a:t>
              </a:r>
              <a:endParaRPr sz="1800">
                <a:solidFill>
                  <a:schemeClr val="lt1"/>
                </a:solidFill>
                <a:latin typeface="Calibri"/>
                <a:ea typeface="Calibri"/>
                <a:cs typeface="Calibri"/>
                <a:sym typeface="Calibri"/>
              </a:endParaRPr>
            </a:p>
          </p:txBody>
        </p:sp>
        <p:sp>
          <p:nvSpPr>
            <p:cNvPr id="1188" name="Google Shape;1188;p63"/>
            <p:cNvSpPr/>
            <p:nvPr/>
          </p:nvSpPr>
          <p:spPr>
            <a:xfrm rot="3310531">
              <a:off x="4216706" y="3282234"/>
              <a:ext cx="2082187" cy="54492"/>
            </a:xfrm>
            <a:custGeom>
              <a:avLst/>
              <a:gdLst/>
              <a:ahLst/>
              <a:cxnLst/>
              <a:rect l="l" t="t" r="r" b="b"/>
              <a:pathLst>
                <a:path w="120000" h="120000" extrusionOk="0">
                  <a:moveTo>
                    <a:pt x="0" y="60000"/>
                  </a:moveTo>
                  <a:lnTo>
                    <a:pt x="120000" y="60000"/>
                  </a:lnTo>
                </a:path>
              </a:pathLst>
            </a:custGeom>
            <a:no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63"/>
            <p:cNvSpPr txBox="1"/>
            <p:nvPr/>
          </p:nvSpPr>
          <p:spPr>
            <a:xfrm rot="3310531">
              <a:off x="5205745" y="3257425"/>
              <a:ext cx="104109" cy="104109"/>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700"/>
                <a:buFont typeface="Calibri"/>
                <a:buNone/>
              </a:pPr>
              <a:endParaRPr sz="700">
                <a:solidFill>
                  <a:schemeClr val="dk1"/>
                </a:solidFill>
                <a:latin typeface="Calibri"/>
                <a:ea typeface="Calibri"/>
                <a:cs typeface="Calibri"/>
                <a:sym typeface="Calibri"/>
              </a:endParaRPr>
            </a:p>
          </p:txBody>
        </p:sp>
        <p:sp>
          <p:nvSpPr>
            <p:cNvPr id="1190" name="Google Shape;1190;p63"/>
            <p:cNvSpPr/>
            <p:nvPr/>
          </p:nvSpPr>
          <p:spPr>
            <a:xfrm>
              <a:off x="5852331" y="3420955"/>
              <a:ext cx="2972659" cy="1486329"/>
            </a:xfrm>
            <a:prstGeom prst="roundRect">
              <a:avLst>
                <a:gd name="adj" fmla="val 1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63"/>
            <p:cNvSpPr txBox="1"/>
            <p:nvPr/>
          </p:nvSpPr>
          <p:spPr>
            <a:xfrm>
              <a:off x="5895864" y="3464488"/>
              <a:ext cx="2885593" cy="1399263"/>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The Halal Compliance Officer/Executive is responsible for updating and implementing the IHC’s decision.</a:t>
              </a:r>
              <a:endParaRPr sz="1800">
                <a:solidFill>
                  <a:schemeClr val="lt1"/>
                </a:solidFill>
                <a:latin typeface="Calibri"/>
                <a:ea typeface="Calibri"/>
                <a:cs typeface="Calibri"/>
                <a:sym typeface="Calibri"/>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64"/>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HALAL CONTROL &amp; DOCUMENTATION SYSTEM</a:t>
            </a:r>
            <a:br>
              <a:rPr lang="en-US"/>
            </a:br>
            <a:r>
              <a:rPr lang="en-US">
                <a:solidFill>
                  <a:srgbClr val="A5A5A5"/>
                </a:solidFill>
              </a:rPr>
              <a:t>MAINTENANCE OF HAS </a:t>
            </a:r>
            <a:endParaRPr/>
          </a:p>
        </p:txBody>
      </p:sp>
      <p:grpSp>
        <p:nvGrpSpPr>
          <p:cNvPr id="1197" name="Google Shape;1197;p64"/>
          <p:cNvGrpSpPr/>
          <p:nvPr/>
        </p:nvGrpSpPr>
        <p:grpSpPr>
          <a:xfrm>
            <a:off x="523562" y="1899597"/>
            <a:ext cx="10740123" cy="3977823"/>
            <a:chOff x="90114" y="865"/>
            <a:chExt cx="10740123" cy="3977823"/>
          </a:xfrm>
        </p:grpSpPr>
        <p:sp>
          <p:nvSpPr>
            <p:cNvPr id="1198" name="Google Shape;1198;p64"/>
            <p:cNvSpPr/>
            <p:nvPr/>
          </p:nvSpPr>
          <p:spPr>
            <a:xfrm>
              <a:off x="90114" y="865"/>
              <a:ext cx="1988911" cy="1193347"/>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4"/>
            <p:cNvSpPr txBox="1"/>
            <p:nvPr/>
          </p:nvSpPr>
          <p:spPr>
            <a:xfrm>
              <a:off x="90114" y="865"/>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Company Halal Policy</a:t>
              </a:r>
              <a:endParaRPr/>
            </a:p>
          </p:txBody>
        </p:sp>
        <p:sp>
          <p:nvSpPr>
            <p:cNvPr id="1200" name="Google Shape;1200;p64"/>
            <p:cNvSpPr/>
            <p:nvPr/>
          </p:nvSpPr>
          <p:spPr>
            <a:xfrm>
              <a:off x="2277917" y="865"/>
              <a:ext cx="1988911" cy="1193347"/>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64"/>
            <p:cNvSpPr txBox="1"/>
            <p:nvPr/>
          </p:nvSpPr>
          <p:spPr>
            <a:xfrm>
              <a:off x="2277917" y="865"/>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IHC and Halal Team members’ profiles</a:t>
              </a:r>
              <a:endParaRPr/>
            </a:p>
          </p:txBody>
        </p:sp>
        <p:sp>
          <p:nvSpPr>
            <p:cNvPr id="1202" name="Google Shape;1202;p64"/>
            <p:cNvSpPr/>
            <p:nvPr/>
          </p:nvSpPr>
          <p:spPr>
            <a:xfrm>
              <a:off x="4465720" y="865"/>
              <a:ext cx="1988911" cy="1193347"/>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4"/>
            <p:cNvSpPr txBox="1"/>
            <p:nvPr/>
          </p:nvSpPr>
          <p:spPr>
            <a:xfrm>
              <a:off x="4465720" y="865"/>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Halal Training Manual</a:t>
              </a:r>
              <a:endParaRPr/>
            </a:p>
          </p:txBody>
        </p:sp>
        <p:sp>
          <p:nvSpPr>
            <p:cNvPr id="1204" name="Google Shape;1204;p64"/>
            <p:cNvSpPr/>
            <p:nvPr/>
          </p:nvSpPr>
          <p:spPr>
            <a:xfrm>
              <a:off x="6653523" y="865"/>
              <a:ext cx="1988911" cy="1193347"/>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64"/>
            <p:cNvSpPr txBox="1"/>
            <p:nvPr/>
          </p:nvSpPr>
          <p:spPr>
            <a:xfrm>
              <a:off x="6653523" y="865"/>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Halal Assurance System Manual</a:t>
              </a:r>
              <a:endParaRPr/>
            </a:p>
          </p:txBody>
        </p:sp>
        <p:sp>
          <p:nvSpPr>
            <p:cNvPr id="1206" name="Google Shape;1206;p64"/>
            <p:cNvSpPr/>
            <p:nvPr/>
          </p:nvSpPr>
          <p:spPr>
            <a:xfrm>
              <a:off x="8841326" y="865"/>
              <a:ext cx="1988911" cy="1193347"/>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64"/>
            <p:cNvSpPr txBox="1"/>
            <p:nvPr/>
          </p:nvSpPr>
          <p:spPr>
            <a:xfrm>
              <a:off x="8841326" y="865"/>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Halal Assurance Management System references from other countries</a:t>
              </a:r>
              <a:endParaRPr/>
            </a:p>
          </p:txBody>
        </p:sp>
        <p:sp>
          <p:nvSpPr>
            <p:cNvPr id="1208" name="Google Shape;1208;p64"/>
            <p:cNvSpPr/>
            <p:nvPr/>
          </p:nvSpPr>
          <p:spPr>
            <a:xfrm>
              <a:off x="90114" y="1393103"/>
              <a:ext cx="1988911" cy="1193347"/>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64"/>
            <p:cNvSpPr txBox="1"/>
            <p:nvPr/>
          </p:nvSpPr>
          <p:spPr>
            <a:xfrm>
              <a:off x="90114" y="1393103"/>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Halal compliance references</a:t>
              </a:r>
              <a:endParaRPr/>
            </a:p>
          </p:txBody>
        </p:sp>
        <p:sp>
          <p:nvSpPr>
            <p:cNvPr id="1210" name="Google Shape;1210;p64"/>
            <p:cNvSpPr/>
            <p:nvPr/>
          </p:nvSpPr>
          <p:spPr>
            <a:xfrm>
              <a:off x="2277917" y="1393103"/>
              <a:ext cx="1988911" cy="1193347"/>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4"/>
            <p:cNvSpPr txBox="1"/>
            <p:nvPr/>
          </p:nvSpPr>
          <p:spPr>
            <a:xfrm>
              <a:off x="2277917" y="1393103"/>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Documentation and record formats</a:t>
              </a:r>
              <a:endParaRPr/>
            </a:p>
          </p:txBody>
        </p:sp>
        <p:sp>
          <p:nvSpPr>
            <p:cNvPr id="1212" name="Google Shape;1212;p64"/>
            <p:cNvSpPr/>
            <p:nvPr/>
          </p:nvSpPr>
          <p:spPr>
            <a:xfrm>
              <a:off x="4465720" y="1393103"/>
              <a:ext cx="1988911" cy="1193347"/>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64"/>
            <p:cNvSpPr txBox="1"/>
            <p:nvPr/>
          </p:nvSpPr>
          <p:spPr>
            <a:xfrm>
              <a:off x="4465720" y="1393103"/>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Product release records</a:t>
              </a:r>
              <a:endParaRPr/>
            </a:p>
          </p:txBody>
        </p:sp>
        <p:sp>
          <p:nvSpPr>
            <p:cNvPr id="1214" name="Google Shape;1214;p64"/>
            <p:cNvSpPr/>
            <p:nvPr/>
          </p:nvSpPr>
          <p:spPr>
            <a:xfrm>
              <a:off x="6653523" y="1393103"/>
              <a:ext cx="1988911" cy="1193347"/>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4"/>
            <p:cNvSpPr txBox="1"/>
            <p:nvPr/>
          </p:nvSpPr>
          <p:spPr>
            <a:xfrm>
              <a:off x="6653523" y="1393103"/>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Testing, validation, and related records</a:t>
              </a:r>
              <a:endParaRPr/>
            </a:p>
          </p:txBody>
        </p:sp>
        <p:sp>
          <p:nvSpPr>
            <p:cNvPr id="1216" name="Google Shape;1216;p64"/>
            <p:cNvSpPr/>
            <p:nvPr/>
          </p:nvSpPr>
          <p:spPr>
            <a:xfrm>
              <a:off x="8841326" y="1393103"/>
              <a:ext cx="1988911" cy="1193347"/>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4"/>
            <p:cNvSpPr txBox="1"/>
            <p:nvPr/>
          </p:nvSpPr>
          <p:spPr>
            <a:xfrm>
              <a:off x="8841326" y="1393103"/>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Halal product profiles, specifications, characteristics, and process flow charts</a:t>
              </a:r>
              <a:endParaRPr/>
            </a:p>
          </p:txBody>
        </p:sp>
        <p:sp>
          <p:nvSpPr>
            <p:cNvPr id="1218" name="Google Shape;1218;p64"/>
            <p:cNvSpPr/>
            <p:nvPr/>
          </p:nvSpPr>
          <p:spPr>
            <a:xfrm>
              <a:off x="3371818" y="2785341"/>
              <a:ext cx="1988911" cy="1193347"/>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64"/>
            <p:cNvSpPr txBox="1"/>
            <p:nvPr/>
          </p:nvSpPr>
          <p:spPr>
            <a:xfrm>
              <a:off x="3371818" y="2785341"/>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Halal Control Point (HCP) HAS document and record retention periods</a:t>
              </a:r>
              <a:endParaRPr/>
            </a:p>
          </p:txBody>
        </p:sp>
        <p:sp>
          <p:nvSpPr>
            <p:cNvPr id="1220" name="Google Shape;1220;p64"/>
            <p:cNvSpPr/>
            <p:nvPr/>
          </p:nvSpPr>
          <p:spPr>
            <a:xfrm>
              <a:off x="5559622" y="2785341"/>
              <a:ext cx="1988911" cy="1193347"/>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64"/>
            <p:cNvSpPr txBox="1"/>
            <p:nvPr/>
          </p:nvSpPr>
          <p:spPr>
            <a:xfrm>
              <a:off x="5559622" y="2785341"/>
              <a:ext cx="1988911" cy="1193347"/>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Calibri"/>
                <a:buNone/>
              </a:pPr>
              <a:r>
                <a:rPr lang="en-US" sz="1600">
                  <a:solidFill>
                    <a:schemeClr val="lt1"/>
                  </a:solidFill>
                  <a:latin typeface="Calibri"/>
                  <a:ea typeface="Calibri"/>
                  <a:cs typeface="Calibri"/>
                  <a:sym typeface="Calibri"/>
                </a:rPr>
                <a:t>Validity duration and project development timelines</a:t>
              </a:r>
              <a:endParaRPr/>
            </a:p>
          </p:txBody>
        </p:sp>
      </p:grpSp>
      <p:sp>
        <p:nvSpPr>
          <p:cNvPr id="1222" name="Google Shape;1222;p6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223" name="Google Shape;1223;p6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224" name="Google Shape;1224;p6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
        <p:nvSpPr>
          <p:cNvPr id="1225" name="Google Shape;1225;p64"/>
          <p:cNvSpPr txBox="1"/>
          <p:nvPr/>
        </p:nvSpPr>
        <p:spPr>
          <a:xfrm>
            <a:off x="670955" y="1256359"/>
            <a:ext cx="929244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Documents subject to review include, but are not limited to:</a:t>
            </a:r>
            <a:endParaRPr sz="24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sp>
        <p:nvSpPr>
          <p:cNvPr id="1230" name="Google Shape;1230;p65"/>
          <p:cNvSpPr txBox="1">
            <a:spLocks noGrp="1"/>
          </p:cNvSpPr>
          <p:nvPr>
            <p:ph type="title"/>
          </p:nvPr>
        </p:nvSpPr>
        <p:spPr>
          <a:xfrm>
            <a:off x="838199" y="194998"/>
            <a:ext cx="10515599" cy="9107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FINAL ASSESSMENT</a:t>
            </a:r>
            <a:endParaRPr/>
          </a:p>
        </p:txBody>
      </p:sp>
      <p:sp>
        <p:nvSpPr>
          <p:cNvPr id="1231" name="Google Shape;1231;p65"/>
          <p:cNvSpPr txBox="1">
            <a:spLocks noGrp="1"/>
          </p:cNvSpPr>
          <p:nvPr>
            <p:ph type="body" idx="1"/>
          </p:nvPr>
        </p:nvSpPr>
        <p:spPr>
          <a:xfrm>
            <a:off x="838202" y="1267281"/>
            <a:ext cx="10515600" cy="4909682"/>
          </a:xfrm>
          <a:prstGeom prst="rect">
            <a:avLst/>
          </a:prstGeom>
          <a:noFill/>
          <a:ln>
            <a:noFill/>
          </a:ln>
        </p:spPr>
        <p:txBody>
          <a:bodyPr spcFirstLastPara="1" wrap="square" lIns="91425" tIns="45700" rIns="91425" bIns="45700" anchor="t" anchorCtr="0">
            <a:normAutofit/>
          </a:bodyPr>
          <a:lstStyle/>
          <a:p>
            <a:pPr marL="228604" lvl="0" indent="-228604" algn="l" rtl="0">
              <a:lnSpc>
                <a:spcPct val="90000"/>
              </a:lnSpc>
              <a:spcBef>
                <a:spcPts val="0"/>
              </a:spcBef>
              <a:spcAft>
                <a:spcPts val="0"/>
              </a:spcAft>
              <a:buClr>
                <a:schemeClr val="dk1"/>
              </a:buClr>
              <a:buSzPts val="2800"/>
              <a:buChar char="•"/>
            </a:pPr>
            <a:r>
              <a:rPr lang="en-US" u="sng">
                <a:solidFill>
                  <a:schemeClr val="hlink"/>
                </a:solidFill>
                <a:hlinkClick r:id="rId3"/>
              </a:rPr>
              <a:t>https://forms.gle/F1WkvXqj1eUdERTB9</a:t>
            </a:r>
            <a:endParaRPr/>
          </a:p>
          <a:p>
            <a:pPr marL="0" lvl="0" indent="0" algn="l" rtl="0">
              <a:lnSpc>
                <a:spcPct val="90000"/>
              </a:lnSpc>
              <a:spcBef>
                <a:spcPts val="1001"/>
              </a:spcBef>
              <a:spcAft>
                <a:spcPts val="0"/>
              </a:spcAft>
              <a:buClr>
                <a:schemeClr val="dk1"/>
              </a:buClr>
              <a:buSzPts val="2800"/>
              <a:buNone/>
            </a:pPr>
            <a:endParaRPr/>
          </a:p>
        </p:txBody>
      </p:sp>
      <p:sp>
        <p:nvSpPr>
          <p:cNvPr id="1232" name="Google Shape;1232;p6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 2026 HDC Berhad </a:t>
            </a:r>
            <a:endParaRPr/>
          </a:p>
        </p:txBody>
      </p:sp>
      <p:sp>
        <p:nvSpPr>
          <p:cNvPr id="1233" name="Google Shape;1233;p6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www.hdcglobal.com</a:t>
            </a:r>
            <a:endParaRPr/>
          </a:p>
        </p:txBody>
      </p:sp>
      <p:sp>
        <p:nvSpPr>
          <p:cNvPr id="1234" name="Google Shape;1234;p6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pic>
        <p:nvPicPr>
          <p:cNvPr id="1235" name="Google Shape;1235;p65"/>
          <p:cNvPicPr preferRelativeResize="0"/>
          <p:nvPr/>
        </p:nvPicPr>
        <p:blipFill rotWithShape="1">
          <a:blip r:embed="rId4">
            <a:alphaModFix/>
          </a:blip>
          <a:srcRect/>
          <a:stretch/>
        </p:blipFill>
        <p:spPr>
          <a:xfrm>
            <a:off x="3581401" y="1812235"/>
            <a:ext cx="4010387" cy="4084108"/>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66"/>
          <p:cNvSpPr/>
          <p:nvPr/>
        </p:nvSpPr>
        <p:spPr>
          <a:xfrm>
            <a:off x="0" y="0"/>
            <a:ext cx="12192000" cy="6858000"/>
          </a:xfrm>
          <a:prstGeom prst="rect">
            <a:avLst/>
          </a:prstGeom>
          <a:solidFill>
            <a:srgbClr val="02468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41" name="Google Shape;1241;p66"/>
          <p:cNvSpPr txBox="1"/>
          <p:nvPr/>
        </p:nvSpPr>
        <p:spPr>
          <a:xfrm>
            <a:off x="4574002" y="6035358"/>
            <a:ext cx="280102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548135"/>
                </a:solidFill>
                <a:latin typeface="Arial"/>
                <a:ea typeface="Arial"/>
                <a:cs typeface="Arial"/>
                <a:sym typeface="Arial"/>
              </a:rPr>
              <a:t>www.hdcglobal.com</a:t>
            </a:r>
            <a:endParaRPr/>
          </a:p>
        </p:txBody>
      </p:sp>
      <p:pic>
        <p:nvPicPr>
          <p:cNvPr id="1242" name="Google Shape;1242;p66"/>
          <p:cNvPicPr preferRelativeResize="0"/>
          <p:nvPr/>
        </p:nvPicPr>
        <p:blipFill rotWithShape="1">
          <a:blip r:embed="rId3">
            <a:alphaModFix/>
          </a:blip>
          <a:srcRect l="6286"/>
          <a:stretch/>
        </p:blipFill>
        <p:spPr>
          <a:xfrm>
            <a:off x="0" y="787400"/>
            <a:ext cx="12192000" cy="4953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4118</Words>
  <Application>Microsoft Office PowerPoint</Application>
  <PresentationFormat>Widescreen</PresentationFormat>
  <Paragraphs>723</Paragraphs>
  <Slides>66</Slides>
  <Notes>66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66</vt:i4>
      </vt:variant>
    </vt:vector>
  </HeadingPairs>
  <TitlesOfParts>
    <vt:vector size="72" baseType="lpstr">
      <vt:lpstr>Calibri</vt:lpstr>
      <vt:lpstr>Open Sans</vt:lpstr>
      <vt:lpstr>Arial</vt:lpstr>
      <vt:lpstr>Noto Sans Symbols</vt:lpstr>
      <vt:lpstr>Office Theme</vt:lpstr>
      <vt:lpstr>1_Office Theme</vt:lpstr>
      <vt:lpstr>PowerPoint Presentation</vt:lpstr>
      <vt:lpstr>TRAINING AGENDA</vt:lpstr>
      <vt:lpstr>TRAINING CONTENT</vt:lpstr>
      <vt:lpstr>CU 1:</vt:lpstr>
      <vt:lpstr>INTRODUCTION</vt:lpstr>
      <vt:lpstr>PURPOSE OF HALAL MANUAL</vt:lpstr>
      <vt:lpstr>OBJECTIVE OF HALAL MANUAL</vt:lpstr>
      <vt:lpstr>IMPORTANCE OF HALAL MANUAL</vt:lpstr>
      <vt:lpstr>IMPORTANCE OF HALAL MANUAL</vt:lpstr>
      <vt:lpstr>IMPORTANCE OF HALAL MANUAL</vt:lpstr>
      <vt:lpstr>HALAL POLICY &amp; MANAGEMENT COMMITMENT INTRODUCTION</vt:lpstr>
      <vt:lpstr>HALAL POLICY &amp; MANAGEMENT COMMITMENT INTRODUCTION</vt:lpstr>
      <vt:lpstr>HALAL POLICY &amp; MANAGEMENT COMMITMENT INTRODUCTION</vt:lpstr>
      <vt:lpstr>HALAL POLICY &amp; MANAGEMENT COMMITMENT INTRODUCTION</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POLICY &amp; MANAGEMENT COMMITMENT ESTABLISHMENT</vt:lpstr>
      <vt:lpstr>HALAL ASSURANCE SYSTEM (HAS) OVERVIEW INTRODUCTION</vt:lpstr>
      <vt:lpstr>HALAL ASSURANCE SYSTEM (HAS) OVERVIEW INTRODUCTION</vt:lpstr>
      <vt:lpstr>HALAL ASSURANCE SYSTEM (HAS) OVERVIEW INTRODUCTION</vt:lpstr>
      <vt:lpstr>OBJECTIVES OF HAS</vt:lpstr>
      <vt:lpstr>SCOPE OF HAS</vt:lpstr>
      <vt:lpstr>BENEFITS OF HAS</vt:lpstr>
      <vt:lpstr>BENEFITS OF MHMS</vt:lpstr>
      <vt:lpstr>GROUP ACTIVITY 1</vt:lpstr>
      <vt:lpstr>SOURCES OF MHMS REFERENCES - MS</vt:lpstr>
      <vt:lpstr>SOURCES OF HAS REFERENCES - MS</vt:lpstr>
      <vt:lpstr>SOURCES OF HAS REFERENCES - MS</vt:lpstr>
      <vt:lpstr>SOURCES OF HAS REFERENCES - MS</vt:lpstr>
      <vt:lpstr>SOURCES OF HAS REFERENCES – MHMS</vt:lpstr>
      <vt:lpstr>HAS ESTABLISHMENT PROCESS</vt:lpstr>
      <vt:lpstr>HAS ESTABLISHMENT PROCESS</vt:lpstr>
      <vt:lpstr>HAS ESTABLISHMENT PROCESS – HAS MANUAL</vt:lpstr>
      <vt:lpstr>HAS ESTABLISHMENT PROCESS – HAS MANUAL</vt:lpstr>
      <vt:lpstr>HAS ESTABLISHMENT PROCESS – HAS MANUAL</vt:lpstr>
      <vt:lpstr>HAS ESTABLISHMENT PROCESS – HAS MANUAL</vt:lpstr>
      <vt:lpstr>HAS ESTABLISHMENT PROCESS – HAS MANUAL</vt:lpstr>
      <vt:lpstr>INTEGRATION WITH EXISTING MANAGEMENT SYSTEMS</vt:lpstr>
      <vt:lpstr>INTEGRATION WITH EXISTING MANAGEMENT SYSTEMS</vt:lpstr>
      <vt:lpstr>PRACTICAL EXAMPLE</vt:lpstr>
      <vt:lpstr>COMMON AUDIT FINDINGS RELATED TO HAS</vt:lpstr>
      <vt:lpstr>HALAL CONTROL &amp; DOCUMENTATION SYSTEM</vt:lpstr>
      <vt:lpstr>HALAL CONTROL &amp; DOCUMENTATION SYSTEM OBJECTIVES</vt:lpstr>
      <vt:lpstr>HALAL CONTROL &amp; DOCUMENTATION SYSTEM SCOPE</vt:lpstr>
      <vt:lpstr>HALAL CONTROL &amp; DOCUMENTATION SYSTEM</vt:lpstr>
      <vt:lpstr>HALAL CONTROL &amp; DOCUMENTATION SYSTEM KEY COMPONENTS</vt:lpstr>
      <vt:lpstr>HALAL CONTROL &amp; DOCUMENTATION SYSTEM KEY COMPONENTS</vt:lpstr>
      <vt:lpstr>HALAL CONTROL &amp; DOCUMENTATION SYSTEM KEY COMPONENTS</vt:lpstr>
      <vt:lpstr>HALAL CONTROL &amp; DOCUMENTATION SYSTEM KEY COMPONENTS</vt:lpstr>
      <vt:lpstr>HALAL CONTROL &amp; DOCUMENTATION SYSTEM KEY COMPONENTS</vt:lpstr>
      <vt:lpstr>HALAL CONTROL &amp; DOCUMENTATION SYSTEM KEY COMPONENTS</vt:lpstr>
      <vt:lpstr>HALAL CONTROL &amp; DOCUMENTATION SYSTEM KEY COMPONENTS</vt:lpstr>
      <vt:lpstr>HALAL CONTROL &amp; DOCUMENTATION SYSTEM MAINTENANCE OF HAS </vt:lpstr>
      <vt:lpstr>HALAL CONTROL &amp; DOCUMENTATION SYSTEM MAINTENANCE OF HAS </vt:lpstr>
      <vt:lpstr>HALAL CONTROL &amp; DOCUMENTATION SYSTEM MAINTENANCE OF HAS </vt:lpstr>
      <vt:lpstr>FINAL ASSESSMENT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Muhamad Noridham Nordin</dc:creator>
  <cp:lastModifiedBy>it Support</cp:lastModifiedBy>
  <cp:revision>1</cp:revision>
  <dcterms:created xsi:type="dcterms:W3CDTF">2023-10-23T03:30:06Z</dcterms:created>
  <dcterms:modified xsi:type="dcterms:W3CDTF">2026-01-26T09:23:03Z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0x010100AE561DC0C2CBFC4099009E737867F7BC</vt:lpwstr>
  </property>
</Properties>
</file>