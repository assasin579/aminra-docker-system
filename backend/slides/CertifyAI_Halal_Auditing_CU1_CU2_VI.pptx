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736A"/>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C9952A"/>
          </a:solidFill>
          <a:ln/>
        </p:spPr>
      </p:sp>
      <p:sp>
        <p:nvSpPr>
          <p:cNvPr id="3" name="Shape 1"/>
          <p:cNvSpPr/>
          <p:nvPr/>
        </p:nvSpPr>
        <p:spPr>
          <a:xfrm>
            <a:off x="548640" y="502920"/>
            <a:ext cx="8046720" cy="40233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Shape 2"/>
          <p:cNvSpPr/>
          <p:nvPr/>
        </p:nvSpPr>
        <p:spPr>
          <a:xfrm>
            <a:off x="548640" y="502920"/>
            <a:ext cx="137160" cy="4023360"/>
          </a:xfrm>
          <a:prstGeom prst="rect">
            <a:avLst/>
          </a:prstGeom>
          <a:solidFill>
            <a:srgbClr val="C9952A"/>
          </a:solidFill>
          <a:ln/>
        </p:spPr>
      </p:sp>
      <p:sp>
        <p:nvSpPr>
          <p:cNvPr id="5" name="Shape 3"/>
          <p:cNvSpPr/>
          <p:nvPr/>
        </p:nvSpPr>
        <p:spPr>
          <a:xfrm>
            <a:off x="685800" y="685800"/>
            <a:ext cx="2011680" cy="411480"/>
          </a:xfrm>
          <a:prstGeom prst="rect">
            <a:avLst/>
          </a:prstGeom>
          <a:solidFill>
            <a:srgbClr val="FDF5E4"/>
          </a:solidFill>
          <a:ln w="10160">
            <a:solidFill>
              <a:srgbClr val="C9952A"/>
            </a:solidFill>
            <a:prstDash val="solid"/>
          </a:ln>
        </p:spPr>
      </p:sp>
      <p:sp>
        <p:nvSpPr>
          <p:cNvPr id="6" name="Text 4"/>
          <p:cNvSpPr/>
          <p:nvPr/>
        </p:nvSpPr>
        <p:spPr>
          <a:xfrm>
            <a:off x="685800" y="685800"/>
            <a:ext cx="2011680" cy="411480"/>
          </a:xfrm>
          <a:prstGeom prst="rect">
            <a:avLst/>
          </a:prstGeom>
          <a:noFill/>
          <a:ln/>
        </p:spPr>
        <p:txBody>
          <a:bodyPr wrap="square" lIns="0" tIns="0" rIns="0" bIns="0" rtlCol="0" anchor="ctr"/>
          <a:lstStyle/>
          <a:p>
            <a:pPr algn="ctr" indent="0" marL="0">
              <a:buNone/>
            </a:pPr>
            <a:r>
              <a:rPr lang="en-US" sz="1000" b="1" spc="100" kern="0" dirty="0">
                <a:solidFill>
                  <a:srgbClr val="C9952A"/>
                </a:solidFill>
                <a:latin typeface="Calibri" pitchFamily="34" charset="0"/>
                <a:ea typeface="Calibri" pitchFamily="34" charset="-122"/>
                <a:cs typeface="Calibri" pitchFamily="34" charset="-120"/>
              </a:rPr>
              <a:t>MODULE CU1 &amp; CU2</a:t>
            </a:r>
            <a:endParaRPr lang="en-US" sz="1000" dirty="0"/>
          </a:p>
        </p:txBody>
      </p:sp>
      <p:sp>
        <p:nvSpPr>
          <p:cNvPr id="7" name="Text 5"/>
          <p:cNvSpPr/>
          <p:nvPr/>
        </p:nvSpPr>
        <p:spPr>
          <a:xfrm>
            <a:off x="777240" y="1207008"/>
            <a:ext cx="7589520" cy="1554480"/>
          </a:xfrm>
          <a:prstGeom prst="rect">
            <a:avLst/>
          </a:prstGeom>
          <a:noFill/>
          <a:ln/>
        </p:spPr>
        <p:txBody>
          <a:bodyPr wrap="square" lIns="0" tIns="0" rIns="0" bIns="0" rtlCol="0" anchor="t"/>
          <a:lstStyle/>
          <a:p>
            <a:pPr algn="l" indent="0" marL="0">
              <a:buNone/>
            </a:pPr>
            <a:r>
              <a:rPr lang="en-US" sz="5200" b="1" dirty="0">
                <a:solidFill>
                  <a:srgbClr val="00736A"/>
                </a:solidFill>
                <a:latin typeface="Calibri" pitchFamily="34" charset="0"/>
                <a:ea typeface="Calibri" pitchFamily="34" charset="-122"/>
                <a:cs typeface="Calibri" pitchFamily="34" charset="-120"/>
              </a:rPr>
              <a:t>KIỂM ĐỊNH</a:t>
            </a:r>
            <a:endParaRPr lang="en-US" sz="5200" dirty="0"/>
          </a:p>
          <a:p>
            <a:pPr algn="l" indent="0" marL="0">
              <a:buNone/>
            </a:pPr>
            <a:r>
              <a:rPr lang="en-US" sz="5200" b="1" dirty="0">
                <a:solidFill>
                  <a:srgbClr val="00736A"/>
                </a:solidFill>
                <a:latin typeface="Calibri" pitchFamily="34" charset="0"/>
                <a:ea typeface="Calibri" pitchFamily="34" charset="-122"/>
                <a:cs typeface="Calibri" pitchFamily="34" charset="-120"/>
              </a:rPr>
              <a:t>HALAL</a:t>
            </a:r>
            <a:endParaRPr lang="en-US" sz="5200" dirty="0"/>
          </a:p>
        </p:txBody>
      </p:sp>
      <p:sp>
        <p:nvSpPr>
          <p:cNvPr id="8" name="Text 6"/>
          <p:cNvSpPr/>
          <p:nvPr/>
        </p:nvSpPr>
        <p:spPr>
          <a:xfrm>
            <a:off x="777240" y="2788920"/>
            <a:ext cx="7315200" cy="347472"/>
          </a:xfrm>
          <a:prstGeom prst="rect">
            <a:avLst/>
          </a:prstGeom>
          <a:noFill/>
          <a:ln/>
        </p:spPr>
        <p:txBody>
          <a:bodyPr wrap="square" lIns="0" tIns="0" rIns="0" bIns="0" rtlCol="0" anchor="ctr"/>
          <a:lstStyle/>
          <a:p>
            <a:pPr indent="0" marL="0">
              <a:buNone/>
            </a:pPr>
            <a:r>
              <a:rPr lang="en-US" sz="1500" i="1" dirty="0">
                <a:solidFill>
                  <a:srgbClr val="5C6E6C"/>
                </a:solidFill>
                <a:latin typeface="Calibri" pitchFamily="34" charset="0"/>
                <a:ea typeface="Calibri" pitchFamily="34" charset="-122"/>
                <a:cs typeface="Calibri" pitchFamily="34" charset="-120"/>
              </a:rPr>
              <a:t>Nguyên tắc Kiểm định · Lập kế hoạch Kiểm định Halal</a:t>
            </a:r>
            <a:endParaRPr lang="en-US" sz="1500" dirty="0"/>
          </a:p>
        </p:txBody>
      </p:sp>
      <p:sp>
        <p:nvSpPr>
          <p:cNvPr id="9" name="Shape 7"/>
          <p:cNvSpPr/>
          <p:nvPr/>
        </p:nvSpPr>
        <p:spPr>
          <a:xfrm>
            <a:off x="777240" y="3200400"/>
            <a:ext cx="7315200" cy="27432"/>
          </a:xfrm>
          <a:prstGeom prst="rect">
            <a:avLst/>
          </a:prstGeom>
          <a:solidFill>
            <a:srgbClr val="C9952A"/>
          </a:solidFill>
          <a:ln/>
        </p:spPr>
      </p:sp>
      <p:sp>
        <p:nvSpPr>
          <p:cNvPr id="10" name="Text 8"/>
          <p:cNvSpPr/>
          <p:nvPr/>
        </p:nvSpPr>
        <p:spPr>
          <a:xfrm>
            <a:off x="777240" y="3337560"/>
            <a:ext cx="5029200" cy="256032"/>
          </a:xfrm>
          <a:prstGeom prst="rect">
            <a:avLst/>
          </a:prstGeom>
          <a:noFill/>
          <a:ln/>
        </p:spPr>
        <p:txBody>
          <a:bodyPr wrap="square" lIns="0" tIns="0" rIns="0" bIns="0" rtlCol="0" anchor="ctr"/>
          <a:lstStyle/>
          <a:p>
            <a:pPr indent="0" marL="0">
              <a:buNone/>
            </a:pPr>
            <a:r>
              <a:rPr lang="en-US" sz="1100" dirty="0">
                <a:solidFill>
                  <a:srgbClr val="5C6E6C"/>
                </a:solidFill>
                <a:latin typeface="Calibri" pitchFamily="34" charset="0"/>
                <a:ea typeface="Calibri" pitchFamily="34" charset="-122"/>
                <a:cs typeface="Calibri" pitchFamily="34" charset="-120"/>
              </a:rPr>
              <a:t>Halal Training Institute (HTI)  ·  HDC Berhad Malaysia</a:t>
            </a:r>
            <a:endParaRPr lang="en-US" sz="1100" dirty="0"/>
          </a:p>
        </p:txBody>
      </p:sp>
      <p:sp>
        <p:nvSpPr>
          <p:cNvPr id="11" name="Text 9"/>
          <p:cNvSpPr/>
          <p:nvPr/>
        </p:nvSpPr>
        <p:spPr>
          <a:xfrm>
            <a:off x="5852160" y="3337560"/>
            <a:ext cx="2560320" cy="256032"/>
          </a:xfrm>
          <a:prstGeom prst="rect">
            <a:avLst/>
          </a:prstGeom>
          <a:noFill/>
          <a:ln/>
        </p:spPr>
        <p:txBody>
          <a:bodyPr wrap="square" lIns="0" tIns="0" rIns="0" bIns="0" rtlCol="0" anchor="ctr"/>
          <a:lstStyle/>
          <a:p>
            <a:pPr algn="r" indent="0" marL="0">
              <a:buNone/>
            </a:pPr>
            <a:r>
              <a:rPr lang="en-US" sz="1100" b="1" dirty="0">
                <a:solidFill>
                  <a:srgbClr val="00736A"/>
                </a:solidFill>
                <a:latin typeface="Calibri" pitchFamily="34" charset="0"/>
                <a:ea typeface="Calibri" pitchFamily="34" charset="-122"/>
                <a:cs typeface="Calibri" pitchFamily="34" charset="-120"/>
              </a:rPr>
              <a:t>CertifyAI Vietnam</a:t>
            </a:r>
            <a:endParaRPr lang="en-US" sz="1100" dirty="0"/>
          </a:p>
        </p:txBody>
      </p:sp>
      <p:sp>
        <p:nvSpPr>
          <p:cNvPr id="12" name="Shape 10"/>
          <p:cNvSpPr/>
          <p:nvPr/>
        </p:nvSpPr>
        <p:spPr>
          <a:xfrm>
            <a:off x="0" y="4892040"/>
            <a:ext cx="9144000" cy="251460"/>
          </a:xfrm>
          <a:prstGeom prst="rect">
            <a:avLst/>
          </a:prstGeom>
          <a:solidFill>
            <a:srgbClr val="1A2E2C"/>
          </a:solidFill>
          <a:ln/>
        </p:spPr>
      </p:sp>
      <p:sp>
        <p:nvSpPr>
          <p:cNvPr id="13" name="Text 11"/>
          <p:cNvSpPr/>
          <p:nvPr/>
        </p:nvSpPr>
        <p:spPr>
          <a:xfrm>
            <a:off x="274320" y="4901184"/>
            <a:ext cx="8595360" cy="201168"/>
          </a:xfrm>
          <a:prstGeom prst="rect">
            <a:avLst/>
          </a:prstGeom>
          <a:noFill/>
          <a:ln/>
        </p:spPr>
        <p:txBody>
          <a:bodyPr wrap="square" lIns="0" tIns="0" rIns="0" bIns="0" rtlCol="0" anchor="ctr"/>
          <a:lstStyle/>
          <a:p>
            <a:pPr algn="ctr" indent="0" marL="0">
              <a:buNone/>
            </a:pPr>
            <a:r>
              <a:rPr lang="en-US" sz="850" dirty="0">
                <a:solidFill>
                  <a:srgbClr val="C9952A"/>
                </a:solidFill>
                <a:latin typeface="Calibri" pitchFamily="34" charset="0"/>
                <a:ea typeface="Calibri" pitchFamily="34" charset="-122"/>
                <a:cs typeface="Calibri" pitchFamily="34" charset="-120"/>
              </a:rPr>
              <a:t>Dành cho Chuyên gia Đánh giá Halal — Tài liệu được cấp phép từ HDC Berhad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Nội dung chương trình đào tạo</a:t>
            </a:r>
            <a:endParaRPr lang="en-US" sz="2600" dirty="0"/>
          </a:p>
        </p:txBody>
      </p:sp>
      <p:sp>
        <p:nvSpPr>
          <p:cNvPr id="5" name="Shape 3"/>
          <p:cNvSpPr/>
          <p:nvPr/>
        </p:nvSpPr>
        <p:spPr>
          <a:xfrm>
            <a:off x="384048" y="868680"/>
            <a:ext cx="8229600" cy="22860"/>
          </a:xfrm>
          <a:prstGeom prst="rect">
            <a:avLst/>
          </a:prstGeom>
          <a:solidFill>
            <a:srgbClr val="E8EEEE"/>
          </a:solidFill>
          <a:ln/>
        </p:spPr>
      </p:sp>
      <p:sp>
        <p:nvSpPr>
          <p:cNvPr id="6" name="Shape 4"/>
          <p:cNvSpPr/>
          <p:nvPr/>
        </p:nvSpPr>
        <p:spPr>
          <a:xfrm>
            <a:off x="0" y="4892040"/>
            <a:ext cx="9144000" cy="251460"/>
          </a:xfrm>
          <a:prstGeom prst="rect">
            <a:avLst/>
          </a:prstGeom>
          <a:solidFill>
            <a:srgbClr val="00736A"/>
          </a:solidFill>
          <a:ln/>
        </p:spPr>
      </p:sp>
      <p:sp>
        <p:nvSpPr>
          <p:cNvPr id="7" name="Text 5"/>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8" name="Text 6"/>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9" name="Shape 7"/>
          <p:cNvSpPr/>
          <p:nvPr/>
        </p:nvSpPr>
        <p:spPr>
          <a:xfrm>
            <a:off x="384048" y="1325880"/>
            <a:ext cx="3977640" cy="566928"/>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384048" y="1325880"/>
            <a:ext cx="502920" cy="566928"/>
          </a:xfrm>
          <a:prstGeom prst="rect">
            <a:avLst/>
          </a:prstGeom>
          <a:solidFill>
            <a:srgbClr val="00736A"/>
          </a:solidFill>
          <a:ln/>
        </p:spPr>
      </p:sp>
      <p:sp>
        <p:nvSpPr>
          <p:cNvPr id="11" name="Text 9"/>
          <p:cNvSpPr/>
          <p:nvPr/>
        </p:nvSpPr>
        <p:spPr>
          <a:xfrm>
            <a:off x="384048" y="1325880"/>
            <a:ext cx="502920" cy="566928"/>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01</a:t>
            </a:r>
            <a:endParaRPr lang="en-US" sz="1600" dirty="0"/>
          </a:p>
        </p:txBody>
      </p:sp>
      <p:sp>
        <p:nvSpPr>
          <p:cNvPr id="12" name="Text 10"/>
          <p:cNvSpPr/>
          <p:nvPr/>
        </p:nvSpPr>
        <p:spPr>
          <a:xfrm>
            <a:off x="978408" y="1371600"/>
            <a:ext cx="3319272" cy="274320"/>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Lịch sử &amp; Xu hướng Kiểm định</a:t>
            </a:r>
            <a:endParaRPr lang="en-US" sz="1200" dirty="0"/>
          </a:p>
        </p:txBody>
      </p:sp>
      <p:sp>
        <p:nvSpPr>
          <p:cNvPr id="13" name="Text 11"/>
          <p:cNvSpPr/>
          <p:nvPr/>
        </p:nvSpPr>
        <p:spPr>
          <a:xfrm>
            <a:off x="978408" y="1627632"/>
            <a:ext cx="3319272" cy="219456"/>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Từ tài chính đến an toàn thực phẩm &amp; Halal</a:t>
            </a:r>
            <a:endParaRPr lang="en-US" sz="1000" dirty="0"/>
          </a:p>
        </p:txBody>
      </p:sp>
      <p:sp>
        <p:nvSpPr>
          <p:cNvPr id="14" name="Shape 12"/>
          <p:cNvSpPr/>
          <p:nvPr/>
        </p:nvSpPr>
        <p:spPr>
          <a:xfrm>
            <a:off x="4544568" y="1325880"/>
            <a:ext cx="3977640" cy="566928"/>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4544568" y="1325880"/>
            <a:ext cx="502920" cy="566928"/>
          </a:xfrm>
          <a:prstGeom prst="rect">
            <a:avLst/>
          </a:prstGeom>
          <a:solidFill>
            <a:srgbClr val="00736A"/>
          </a:solidFill>
          <a:ln/>
        </p:spPr>
      </p:sp>
      <p:sp>
        <p:nvSpPr>
          <p:cNvPr id="16" name="Text 14"/>
          <p:cNvSpPr/>
          <p:nvPr/>
        </p:nvSpPr>
        <p:spPr>
          <a:xfrm>
            <a:off x="4544568" y="1325880"/>
            <a:ext cx="502920" cy="566928"/>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02</a:t>
            </a:r>
            <a:endParaRPr lang="en-US" sz="1600" dirty="0"/>
          </a:p>
        </p:txBody>
      </p:sp>
      <p:sp>
        <p:nvSpPr>
          <p:cNvPr id="17" name="Text 15"/>
          <p:cNvSpPr/>
          <p:nvPr/>
        </p:nvSpPr>
        <p:spPr>
          <a:xfrm>
            <a:off x="5138928" y="1371600"/>
            <a:ext cx="3319272" cy="274320"/>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Định nghĩa &amp; Phân loại Kiểm định</a:t>
            </a:r>
            <a:endParaRPr lang="en-US" sz="1200" dirty="0"/>
          </a:p>
        </p:txBody>
      </p:sp>
      <p:sp>
        <p:nvSpPr>
          <p:cNvPr id="18" name="Text 16"/>
          <p:cNvSpPr/>
          <p:nvPr/>
        </p:nvSpPr>
        <p:spPr>
          <a:xfrm>
            <a:off x="5138928" y="1627632"/>
            <a:ext cx="3319272" cy="219456"/>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Kiểm định nội bộ, bên ngoài, bên thứ ba</a:t>
            </a:r>
            <a:endParaRPr lang="en-US" sz="1000" dirty="0"/>
          </a:p>
        </p:txBody>
      </p:sp>
      <p:sp>
        <p:nvSpPr>
          <p:cNvPr id="19" name="Shape 17"/>
          <p:cNvSpPr/>
          <p:nvPr/>
        </p:nvSpPr>
        <p:spPr>
          <a:xfrm>
            <a:off x="384048" y="2020824"/>
            <a:ext cx="3977640" cy="566928"/>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384048" y="2020824"/>
            <a:ext cx="502920" cy="566928"/>
          </a:xfrm>
          <a:prstGeom prst="rect">
            <a:avLst/>
          </a:prstGeom>
          <a:solidFill>
            <a:srgbClr val="00736A"/>
          </a:solidFill>
          <a:ln/>
        </p:spPr>
      </p:sp>
      <p:sp>
        <p:nvSpPr>
          <p:cNvPr id="21" name="Text 19"/>
          <p:cNvSpPr/>
          <p:nvPr/>
        </p:nvSpPr>
        <p:spPr>
          <a:xfrm>
            <a:off x="384048" y="2020824"/>
            <a:ext cx="502920" cy="566928"/>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03</a:t>
            </a:r>
            <a:endParaRPr lang="en-US" sz="1600" dirty="0"/>
          </a:p>
        </p:txBody>
      </p:sp>
      <p:sp>
        <p:nvSpPr>
          <p:cNvPr id="22" name="Text 20"/>
          <p:cNvSpPr/>
          <p:nvPr/>
        </p:nvSpPr>
        <p:spPr>
          <a:xfrm>
            <a:off x="978408" y="2066544"/>
            <a:ext cx="3319272" cy="274320"/>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Tầm quan trọng của Kiểm định Halal</a:t>
            </a:r>
            <a:endParaRPr lang="en-US" sz="1200" dirty="0"/>
          </a:p>
        </p:txBody>
      </p:sp>
      <p:sp>
        <p:nvSpPr>
          <p:cNvPr id="23" name="Text 21"/>
          <p:cNvSpPr/>
          <p:nvPr/>
        </p:nvSpPr>
        <p:spPr>
          <a:xfrm>
            <a:off x="978408" y="2322576"/>
            <a:ext cx="3319272" cy="219456"/>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Lợi ích và hậu quả sau kiểm định</a:t>
            </a:r>
            <a:endParaRPr lang="en-US" sz="1000" dirty="0"/>
          </a:p>
        </p:txBody>
      </p:sp>
      <p:sp>
        <p:nvSpPr>
          <p:cNvPr id="24" name="Shape 22"/>
          <p:cNvSpPr/>
          <p:nvPr/>
        </p:nvSpPr>
        <p:spPr>
          <a:xfrm>
            <a:off x="4544568" y="2020824"/>
            <a:ext cx="3977640" cy="566928"/>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4544568" y="2020824"/>
            <a:ext cx="502920" cy="566928"/>
          </a:xfrm>
          <a:prstGeom prst="rect">
            <a:avLst/>
          </a:prstGeom>
          <a:solidFill>
            <a:srgbClr val="00736A"/>
          </a:solidFill>
          <a:ln/>
        </p:spPr>
      </p:sp>
      <p:sp>
        <p:nvSpPr>
          <p:cNvPr id="26" name="Text 24"/>
          <p:cNvSpPr/>
          <p:nvPr/>
        </p:nvSpPr>
        <p:spPr>
          <a:xfrm>
            <a:off x="4544568" y="2020824"/>
            <a:ext cx="502920" cy="566928"/>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04</a:t>
            </a:r>
            <a:endParaRPr lang="en-US" sz="1600" dirty="0"/>
          </a:p>
        </p:txBody>
      </p:sp>
      <p:sp>
        <p:nvSpPr>
          <p:cNvPr id="27" name="Text 25"/>
          <p:cNvSpPr/>
          <p:nvPr/>
        </p:nvSpPr>
        <p:spPr>
          <a:xfrm>
            <a:off x="5138928" y="2066544"/>
            <a:ext cx="3319272" cy="274320"/>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Nguyên tắc Kiểm định Halal</a:t>
            </a:r>
            <a:endParaRPr lang="en-US" sz="1200" dirty="0"/>
          </a:p>
        </p:txBody>
      </p:sp>
      <p:sp>
        <p:nvSpPr>
          <p:cNvPr id="28" name="Text 26"/>
          <p:cNvSpPr/>
          <p:nvPr/>
        </p:nvSpPr>
        <p:spPr>
          <a:xfrm>
            <a:off x="5138928" y="2322576"/>
            <a:ext cx="3319272" cy="219456"/>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6 nguyên tắc cốt lõi theo HDC</a:t>
            </a:r>
            <a:endParaRPr lang="en-US" sz="1000" dirty="0"/>
          </a:p>
        </p:txBody>
      </p:sp>
      <p:sp>
        <p:nvSpPr>
          <p:cNvPr id="29" name="Shape 27"/>
          <p:cNvSpPr/>
          <p:nvPr/>
        </p:nvSpPr>
        <p:spPr>
          <a:xfrm>
            <a:off x="384048" y="2715768"/>
            <a:ext cx="3977640" cy="566928"/>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30" name="Shape 28"/>
          <p:cNvSpPr/>
          <p:nvPr/>
        </p:nvSpPr>
        <p:spPr>
          <a:xfrm>
            <a:off x="384048" y="2715768"/>
            <a:ext cx="502920" cy="566928"/>
          </a:xfrm>
          <a:prstGeom prst="rect">
            <a:avLst/>
          </a:prstGeom>
          <a:solidFill>
            <a:srgbClr val="00736A"/>
          </a:solidFill>
          <a:ln/>
        </p:spPr>
      </p:sp>
      <p:sp>
        <p:nvSpPr>
          <p:cNvPr id="31" name="Text 29"/>
          <p:cNvSpPr/>
          <p:nvPr/>
        </p:nvSpPr>
        <p:spPr>
          <a:xfrm>
            <a:off x="384048" y="2715768"/>
            <a:ext cx="502920" cy="566928"/>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05</a:t>
            </a:r>
            <a:endParaRPr lang="en-US" sz="1600" dirty="0"/>
          </a:p>
        </p:txBody>
      </p:sp>
      <p:sp>
        <p:nvSpPr>
          <p:cNvPr id="32" name="Text 30"/>
          <p:cNvSpPr/>
          <p:nvPr/>
        </p:nvSpPr>
        <p:spPr>
          <a:xfrm>
            <a:off x="978408" y="2761488"/>
            <a:ext cx="3319272" cy="274320"/>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Đội ngũ &amp; Năng lực Kiểm định viên</a:t>
            </a:r>
            <a:endParaRPr lang="en-US" sz="1200" dirty="0"/>
          </a:p>
        </p:txBody>
      </p:sp>
      <p:sp>
        <p:nvSpPr>
          <p:cNvPr id="33" name="Text 31"/>
          <p:cNvSpPr/>
          <p:nvPr/>
        </p:nvSpPr>
        <p:spPr>
          <a:xfrm>
            <a:off x="978408" y="3017520"/>
            <a:ext cx="3319272" cy="219456"/>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Vai trò Lead Auditor &amp; Auditor</a:t>
            </a:r>
            <a:endParaRPr lang="en-US" sz="1000" dirty="0"/>
          </a:p>
        </p:txBody>
      </p:sp>
      <p:sp>
        <p:nvSpPr>
          <p:cNvPr id="34" name="Shape 32"/>
          <p:cNvSpPr/>
          <p:nvPr/>
        </p:nvSpPr>
        <p:spPr>
          <a:xfrm>
            <a:off x="4544568" y="2715768"/>
            <a:ext cx="3977640" cy="566928"/>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35" name="Shape 33"/>
          <p:cNvSpPr/>
          <p:nvPr/>
        </p:nvSpPr>
        <p:spPr>
          <a:xfrm>
            <a:off x="4544568" y="2715768"/>
            <a:ext cx="502920" cy="566928"/>
          </a:xfrm>
          <a:prstGeom prst="rect">
            <a:avLst/>
          </a:prstGeom>
          <a:solidFill>
            <a:srgbClr val="00736A"/>
          </a:solidFill>
          <a:ln/>
        </p:spPr>
      </p:sp>
      <p:sp>
        <p:nvSpPr>
          <p:cNvPr id="36" name="Text 34"/>
          <p:cNvSpPr/>
          <p:nvPr/>
        </p:nvSpPr>
        <p:spPr>
          <a:xfrm>
            <a:off x="4544568" y="2715768"/>
            <a:ext cx="502920" cy="566928"/>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06</a:t>
            </a:r>
            <a:endParaRPr lang="en-US" sz="1600" dirty="0"/>
          </a:p>
        </p:txBody>
      </p:sp>
      <p:sp>
        <p:nvSpPr>
          <p:cNvPr id="37" name="Text 35"/>
          <p:cNvSpPr/>
          <p:nvPr/>
        </p:nvSpPr>
        <p:spPr>
          <a:xfrm>
            <a:off x="5138928" y="2761488"/>
            <a:ext cx="3319272" cy="274320"/>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Quy trình Lập kế hoạch Kiểm định</a:t>
            </a:r>
            <a:endParaRPr lang="en-US" sz="1200" dirty="0"/>
          </a:p>
        </p:txBody>
      </p:sp>
      <p:sp>
        <p:nvSpPr>
          <p:cNvPr id="38" name="Text 36"/>
          <p:cNvSpPr/>
          <p:nvPr/>
        </p:nvSpPr>
        <p:spPr>
          <a:xfrm>
            <a:off x="5138928" y="3017520"/>
            <a:ext cx="3319272" cy="219456"/>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5 bước: Chương trình → Hồ sơ → Checklist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Lịch sử &amp; Xu hướng Kiểm định</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TỪ KIỂM TOÁN TÀI CHÍNH ĐẾN KIỂM ĐỊNH CHẤT LƯỢNG</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Text 8"/>
          <p:cNvSpPr/>
          <p:nvPr/>
        </p:nvSpPr>
        <p:spPr>
          <a:xfrm>
            <a:off x="384048" y="1325880"/>
            <a:ext cx="8321040" cy="457200"/>
          </a:xfrm>
          <a:prstGeom prst="rect">
            <a:avLst/>
          </a:prstGeom>
          <a:noFill/>
          <a:ln/>
        </p:spPr>
        <p:txBody>
          <a:bodyPr wrap="square" lIns="0" tIns="0" rIns="0" bIns="0" rtlCol="0" anchor="ctr"/>
          <a:lstStyle/>
          <a:p>
            <a:pPr indent="0" marL="0">
              <a:buNone/>
            </a:pPr>
            <a:r>
              <a:rPr lang="en-US" sz="1300" i="1" dirty="0">
                <a:solidFill>
                  <a:srgbClr val="5C6E6C"/>
                </a:solidFill>
                <a:latin typeface="Calibri" pitchFamily="34" charset="0"/>
                <a:ea typeface="Calibri" pitchFamily="34" charset="-122"/>
                <a:cs typeface="Calibri" pitchFamily="34" charset="-120"/>
              </a:rPr>
              <a:t>Khi người ta nghĩ đến "kiểm định", họ thường nghĩ đến tài chính. Điều đó đã thay đổi vào những năm 1980.</a:t>
            </a:r>
            <a:endParaRPr lang="en-US" sz="1300" dirty="0"/>
          </a:p>
        </p:txBody>
      </p:sp>
      <p:sp>
        <p:nvSpPr>
          <p:cNvPr id="11" name="Shape 9"/>
          <p:cNvSpPr/>
          <p:nvPr/>
        </p:nvSpPr>
        <p:spPr>
          <a:xfrm>
            <a:off x="384048" y="1965960"/>
            <a:ext cx="1572768" cy="1691640"/>
          </a:xfrm>
          <a:prstGeom prst="rect">
            <a:avLst/>
          </a:prstGeom>
          <a:solidFill>
            <a:srgbClr val="3D5250"/>
          </a:solidFill>
          <a:ln/>
          <a:effectLst>
            <a:outerShdw sx="100000" sy="100000" kx="0" ky="0" algn="bl" rotWithShape="0" blurRad="101600" dist="38100" dir="8100000">
              <a:srgbClr val="000000">
                <a:alpha val="10000"/>
              </a:srgbClr>
            </a:outerShdw>
          </a:effectLst>
        </p:spPr>
      </p:sp>
      <p:sp>
        <p:nvSpPr>
          <p:cNvPr id="12" name="Text 10"/>
          <p:cNvSpPr/>
          <p:nvPr/>
        </p:nvSpPr>
        <p:spPr>
          <a:xfrm>
            <a:off x="438912" y="2194560"/>
            <a:ext cx="146304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Tài chính</a:t>
            </a:r>
            <a:endParaRPr lang="en-US" sz="1300" dirty="0"/>
          </a:p>
        </p:txBody>
      </p:sp>
      <p:sp>
        <p:nvSpPr>
          <p:cNvPr id="13" name="Text 11"/>
          <p:cNvSpPr/>
          <p:nvPr/>
        </p:nvSpPr>
        <p:spPr>
          <a:xfrm>
            <a:off x="438912" y="3154680"/>
            <a:ext cx="1463040" cy="347472"/>
          </a:xfrm>
          <a:prstGeom prst="rect">
            <a:avLst/>
          </a:prstGeom>
          <a:noFill/>
          <a:ln/>
        </p:spPr>
        <p:txBody>
          <a:bodyPr wrap="square" lIns="0" tIns="0" rIns="0" bIns="0" rtlCol="0" anchor="ctr"/>
          <a:lstStyle/>
          <a:p>
            <a:pPr algn="ctr" indent="0" marL="0">
              <a:buNone/>
            </a:pPr>
            <a:r>
              <a:rPr lang="en-US" sz="1000" dirty="0">
                <a:solidFill>
                  <a:srgbClr val="E0F4F2"/>
                </a:solidFill>
                <a:latin typeface="Calibri" pitchFamily="34" charset="0"/>
                <a:ea typeface="Calibri" pitchFamily="34" charset="-122"/>
                <a:cs typeface="Calibri" pitchFamily="34" charset="-120"/>
              </a:rPr>
              <a:t>Trước 1980s</a:t>
            </a:r>
            <a:endParaRPr lang="en-US" sz="1000" dirty="0"/>
          </a:p>
        </p:txBody>
      </p:sp>
      <p:sp>
        <p:nvSpPr>
          <p:cNvPr id="14" name="Shape 12"/>
          <p:cNvSpPr/>
          <p:nvPr/>
        </p:nvSpPr>
        <p:spPr>
          <a:xfrm>
            <a:off x="2084832" y="1965960"/>
            <a:ext cx="1572768" cy="1691640"/>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15" name="Text 13"/>
          <p:cNvSpPr/>
          <p:nvPr/>
        </p:nvSpPr>
        <p:spPr>
          <a:xfrm>
            <a:off x="2139696" y="2194560"/>
            <a:ext cx="146304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 tế &amp; Dược phẩm</a:t>
            </a:r>
            <a:endParaRPr lang="en-US" sz="1300" dirty="0"/>
          </a:p>
        </p:txBody>
      </p:sp>
      <p:sp>
        <p:nvSpPr>
          <p:cNvPr id="16" name="Text 14"/>
          <p:cNvSpPr/>
          <p:nvPr/>
        </p:nvSpPr>
        <p:spPr>
          <a:xfrm>
            <a:off x="2139696" y="3154680"/>
            <a:ext cx="1463040" cy="347472"/>
          </a:xfrm>
          <a:prstGeom prst="rect">
            <a:avLst/>
          </a:prstGeom>
          <a:noFill/>
          <a:ln/>
        </p:spPr>
        <p:txBody>
          <a:bodyPr wrap="square" lIns="0" tIns="0" rIns="0" bIns="0" rtlCol="0" anchor="ctr"/>
          <a:lstStyle/>
          <a:p>
            <a:pPr algn="ctr" indent="0" marL="0">
              <a:buNone/>
            </a:pPr>
            <a:r>
              <a:rPr lang="en-US" sz="1000" dirty="0">
                <a:solidFill>
                  <a:srgbClr val="E0F4F2"/>
                </a:solidFill>
                <a:latin typeface="Calibri" pitchFamily="34" charset="0"/>
                <a:ea typeface="Calibri" pitchFamily="34" charset="-122"/>
                <a:cs typeface="Calibri" pitchFamily="34" charset="-120"/>
              </a:rPr>
              <a:t>1980s →</a:t>
            </a:r>
            <a:endParaRPr lang="en-US" sz="1000" dirty="0"/>
          </a:p>
        </p:txBody>
      </p:sp>
      <p:sp>
        <p:nvSpPr>
          <p:cNvPr id="17" name="Shape 15"/>
          <p:cNvSpPr/>
          <p:nvPr/>
        </p:nvSpPr>
        <p:spPr>
          <a:xfrm>
            <a:off x="3785616" y="1965960"/>
            <a:ext cx="1572768" cy="1691640"/>
          </a:xfrm>
          <a:prstGeom prst="rect">
            <a:avLst/>
          </a:prstGeom>
          <a:solidFill>
            <a:srgbClr val="009B8E"/>
          </a:solidFill>
          <a:ln/>
          <a:effectLst>
            <a:outerShdw sx="100000" sy="100000" kx="0" ky="0" algn="bl" rotWithShape="0" blurRad="101600" dist="38100" dir="8100000">
              <a:srgbClr val="000000">
                <a:alpha val="10000"/>
              </a:srgbClr>
            </a:outerShdw>
          </a:effectLst>
        </p:spPr>
      </p:sp>
      <p:sp>
        <p:nvSpPr>
          <p:cNvPr id="18" name="Text 16"/>
          <p:cNvSpPr/>
          <p:nvPr/>
        </p:nvSpPr>
        <p:spPr>
          <a:xfrm>
            <a:off x="3840480" y="2194560"/>
            <a:ext cx="146304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 toàn lao động</a:t>
            </a:r>
            <a:endParaRPr lang="en-US" sz="1300" dirty="0"/>
          </a:p>
        </p:txBody>
      </p:sp>
      <p:sp>
        <p:nvSpPr>
          <p:cNvPr id="19" name="Text 17"/>
          <p:cNvSpPr/>
          <p:nvPr/>
        </p:nvSpPr>
        <p:spPr>
          <a:xfrm>
            <a:off x="3840480" y="3154680"/>
            <a:ext cx="1463040" cy="347472"/>
          </a:xfrm>
          <a:prstGeom prst="rect">
            <a:avLst/>
          </a:prstGeom>
          <a:noFill/>
          <a:ln/>
        </p:spPr>
        <p:txBody>
          <a:bodyPr wrap="square" lIns="0" tIns="0" rIns="0" bIns="0" rtlCol="0" anchor="ctr"/>
          <a:lstStyle/>
          <a:p>
            <a:pPr algn="ctr" indent="0" marL="0">
              <a:buNone/>
            </a:pPr>
            <a:r>
              <a:rPr lang="en-US" sz="1000" dirty="0">
                <a:solidFill>
                  <a:srgbClr val="E0F4F2"/>
                </a:solidFill>
                <a:latin typeface="Calibri" pitchFamily="34" charset="0"/>
                <a:ea typeface="Calibri" pitchFamily="34" charset="-122"/>
                <a:cs typeface="Calibri" pitchFamily="34" charset="-120"/>
              </a:rPr>
              <a:t>1990s →</a:t>
            </a:r>
            <a:endParaRPr lang="en-US" sz="1000" dirty="0"/>
          </a:p>
        </p:txBody>
      </p:sp>
      <p:sp>
        <p:nvSpPr>
          <p:cNvPr id="20" name="Shape 18"/>
          <p:cNvSpPr/>
          <p:nvPr/>
        </p:nvSpPr>
        <p:spPr>
          <a:xfrm>
            <a:off x="5486400" y="1965960"/>
            <a:ext cx="1572768" cy="1691640"/>
          </a:xfrm>
          <a:prstGeom prst="rect">
            <a:avLst/>
          </a:prstGeom>
          <a:solidFill>
            <a:srgbClr val="007A6E"/>
          </a:solidFill>
          <a:ln/>
          <a:effectLst>
            <a:outerShdw sx="100000" sy="100000" kx="0" ky="0" algn="bl" rotWithShape="0" blurRad="101600" dist="38100" dir="8100000">
              <a:srgbClr val="000000">
                <a:alpha val="10000"/>
              </a:srgbClr>
            </a:outerShdw>
          </a:effectLst>
        </p:spPr>
      </p:sp>
      <p:sp>
        <p:nvSpPr>
          <p:cNvPr id="21" name="Text 19"/>
          <p:cNvSpPr/>
          <p:nvPr/>
        </p:nvSpPr>
        <p:spPr>
          <a:xfrm>
            <a:off x="5541264" y="2194560"/>
            <a:ext cx="146304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Môi trường</a:t>
            </a:r>
            <a:endParaRPr lang="en-US" sz="1300" dirty="0"/>
          </a:p>
        </p:txBody>
      </p:sp>
      <p:sp>
        <p:nvSpPr>
          <p:cNvPr id="22" name="Text 20"/>
          <p:cNvSpPr/>
          <p:nvPr/>
        </p:nvSpPr>
        <p:spPr>
          <a:xfrm>
            <a:off x="5541264" y="3154680"/>
            <a:ext cx="1463040" cy="347472"/>
          </a:xfrm>
          <a:prstGeom prst="rect">
            <a:avLst/>
          </a:prstGeom>
          <a:noFill/>
          <a:ln/>
        </p:spPr>
        <p:txBody>
          <a:bodyPr wrap="square" lIns="0" tIns="0" rIns="0" bIns="0" rtlCol="0" anchor="ctr"/>
          <a:lstStyle/>
          <a:p>
            <a:pPr algn="ctr" indent="0" marL="0">
              <a:buNone/>
            </a:pPr>
            <a:r>
              <a:rPr lang="en-US" sz="1000" dirty="0">
                <a:solidFill>
                  <a:srgbClr val="E0F4F2"/>
                </a:solidFill>
                <a:latin typeface="Calibri" pitchFamily="34" charset="0"/>
                <a:ea typeface="Calibri" pitchFamily="34" charset="-122"/>
                <a:cs typeface="Calibri" pitchFamily="34" charset="-120"/>
              </a:rPr>
              <a:t>1990s →</a:t>
            </a:r>
            <a:endParaRPr lang="en-US" sz="1000" dirty="0"/>
          </a:p>
        </p:txBody>
      </p:sp>
      <p:sp>
        <p:nvSpPr>
          <p:cNvPr id="23" name="Shape 21"/>
          <p:cNvSpPr/>
          <p:nvPr/>
        </p:nvSpPr>
        <p:spPr>
          <a:xfrm>
            <a:off x="7187184" y="1965960"/>
            <a:ext cx="1572768" cy="1691640"/>
          </a:xfrm>
          <a:prstGeom prst="rect">
            <a:avLst/>
          </a:prstGeom>
          <a:solidFill>
            <a:srgbClr val="C9952A"/>
          </a:solidFill>
          <a:ln/>
          <a:effectLst>
            <a:outerShdw sx="100000" sy="100000" kx="0" ky="0" algn="bl" rotWithShape="0" blurRad="101600" dist="38100" dir="8100000">
              <a:srgbClr val="000000">
                <a:alpha val="10000"/>
              </a:srgbClr>
            </a:outerShdw>
          </a:effectLst>
        </p:spPr>
      </p:sp>
      <p:sp>
        <p:nvSpPr>
          <p:cNvPr id="24" name="Text 22"/>
          <p:cNvSpPr/>
          <p:nvPr/>
        </p:nvSpPr>
        <p:spPr>
          <a:xfrm>
            <a:off x="7242048" y="2194560"/>
            <a:ext cx="146304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Halal &amp; Thực phẩm</a:t>
            </a:r>
            <a:endParaRPr lang="en-US" sz="1300" dirty="0"/>
          </a:p>
        </p:txBody>
      </p:sp>
      <p:sp>
        <p:nvSpPr>
          <p:cNvPr id="25" name="Text 23"/>
          <p:cNvSpPr/>
          <p:nvPr/>
        </p:nvSpPr>
        <p:spPr>
          <a:xfrm>
            <a:off x="7242048" y="3154680"/>
            <a:ext cx="1463040" cy="347472"/>
          </a:xfrm>
          <a:prstGeom prst="rect">
            <a:avLst/>
          </a:prstGeom>
          <a:noFill/>
          <a:ln/>
        </p:spPr>
        <p:txBody>
          <a:bodyPr wrap="square" lIns="0" tIns="0" rIns="0" bIns="0" rtlCol="0" anchor="ctr"/>
          <a:lstStyle/>
          <a:p>
            <a:pPr algn="ctr" indent="0" marL="0">
              <a:buNone/>
            </a:pPr>
            <a:r>
              <a:rPr lang="en-US" sz="1000" dirty="0">
                <a:solidFill>
                  <a:srgbClr val="1A2E2C"/>
                </a:solidFill>
                <a:latin typeface="Calibri" pitchFamily="34" charset="0"/>
                <a:ea typeface="Calibri" pitchFamily="34" charset="-122"/>
                <a:cs typeface="Calibri" pitchFamily="34" charset="-120"/>
              </a:rPr>
              <a:t>2000s →</a:t>
            </a:r>
            <a:endParaRPr lang="en-US" sz="1000" dirty="0"/>
          </a:p>
        </p:txBody>
      </p:sp>
      <p:sp>
        <p:nvSpPr>
          <p:cNvPr id="26" name="Shape 24"/>
          <p:cNvSpPr/>
          <p:nvPr/>
        </p:nvSpPr>
        <p:spPr>
          <a:xfrm>
            <a:off x="384048" y="3840480"/>
            <a:ext cx="8321040" cy="804672"/>
          </a:xfrm>
          <a:prstGeom prst="rect">
            <a:avLst/>
          </a:prstGeom>
          <a:solidFill>
            <a:srgbClr val="E0F4F2"/>
          </a:solidFill>
          <a:ln w="10160">
            <a:solidFill>
              <a:srgbClr val="009B8E"/>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384048" y="3840480"/>
            <a:ext cx="91440" cy="804672"/>
          </a:xfrm>
          <a:prstGeom prst="rect">
            <a:avLst/>
          </a:prstGeom>
          <a:solidFill>
            <a:srgbClr val="00736A"/>
          </a:solidFill>
          <a:ln/>
        </p:spPr>
      </p:sp>
      <p:sp>
        <p:nvSpPr>
          <p:cNvPr id="28" name="Text 26"/>
          <p:cNvSpPr/>
          <p:nvPr/>
        </p:nvSpPr>
        <p:spPr>
          <a:xfrm>
            <a:off x="566928" y="3840480"/>
            <a:ext cx="8092440" cy="804672"/>
          </a:xfrm>
          <a:prstGeom prst="rect">
            <a:avLst/>
          </a:prstGeom>
          <a:noFill/>
          <a:ln/>
        </p:spPr>
        <p:txBody>
          <a:bodyPr wrap="square" lIns="0" tIns="0" rIns="0" bIns="0" rtlCol="0" anchor="ctr"/>
          <a:lstStyle/>
          <a:p>
            <a:pPr indent="0" marL="0">
              <a:buNone/>
            </a:pPr>
            <a:r>
              <a:rPr lang="en-US" sz="1300" i="1" dirty="0">
                <a:solidFill>
                  <a:srgbClr val="1A2E2C"/>
                </a:solidFill>
                <a:latin typeface="Calibri" pitchFamily="34" charset="0"/>
                <a:ea typeface="Calibri" pitchFamily="34" charset="-122"/>
                <a:cs typeface="Calibri" pitchFamily="34" charset="-120"/>
              </a:rPr>
              <a:t>Kiểm định Halal hiện nay là yêu cầu bắt buộc để xuất khẩu thực phẩm sang 57 quốc gia thành viên OIC — thị trường hơn 2 tỷ người tiêu dùng.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Định nghĩa Kiểm định Halal</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THEO TIÊU CHUẨN ISO 19011 &amp; HDC</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25880"/>
            <a:ext cx="8321040" cy="1188720"/>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11" name="Text 9"/>
          <p:cNvSpPr/>
          <p:nvPr/>
        </p:nvSpPr>
        <p:spPr>
          <a:xfrm>
            <a:off x="548640" y="1389888"/>
            <a:ext cx="79552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Halal Audit (Kiểm định Halal)</a:t>
            </a:r>
            <a:endParaRPr lang="en-US" sz="2200" dirty="0"/>
          </a:p>
        </p:txBody>
      </p:sp>
      <p:sp>
        <p:nvSpPr>
          <p:cNvPr id="12" name="Text 10"/>
          <p:cNvSpPr/>
          <p:nvPr/>
        </p:nvSpPr>
        <p:spPr>
          <a:xfrm>
            <a:off x="548640" y="1847088"/>
            <a:ext cx="7955280" cy="292608"/>
          </a:xfrm>
          <a:prstGeom prst="rect">
            <a:avLst/>
          </a:prstGeom>
          <a:noFill/>
          <a:ln/>
        </p:spPr>
        <p:txBody>
          <a:bodyPr wrap="square" lIns="0" tIns="0" rIns="0" bIns="0" rtlCol="0" anchor="ctr"/>
          <a:lstStyle/>
          <a:p>
            <a:pPr indent="0" marL="0">
              <a:buNone/>
            </a:pPr>
            <a:r>
              <a:rPr lang="en-US" sz="1300" i="1" dirty="0">
                <a:solidFill>
                  <a:srgbClr val="C9952A"/>
                </a:solidFill>
                <a:latin typeface="Calibri" pitchFamily="34" charset="0"/>
                <a:ea typeface="Calibri" pitchFamily="34" charset="-122"/>
                <a:cs typeface="Calibri" pitchFamily="34" charset="-120"/>
              </a:rPr>
              <a:t>Systematic, independent, documented process</a:t>
            </a:r>
            <a:endParaRPr lang="en-US" sz="1300" dirty="0"/>
          </a:p>
        </p:txBody>
      </p:sp>
      <p:sp>
        <p:nvSpPr>
          <p:cNvPr id="13" name="Shape 11"/>
          <p:cNvSpPr/>
          <p:nvPr/>
        </p:nvSpPr>
        <p:spPr>
          <a:xfrm>
            <a:off x="384048" y="2606040"/>
            <a:ext cx="8321040" cy="1737360"/>
          </a:xfrm>
          <a:prstGeom prst="rect">
            <a:avLst/>
          </a:prstGeom>
          <a:solidFill>
            <a:srgbClr val="F8FAFA"/>
          </a:solidFill>
          <a:ln w="6350">
            <a:solidFill>
              <a:srgbClr val="E8EEEE"/>
            </a:solidFill>
            <a:prstDash val="solid"/>
          </a:ln>
        </p:spPr>
      </p:sp>
      <p:sp>
        <p:nvSpPr>
          <p:cNvPr id="14" name="Text 12"/>
          <p:cNvSpPr/>
          <p:nvPr/>
        </p:nvSpPr>
        <p:spPr>
          <a:xfrm>
            <a:off x="640080" y="2670048"/>
            <a:ext cx="7863840" cy="1600200"/>
          </a:xfrm>
          <a:prstGeom prst="rect">
            <a:avLst/>
          </a:prstGeom>
          <a:noFill/>
          <a:ln/>
        </p:spPr>
        <p:txBody>
          <a:bodyPr wrap="square" lIns="0" tIns="0" rIns="0" bIns="0" rtlCol="0" anchor="t"/>
          <a:lstStyle/>
          <a:p>
            <a:pPr indent="0" marL="0">
              <a:buNone/>
            </a:pPr>
            <a:r>
              <a:rPr lang="en-US" sz="1400" dirty="0">
                <a:solidFill>
                  <a:srgbClr val="1A2E2C"/>
                </a:solidFill>
                <a:latin typeface="Calibri" pitchFamily="34" charset="0"/>
                <a:ea typeface="Calibri" pitchFamily="34" charset="-122"/>
                <a:cs typeface="Calibri" pitchFamily="34" charset="-120"/>
              </a:rPr>
              <a:t>Là quá trình kiểm tra có hệ thống, độc lập và có hồ sơ lưu trữ nhằm thu thập bằng chứng và đánh giá khách quan để xác định mức độ đáp ứng các yêu cầu của tiêu chuẩn Halal (MHMS, MS1500, JAKIM).</a:t>
            </a:r>
            <a:endParaRPr lang="en-US" sz="1400" dirty="0"/>
          </a:p>
        </p:txBody>
      </p:sp>
      <p:sp>
        <p:nvSpPr>
          <p:cNvPr id="15" name="Text 13"/>
          <p:cNvSpPr/>
          <p:nvPr/>
        </p:nvSpPr>
        <p:spPr>
          <a:xfrm>
            <a:off x="384048" y="4434840"/>
            <a:ext cx="2743200" cy="256032"/>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3 đặc điểm cốt lõi:</a:t>
            </a:r>
            <a:endParaRPr lang="en-US" sz="1200" dirty="0"/>
          </a:p>
        </p:txBody>
      </p:sp>
      <p:sp>
        <p:nvSpPr>
          <p:cNvPr id="16" name="Shape 14"/>
          <p:cNvSpPr/>
          <p:nvPr/>
        </p:nvSpPr>
        <p:spPr>
          <a:xfrm>
            <a:off x="384048" y="4572000"/>
            <a:ext cx="2560320" cy="201168"/>
          </a:xfrm>
          <a:prstGeom prst="rect">
            <a:avLst/>
          </a:prstGeom>
          <a:solidFill>
            <a:srgbClr val="00736A"/>
          </a:solidFill>
          <a:ln/>
        </p:spPr>
      </p:sp>
      <p:sp>
        <p:nvSpPr>
          <p:cNvPr id="17" name="Text 15"/>
          <p:cNvSpPr/>
          <p:nvPr/>
        </p:nvSpPr>
        <p:spPr>
          <a:xfrm>
            <a:off x="384048" y="4572000"/>
            <a:ext cx="256032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Có hệ thống</a:t>
            </a:r>
            <a:endParaRPr lang="en-US" sz="1000" dirty="0"/>
          </a:p>
        </p:txBody>
      </p:sp>
      <p:sp>
        <p:nvSpPr>
          <p:cNvPr id="18" name="Shape 16"/>
          <p:cNvSpPr/>
          <p:nvPr/>
        </p:nvSpPr>
        <p:spPr>
          <a:xfrm>
            <a:off x="3218688" y="4572000"/>
            <a:ext cx="2560320" cy="201168"/>
          </a:xfrm>
          <a:prstGeom prst="rect">
            <a:avLst/>
          </a:prstGeom>
          <a:solidFill>
            <a:srgbClr val="009B8E"/>
          </a:solidFill>
          <a:ln/>
        </p:spPr>
      </p:sp>
      <p:sp>
        <p:nvSpPr>
          <p:cNvPr id="19" name="Text 17"/>
          <p:cNvSpPr/>
          <p:nvPr/>
        </p:nvSpPr>
        <p:spPr>
          <a:xfrm>
            <a:off x="3218688" y="4572000"/>
            <a:ext cx="256032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Độc lập</a:t>
            </a:r>
            <a:endParaRPr lang="en-US" sz="1000" dirty="0"/>
          </a:p>
        </p:txBody>
      </p:sp>
      <p:sp>
        <p:nvSpPr>
          <p:cNvPr id="20" name="Shape 18"/>
          <p:cNvSpPr/>
          <p:nvPr/>
        </p:nvSpPr>
        <p:spPr>
          <a:xfrm>
            <a:off x="6053328" y="4572000"/>
            <a:ext cx="2560320" cy="201168"/>
          </a:xfrm>
          <a:prstGeom prst="rect">
            <a:avLst/>
          </a:prstGeom>
          <a:solidFill>
            <a:srgbClr val="C9952A"/>
          </a:solidFill>
          <a:ln/>
        </p:spPr>
      </p:sp>
      <p:sp>
        <p:nvSpPr>
          <p:cNvPr id="21" name="Text 19"/>
          <p:cNvSpPr/>
          <p:nvPr/>
        </p:nvSpPr>
        <p:spPr>
          <a:xfrm>
            <a:off x="6053328" y="4572000"/>
            <a:ext cx="256032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Có hồ sơ</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Phân loại Kiểm định theo Nguồn gốc</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FIRST / SECOND / THIRD PARTY AUDIT</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20040" y="1325880"/>
            <a:ext cx="2651760" cy="658368"/>
          </a:xfrm>
          <a:prstGeom prst="rect">
            <a:avLst/>
          </a:prstGeom>
          <a:solidFill>
            <a:srgbClr val="3D5250"/>
          </a:solidFill>
          <a:ln/>
          <a:effectLst>
            <a:outerShdw sx="100000" sy="100000" kx="0" ky="0" algn="bl" rotWithShape="0" blurRad="101600" dist="38100" dir="8100000">
              <a:srgbClr val="000000">
                <a:alpha val="10000"/>
              </a:srgbClr>
            </a:outerShdw>
          </a:effectLst>
        </p:spPr>
      </p:sp>
      <p:sp>
        <p:nvSpPr>
          <p:cNvPr id="11" name="Text 9"/>
          <p:cNvSpPr/>
          <p:nvPr/>
        </p:nvSpPr>
        <p:spPr>
          <a:xfrm>
            <a:off x="393192" y="1353312"/>
            <a:ext cx="25054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Bên thứ nhất</a:t>
            </a:r>
            <a:endParaRPr lang="en-US" sz="1400" dirty="0"/>
          </a:p>
        </p:txBody>
      </p:sp>
      <p:sp>
        <p:nvSpPr>
          <p:cNvPr id="12" name="Text 10"/>
          <p:cNvSpPr/>
          <p:nvPr/>
        </p:nvSpPr>
        <p:spPr>
          <a:xfrm>
            <a:off x="393192" y="1664208"/>
            <a:ext cx="2505456" cy="256032"/>
          </a:xfrm>
          <a:prstGeom prst="rect">
            <a:avLst/>
          </a:prstGeom>
          <a:noFill/>
          <a:ln/>
        </p:spPr>
        <p:txBody>
          <a:bodyPr wrap="square" lIns="0" tIns="0" rIns="0" bIns="0" rtlCol="0" anchor="ctr"/>
          <a:lstStyle/>
          <a:p>
            <a:pPr indent="0" marL="0">
              <a:buNone/>
            </a:pPr>
            <a:r>
              <a:rPr lang="en-US" sz="950" i="1" dirty="0">
                <a:solidFill>
                  <a:srgbClr val="E0F4F2"/>
                </a:solidFill>
                <a:latin typeface="Calibri" pitchFamily="34" charset="0"/>
                <a:ea typeface="Calibri" pitchFamily="34" charset="-122"/>
                <a:cs typeface="Calibri" pitchFamily="34" charset="-120"/>
              </a:rPr>
              <a:t>First Party / Internal Audit</a:t>
            </a:r>
            <a:endParaRPr lang="en-US" sz="950" dirty="0"/>
          </a:p>
        </p:txBody>
      </p:sp>
      <p:sp>
        <p:nvSpPr>
          <p:cNvPr id="13" name="Shape 11"/>
          <p:cNvSpPr/>
          <p:nvPr/>
        </p:nvSpPr>
        <p:spPr>
          <a:xfrm>
            <a:off x="320040" y="2029968"/>
            <a:ext cx="2651760" cy="2514600"/>
          </a:xfrm>
          <a:prstGeom prst="rect">
            <a:avLst/>
          </a:prstGeom>
          <a:solidFill>
            <a:srgbClr val="FFFFFF"/>
          </a:solidFill>
          <a:ln w="6350">
            <a:solidFill>
              <a:srgbClr val="E8EEEE"/>
            </a:solidFill>
            <a:prstDash val="solid"/>
          </a:ln>
        </p:spPr>
      </p:sp>
      <p:sp>
        <p:nvSpPr>
          <p:cNvPr id="14" name="Text 12"/>
          <p:cNvSpPr/>
          <p:nvPr/>
        </p:nvSpPr>
        <p:spPr>
          <a:xfrm>
            <a:off x="429768" y="2121408"/>
            <a:ext cx="2450592" cy="2331720"/>
          </a:xfrm>
          <a:prstGeom prst="rect">
            <a:avLst/>
          </a:prstGeom>
          <a:noFill/>
          <a:ln/>
        </p:spPr>
        <p:txBody>
          <a:bodyPr wrap="square" rtlCol="0" anchor="ctr"/>
          <a:lstStyle/>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Do chính tổ chức thực hiện</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Nhân viên nội bộ tiến hành</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Xác nhận hệ thống vận hành đúng</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Chuẩn bị cho kiểm định bên ngoài</a:t>
            </a:r>
            <a:endParaRPr lang="en-US" sz="1200" dirty="0"/>
          </a:p>
        </p:txBody>
      </p:sp>
      <p:sp>
        <p:nvSpPr>
          <p:cNvPr id="15" name="Shape 13"/>
          <p:cNvSpPr/>
          <p:nvPr/>
        </p:nvSpPr>
        <p:spPr>
          <a:xfrm>
            <a:off x="3172968" y="1325880"/>
            <a:ext cx="2651760" cy="658368"/>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16" name="Text 14"/>
          <p:cNvSpPr/>
          <p:nvPr/>
        </p:nvSpPr>
        <p:spPr>
          <a:xfrm>
            <a:off x="3246120" y="1353312"/>
            <a:ext cx="25054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Bên thứ hai</a:t>
            </a:r>
            <a:endParaRPr lang="en-US" sz="1400" dirty="0"/>
          </a:p>
        </p:txBody>
      </p:sp>
      <p:sp>
        <p:nvSpPr>
          <p:cNvPr id="17" name="Text 15"/>
          <p:cNvSpPr/>
          <p:nvPr/>
        </p:nvSpPr>
        <p:spPr>
          <a:xfrm>
            <a:off x="3246120" y="1664208"/>
            <a:ext cx="2505456" cy="256032"/>
          </a:xfrm>
          <a:prstGeom prst="rect">
            <a:avLst/>
          </a:prstGeom>
          <a:noFill/>
          <a:ln/>
        </p:spPr>
        <p:txBody>
          <a:bodyPr wrap="square" lIns="0" tIns="0" rIns="0" bIns="0" rtlCol="0" anchor="ctr"/>
          <a:lstStyle/>
          <a:p>
            <a:pPr indent="0" marL="0">
              <a:buNone/>
            </a:pPr>
            <a:r>
              <a:rPr lang="en-US" sz="950" i="1" dirty="0">
                <a:solidFill>
                  <a:srgbClr val="E0F4F2"/>
                </a:solidFill>
                <a:latin typeface="Calibri" pitchFamily="34" charset="0"/>
                <a:ea typeface="Calibri" pitchFamily="34" charset="-122"/>
                <a:cs typeface="Calibri" pitchFamily="34" charset="-120"/>
              </a:rPr>
              <a:t>Second Party / Supplier Audit</a:t>
            </a:r>
            <a:endParaRPr lang="en-US" sz="950" dirty="0"/>
          </a:p>
        </p:txBody>
      </p:sp>
      <p:sp>
        <p:nvSpPr>
          <p:cNvPr id="18" name="Shape 16"/>
          <p:cNvSpPr/>
          <p:nvPr/>
        </p:nvSpPr>
        <p:spPr>
          <a:xfrm>
            <a:off x="3172968" y="2029968"/>
            <a:ext cx="2651760" cy="2514600"/>
          </a:xfrm>
          <a:prstGeom prst="rect">
            <a:avLst/>
          </a:prstGeom>
          <a:solidFill>
            <a:srgbClr val="FFFFFF"/>
          </a:solidFill>
          <a:ln w="6350">
            <a:solidFill>
              <a:srgbClr val="E8EEEE"/>
            </a:solidFill>
            <a:prstDash val="solid"/>
          </a:ln>
        </p:spPr>
      </p:sp>
      <p:sp>
        <p:nvSpPr>
          <p:cNvPr id="19" name="Text 17"/>
          <p:cNvSpPr/>
          <p:nvPr/>
        </p:nvSpPr>
        <p:spPr>
          <a:xfrm>
            <a:off x="3282696" y="2121408"/>
            <a:ext cx="2450592" cy="2331720"/>
          </a:xfrm>
          <a:prstGeom prst="rect">
            <a:avLst/>
          </a:prstGeom>
          <a:noFill/>
          <a:ln/>
        </p:spPr>
        <p:txBody>
          <a:bodyPr wrap="square" rtlCol="0" anchor="ctr"/>
          <a:lstStyle/>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Kiểm định nhà cung cấp / đối tác</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Đánh giá khả năng tuân thủ hợp đồng</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Cung cấp thông tin xét duyệt NCC</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Yêu cầu của MHAS – Raw Material Control</a:t>
            </a:r>
            <a:endParaRPr lang="en-US" sz="1200" dirty="0"/>
          </a:p>
        </p:txBody>
      </p:sp>
      <p:sp>
        <p:nvSpPr>
          <p:cNvPr id="20" name="Shape 18"/>
          <p:cNvSpPr/>
          <p:nvPr/>
        </p:nvSpPr>
        <p:spPr>
          <a:xfrm>
            <a:off x="6025896" y="1325880"/>
            <a:ext cx="2651760" cy="658368"/>
          </a:xfrm>
          <a:prstGeom prst="rect">
            <a:avLst/>
          </a:prstGeom>
          <a:solidFill>
            <a:srgbClr val="C9952A"/>
          </a:solidFill>
          <a:ln/>
          <a:effectLst>
            <a:outerShdw sx="100000" sy="100000" kx="0" ky="0" algn="bl" rotWithShape="0" blurRad="101600" dist="38100" dir="8100000">
              <a:srgbClr val="000000">
                <a:alpha val="10000"/>
              </a:srgbClr>
            </a:outerShdw>
          </a:effectLst>
        </p:spPr>
      </p:sp>
      <p:sp>
        <p:nvSpPr>
          <p:cNvPr id="21" name="Text 19"/>
          <p:cNvSpPr/>
          <p:nvPr/>
        </p:nvSpPr>
        <p:spPr>
          <a:xfrm>
            <a:off x="6099048" y="1353312"/>
            <a:ext cx="25054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Bên thứ ba</a:t>
            </a:r>
            <a:endParaRPr lang="en-US" sz="1400" dirty="0"/>
          </a:p>
        </p:txBody>
      </p:sp>
      <p:sp>
        <p:nvSpPr>
          <p:cNvPr id="22" name="Text 20"/>
          <p:cNvSpPr/>
          <p:nvPr/>
        </p:nvSpPr>
        <p:spPr>
          <a:xfrm>
            <a:off x="6099048" y="1664208"/>
            <a:ext cx="2505456" cy="256032"/>
          </a:xfrm>
          <a:prstGeom prst="rect">
            <a:avLst/>
          </a:prstGeom>
          <a:noFill/>
          <a:ln/>
        </p:spPr>
        <p:txBody>
          <a:bodyPr wrap="square" lIns="0" tIns="0" rIns="0" bIns="0" rtlCol="0" anchor="ctr"/>
          <a:lstStyle/>
          <a:p>
            <a:pPr indent="0" marL="0">
              <a:buNone/>
            </a:pPr>
            <a:r>
              <a:rPr lang="en-US" sz="950" i="1" dirty="0">
                <a:solidFill>
                  <a:srgbClr val="1A2E2C"/>
                </a:solidFill>
                <a:latin typeface="Calibri" pitchFamily="34" charset="0"/>
                <a:ea typeface="Calibri" pitchFamily="34" charset="-122"/>
                <a:cs typeface="Calibri" pitchFamily="34" charset="-120"/>
              </a:rPr>
              <a:t>Third Party / Certification Body</a:t>
            </a:r>
            <a:endParaRPr lang="en-US" sz="950" dirty="0"/>
          </a:p>
        </p:txBody>
      </p:sp>
      <p:sp>
        <p:nvSpPr>
          <p:cNvPr id="23" name="Shape 21"/>
          <p:cNvSpPr/>
          <p:nvPr/>
        </p:nvSpPr>
        <p:spPr>
          <a:xfrm>
            <a:off x="6025896" y="2029968"/>
            <a:ext cx="2651760" cy="2514600"/>
          </a:xfrm>
          <a:prstGeom prst="rect">
            <a:avLst/>
          </a:prstGeom>
          <a:solidFill>
            <a:srgbClr val="FFFFFF"/>
          </a:solidFill>
          <a:ln w="6350">
            <a:solidFill>
              <a:srgbClr val="E8EEEE"/>
            </a:solidFill>
            <a:prstDash val="solid"/>
          </a:ln>
        </p:spPr>
      </p:sp>
      <p:sp>
        <p:nvSpPr>
          <p:cNvPr id="24" name="Text 22"/>
          <p:cNvSpPr/>
          <p:nvPr/>
        </p:nvSpPr>
        <p:spPr>
          <a:xfrm>
            <a:off x="6135624" y="2121408"/>
            <a:ext cx="2450592" cy="2331720"/>
          </a:xfrm>
          <a:prstGeom prst="rect">
            <a:avLst/>
          </a:prstGeom>
          <a:noFill/>
          <a:ln/>
        </p:spPr>
        <p:txBody>
          <a:bodyPr wrap="square" rtlCol="0" anchor="ctr"/>
          <a:lstStyle/>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Tổ chức độc lập (JAKIM, MUI, ESMA)</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Cấp chứng nhận Halal chính thức</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Có giá trị pháp lý quốc tế</a:t>
            </a:r>
            <a:endParaRPr lang="en-US" sz="1200" dirty="0"/>
          </a:p>
          <a:p>
            <a:pPr marL="342900" indent="-342900">
              <a:spcAft>
                <a:spcPts val="800"/>
              </a:spcAft>
              <a:buSzPct val="100000"/>
              <a:buChar char="•"/>
            </a:pPr>
            <a:r>
              <a:rPr lang="en-US" sz="1200" dirty="0">
                <a:solidFill>
                  <a:srgbClr val="1A2E2C"/>
                </a:solidFill>
                <a:latin typeface="Calibri" pitchFamily="34" charset="0"/>
                <a:ea typeface="Calibri" pitchFamily="34" charset="-122"/>
                <a:cs typeface="Calibri" pitchFamily="34" charset="-120"/>
              </a:rPr>
              <a:t>Bắt buộc để xuất khẩu Halal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Phân loại Kiểm định theo Mục đích</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ADEQUACY · COMPLIANCE · SURVEILLANCE · SITE AUDIT</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25880"/>
            <a:ext cx="8321040" cy="676656"/>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84048" y="1325880"/>
            <a:ext cx="109728" cy="676656"/>
          </a:xfrm>
          <a:prstGeom prst="rect">
            <a:avLst/>
          </a:prstGeom>
          <a:solidFill>
            <a:srgbClr val="3D5250"/>
          </a:solidFill>
          <a:ln/>
        </p:spPr>
      </p:sp>
      <p:sp>
        <p:nvSpPr>
          <p:cNvPr id="12" name="Text 10"/>
          <p:cNvSpPr/>
          <p:nvPr/>
        </p:nvSpPr>
        <p:spPr>
          <a:xfrm>
            <a:off x="566928" y="1380744"/>
            <a:ext cx="2377440" cy="274320"/>
          </a:xfrm>
          <a:prstGeom prst="rect">
            <a:avLst/>
          </a:prstGeom>
          <a:noFill/>
          <a:ln/>
        </p:spPr>
        <p:txBody>
          <a:bodyPr wrap="square" lIns="0" tIns="0" rIns="0" bIns="0" rtlCol="0" anchor="ctr"/>
          <a:lstStyle/>
          <a:p>
            <a:pPr indent="0" marL="0">
              <a:buNone/>
            </a:pPr>
            <a:r>
              <a:rPr lang="en-US" sz="1200" b="1" dirty="0">
                <a:solidFill>
                  <a:srgbClr val="3D5250"/>
                </a:solidFill>
                <a:latin typeface="Calibri" pitchFamily="34" charset="0"/>
                <a:ea typeface="Calibri" pitchFamily="34" charset="-122"/>
                <a:cs typeface="Calibri" pitchFamily="34" charset="-120"/>
              </a:rPr>
              <a:t>Adequacy Audit</a:t>
            </a:r>
            <a:endParaRPr lang="en-US" sz="1200" dirty="0"/>
          </a:p>
        </p:txBody>
      </p:sp>
      <p:sp>
        <p:nvSpPr>
          <p:cNvPr id="13" name="Text 11"/>
          <p:cNvSpPr/>
          <p:nvPr/>
        </p:nvSpPr>
        <p:spPr>
          <a:xfrm>
            <a:off x="566928" y="1655064"/>
            <a:ext cx="2377440" cy="237744"/>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Kiểm định Đầy đủ tài liệu</a:t>
            </a:r>
            <a:endParaRPr lang="en-US" sz="1000" dirty="0"/>
          </a:p>
        </p:txBody>
      </p:sp>
      <p:sp>
        <p:nvSpPr>
          <p:cNvPr id="14" name="Shape 12"/>
          <p:cNvSpPr/>
          <p:nvPr/>
        </p:nvSpPr>
        <p:spPr>
          <a:xfrm>
            <a:off x="3090672" y="1435608"/>
            <a:ext cx="18288" cy="457200"/>
          </a:xfrm>
          <a:prstGeom prst="rect">
            <a:avLst/>
          </a:prstGeom>
          <a:solidFill>
            <a:srgbClr val="E8EEEE"/>
          </a:solidFill>
          <a:ln/>
        </p:spPr>
      </p:sp>
      <p:sp>
        <p:nvSpPr>
          <p:cNvPr id="15" name="Text 13"/>
          <p:cNvSpPr/>
          <p:nvPr/>
        </p:nvSpPr>
        <p:spPr>
          <a:xfrm>
            <a:off x="3200400" y="1380744"/>
            <a:ext cx="5394960" cy="566928"/>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Xem xét tài liệu &amp; hồ sơ có đầy đủ, phù hợp và hiệu quả không. VD: Chính sách, Quy trình, Mục tiêu.</a:t>
            </a:r>
            <a:endParaRPr lang="en-US" sz="1200" dirty="0"/>
          </a:p>
        </p:txBody>
      </p:sp>
      <p:sp>
        <p:nvSpPr>
          <p:cNvPr id="16" name="Shape 14"/>
          <p:cNvSpPr/>
          <p:nvPr/>
        </p:nvSpPr>
        <p:spPr>
          <a:xfrm>
            <a:off x="384048" y="2103120"/>
            <a:ext cx="8321040" cy="676656"/>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384048" y="2103120"/>
            <a:ext cx="109728" cy="676656"/>
          </a:xfrm>
          <a:prstGeom prst="rect">
            <a:avLst/>
          </a:prstGeom>
          <a:solidFill>
            <a:srgbClr val="00736A"/>
          </a:solidFill>
          <a:ln/>
        </p:spPr>
      </p:sp>
      <p:sp>
        <p:nvSpPr>
          <p:cNvPr id="18" name="Text 16"/>
          <p:cNvSpPr/>
          <p:nvPr/>
        </p:nvSpPr>
        <p:spPr>
          <a:xfrm>
            <a:off x="566928" y="2157984"/>
            <a:ext cx="2377440" cy="274320"/>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Compliance Audit</a:t>
            </a:r>
            <a:endParaRPr lang="en-US" sz="1200" dirty="0"/>
          </a:p>
        </p:txBody>
      </p:sp>
      <p:sp>
        <p:nvSpPr>
          <p:cNvPr id="19" name="Text 17"/>
          <p:cNvSpPr/>
          <p:nvPr/>
        </p:nvSpPr>
        <p:spPr>
          <a:xfrm>
            <a:off x="566928" y="2432304"/>
            <a:ext cx="2377440" cy="237744"/>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Kiểm định Tuân thủ</a:t>
            </a:r>
            <a:endParaRPr lang="en-US" sz="1000" dirty="0"/>
          </a:p>
        </p:txBody>
      </p:sp>
      <p:sp>
        <p:nvSpPr>
          <p:cNvPr id="20" name="Shape 18"/>
          <p:cNvSpPr/>
          <p:nvPr/>
        </p:nvSpPr>
        <p:spPr>
          <a:xfrm>
            <a:off x="3090672" y="2212848"/>
            <a:ext cx="18288" cy="457200"/>
          </a:xfrm>
          <a:prstGeom prst="rect">
            <a:avLst/>
          </a:prstGeom>
          <a:solidFill>
            <a:srgbClr val="E8EEEE"/>
          </a:solidFill>
          <a:ln/>
        </p:spPr>
      </p:sp>
      <p:sp>
        <p:nvSpPr>
          <p:cNvPr id="21" name="Text 19"/>
          <p:cNvSpPr/>
          <p:nvPr/>
        </p:nvSpPr>
        <p:spPr>
          <a:xfrm>
            <a:off x="3200400" y="2157984"/>
            <a:ext cx="5394960" cy="566928"/>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Đánh giá mức độ tuân thủ yêu cầu chứng nhận. Thực hiện TRƯỚC khi cấp chứng chỉ.</a:t>
            </a:r>
            <a:endParaRPr lang="en-US" sz="1200" dirty="0"/>
          </a:p>
        </p:txBody>
      </p:sp>
      <p:sp>
        <p:nvSpPr>
          <p:cNvPr id="22" name="Shape 20"/>
          <p:cNvSpPr/>
          <p:nvPr/>
        </p:nvSpPr>
        <p:spPr>
          <a:xfrm>
            <a:off x="384048" y="2880360"/>
            <a:ext cx="8321040" cy="676656"/>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384048" y="2880360"/>
            <a:ext cx="109728" cy="676656"/>
          </a:xfrm>
          <a:prstGeom prst="rect">
            <a:avLst/>
          </a:prstGeom>
          <a:solidFill>
            <a:srgbClr val="009B8E"/>
          </a:solidFill>
          <a:ln/>
        </p:spPr>
      </p:sp>
      <p:sp>
        <p:nvSpPr>
          <p:cNvPr id="24" name="Text 22"/>
          <p:cNvSpPr/>
          <p:nvPr/>
        </p:nvSpPr>
        <p:spPr>
          <a:xfrm>
            <a:off x="566928" y="2935224"/>
            <a:ext cx="2377440" cy="274320"/>
          </a:xfrm>
          <a:prstGeom prst="rect">
            <a:avLst/>
          </a:prstGeom>
          <a:noFill/>
          <a:ln/>
        </p:spPr>
        <p:txBody>
          <a:bodyPr wrap="square" lIns="0" tIns="0" rIns="0" bIns="0" rtlCol="0" anchor="ctr"/>
          <a:lstStyle/>
          <a:p>
            <a:pPr indent="0" marL="0">
              <a:buNone/>
            </a:pPr>
            <a:r>
              <a:rPr lang="en-US" sz="1200" b="1" dirty="0">
                <a:solidFill>
                  <a:srgbClr val="009B8E"/>
                </a:solidFill>
                <a:latin typeface="Calibri" pitchFamily="34" charset="0"/>
                <a:ea typeface="Calibri" pitchFamily="34" charset="-122"/>
                <a:cs typeface="Calibri" pitchFamily="34" charset="-120"/>
              </a:rPr>
              <a:t>Surveillance Audit</a:t>
            </a:r>
            <a:endParaRPr lang="en-US" sz="1200" dirty="0"/>
          </a:p>
        </p:txBody>
      </p:sp>
      <p:sp>
        <p:nvSpPr>
          <p:cNvPr id="25" name="Text 23"/>
          <p:cNvSpPr/>
          <p:nvPr/>
        </p:nvSpPr>
        <p:spPr>
          <a:xfrm>
            <a:off x="566928" y="3209544"/>
            <a:ext cx="2377440" cy="237744"/>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Kiểm định Giám sát</a:t>
            </a:r>
            <a:endParaRPr lang="en-US" sz="1000" dirty="0"/>
          </a:p>
        </p:txBody>
      </p:sp>
      <p:sp>
        <p:nvSpPr>
          <p:cNvPr id="26" name="Shape 24"/>
          <p:cNvSpPr/>
          <p:nvPr/>
        </p:nvSpPr>
        <p:spPr>
          <a:xfrm>
            <a:off x="3090672" y="2990088"/>
            <a:ext cx="18288" cy="457200"/>
          </a:xfrm>
          <a:prstGeom prst="rect">
            <a:avLst/>
          </a:prstGeom>
          <a:solidFill>
            <a:srgbClr val="E8EEEE"/>
          </a:solidFill>
          <a:ln/>
        </p:spPr>
      </p:sp>
      <p:sp>
        <p:nvSpPr>
          <p:cNvPr id="27" name="Text 25"/>
          <p:cNvSpPr/>
          <p:nvPr/>
        </p:nvSpPr>
        <p:spPr>
          <a:xfrm>
            <a:off x="3200400" y="2935224"/>
            <a:ext cx="5394960" cy="566928"/>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Đảm bảo tổ chức vẫn duy trì tuân thủ. Thực hiện SAU khi có chứng chỉ (định kỳ).</a:t>
            </a:r>
            <a:endParaRPr lang="en-US" sz="1200" dirty="0"/>
          </a:p>
        </p:txBody>
      </p:sp>
      <p:sp>
        <p:nvSpPr>
          <p:cNvPr id="28" name="Shape 26"/>
          <p:cNvSpPr/>
          <p:nvPr/>
        </p:nvSpPr>
        <p:spPr>
          <a:xfrm>
            <a:off x="384048" y="3657600"/>
            <a:ext cx="8321040" cy="676656"/>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384048" y="3657600"/>
            <a:ext cx="109728" cy="676656"/>
          </a:xfrm>
          <a:prstGeom prst="rect">
            <a:avLst/>
          </a:prstGeom>
          <a:solidFill>
            <a:srgbClr val="007A6E"/>
          </a:solidFill>
          <a:ln/>
        </p:spPr>
      </p:sp>
      <p:sp>
        <p:nvSpPr>
          <p:cNvPr id="30" name="Text 28"/>
          <p:cNvSpPr/>
          <p:nvPr/>
        </p:nvSpPr>
        <p:spPr>
          <a:xfrm>
            <a:off x="566928" y="3712464"/>
            <a:ext cx="2377440" cy="274320"/>
          </a:xfrm>
          <a:prstGeom prst="rect">
            <a:avLst/>
          </a:prstGeom>
          <a:noFill/>
          <a:ln/>
        </p:spPr>
        <p:txBody>
          <a:bodyPr wrap="square" lIns="0" tIns="0" rIns="0" bIns="0" rtlCol="0" anchor="ctr"/>
          <a:lstStyle/>
          <a:p>
            <a:pPr indent="0" marL="0">
              <a:buNone/>
            </a:pPr>
            <a:r>
              <a:rPr lang="en-US" sz="1200" b="1" dirty="0">
                <a:solidFill>
                  <a:srgbClr val="007A6E"/>
                </a:solidFill>
                <a:latin typeface="Calibri" pitchFamily="34" charset="0"/>
                <a:ea typeface="Calibri" pitchFamily="34" charset="-122"/>
                <a:cs typeface="Calibri" pitchFamily="34" charset="-120"/>
              </a:rPr>
              <a:t>Site Audit</a:t>
            </a:r>
            <a:endParaRPr lang="en-US" sz="1200" dirty="0"/>
          </a:p>
        </p:txBody>
      </p:sp>
      <p:sp>
        <p:nvSpPr>
          <p:cNvPr id="31" name="Text 29"/>
          <p:cNvSpPr/>
          <p:nvPr/>
        </p:nvSpPr>
        <p:spPr>
          <a:xfrm>
            <a:off x="566928" y="3986784"/>
            <a:ext cx="2377440" cy="237744"/>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Kiểm định Tại chỗ</a:t>
            </a:r>
            <a:endParaRPr lang="en-US" sz="1000" dirty="0"/>
          </a:p>
        </p:txBody>
      </p:sp>
      <p:sp>
        <p:nvSpPr>
          <p:cNvPr id="32" name="Shape 30"/>
          <p:cNvSpPr/>
          <p:nvPr/>
        </p:nvSpPr>
        <p:spPr>
          <a:xfrm>
            <a:off x="3090672" y="3767328"/>
            <a:ext cx="18288" cy="457200"/>
          </a:xfrm>
          <a:prstGeom prst="rect">
            <a:avLst/>
          </a:prstGeom>
          <a:solidFill>
            <a:srgbClr val="E8EEEE"/>
          </a:solidFill>
          <a:ln/>
        </p:spPr>
      </p:sp>
      <p:sp>
        <p:nvSpPr>
          <p:cNvPr id="33" name="Text 31"/>
          <p:cNvSpPr/>
          <p:nvPr/>
        </p:nvSpPr>
        <p:spPr>
          <a:xfrm>
            <a:off x="3200400" y="3712464"/>
            <a:ext cx="5394960" cy="566928"/>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Đánh giá thực tế tại nhà máy: quy trình sản xuất, cơ sở vật chất, thiết bị, nhân sự, hệ thống hỗ trợ.</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Tầm quan trọng của Kiểm định Halal</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LỢI ÍCH ĐỐI VỚI DOANH NGHIỆP</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71600"/>
            <a:ext cx="3977640" cy="117043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84048" y="1371600"/>
            <a:ext cx="594360" cy="1170432"/>
          </a:xfrm>
          <a:prstGeom prst="rect">
            <a:avLst/>
          </a:prstGeom>
          <a:solidFill>
            <a:srgbClr val="00736A"/>
          </a:solidFill>
          <a:ln/>
        </p:spPr>
      </p:sp>
      <p:sp>
        <p:nvSpPr>
          <p:cNvPr id="12" name="Text 10"/>
          <p:cNvSpPr/>
          <p:nvPr/>
        </p:nvSpPr>
        <p:spPr>
          <a:xfrm>
            <a:off x="384048" y="1371600"/>
            <a:ext cx="594360" cy="1170432"/>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a:t>
            </a:r>
            <a:endParaRPr lang="en-US" sz="2200" dirty="0"/>
          </a:p>
        </p:txBody>
      </p:sp>
      <p:sp>
        <p:nvSpPr>
          <p:cNvPr id="13" name="Text 11"/>
          <p:cNvSpPr/>
          <p:nvPr/>
        </p:nvSpPr>
        <p:spPr>
          <a:xfrm>
            <a:off x="1069848" y="1481328"/>
            <a:ext cx="3200400" cy="320040"/>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Đảm bảo tuân thủ</a:t>
            </a:r>
            <a:endParaRPr lang="en-US" sz="1300" dirty="0"/>
          </a:p>
        </p:txBody>
      </p:sp>
      <p:sp>
        <p:nvSpPr>
          <p:cNvPr id="14" name="Text 12"/>
          <p:cNvSpPr/>
          <p:nvPr/>
        </p:nvSpPr>
        <p:spPr>
          <a:xfrm>
            <a:off x="1069848" y="1828800"/>
            <a:ext cx="3200400" cy="594360"/>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Các phòng ban và nhân sự tuân thủ đúng quy chuẩn chứng nhận Halal</a:t>
            </a:r>
            <a:endParaRPr lang="en-US" sz="1200" dirty="0"/>
          </a:p>
        </p:txBody>
      </p:sp>
      <p:sp>
        <p:nvSpPr>
          <p:cNvPr id="15" name="Shape 13"/>
          <p:cNvSpPr/>
          <p:nvPr/>
        </p:nvSpPr>
        <p:spPr>
          <a:xfrm>
            <a:off x="4636008" y="1371600"/>
            <a:ext cx="3977640" cy="117043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4636008" y="1371600"/>
            <a:ext cx="594360" cy="1170432"/>
          </a:xfrm>
          <a:prstGeom prst="rect">
            <a:avLst/>
          </a:prstGeom>
          <a:solidFill>
            <a:srgbClr val="00736A"/>
          </a:solidFill>
          <a:ln/>
        </p:spPr>
      </p:sp>
      <p:sp>
        <p:nvSpPr>
          <p:cNvPr id="17" name="Text 15"/>
          <p:cNvSpPr/>
          <p:nvPr/>
        </p:nvSpPr>
        <p:spPr>
          <a:xfrm>
            <a:off x="4636008" y="1371600"/>
            <a:ext cx="594360" cy="1170432"/>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5321808" y="1481328"/>
            <a:ext cx="3200400" cy="320040"/>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Nâng cao hiệu quả</a:t>
            </a:r>
            <a:endParaRPr lang="en-US" sz="1300" dirty="0"/>
          </a:p>
        </p:txBody>
      </p:sp>
      <p:sp>
        <p:nvSpPr>
          <p:cNvPr id="19" name="Text 17"/>
          <p:cNvSpPr/>
          <p:nvPr/>
        </p:nvSpPr>
        <p:spPr>
          <a:xfrm>
            <a:off x="5321808" y="1828800"/>
            <a:ext cx="3200400" cy="594360"/>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Cải thiện quy trình vận hành, giảm khiếu nại của khách hàng</a:t>
            </a:r>
            <a:endParaRPr lang="en-US" sz="1200" dirty="0"/>
          </a:p>
        </p:txBody>
      </p:sp>
      <p:sp>
        <p:nvSpPr>
          <p:cNvPr id="20" name="Shape 18"/>
          <p:cNvSpPr/>
          <p:nvPr/>
        </p:nvSpPr>
        <p:spPr>
          <a:xfrm>
            <a:off x="384048" y="2697480"/>
            <a:ext cx="3977640" cy="117043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384048" y="2697480"/>
            <a:ext cx="594360" cy="1170432"/>
          </a:xfrm>
          <a:prstGeom prst="rect">
            <a:avLst/>
          </a:prstGeom>
          <a:solidFill>
            <a:srgbClr val="009B8E"/>
          </a:solidFill>
          <a:ln/>
        </p:spPr>
      </p:sp>
      <p:sp>
        <p:nvSpPr>
          <p:cNvPr id="22" name="Text 20"/>
          <p:cNvSpPr/>
          <p:nvPr/>
        </p:nvSpPr>
        <p:spPr>
          <a:xfrm>
            <a:off x="384048" y="2697480"/>
            <a:ext cx="594360" cy="1170432"/>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1069848" y="2807208"/>
            <a:ext cx="3200400" cy="320040"/>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Phân định trách nhiệm</a:t>
            </a:r>
            <a:endParaRPr lang="en-US" sz="1300" dirty="0"/>
          </a:p>
        </p:txBody>
      </p:sp>
      <p:sp>
        <p:nvSpPr>
          <p:cNvPr id="24" name="Text 22"/>
          <p:cNvSpPr/>
          <p:nvPr/>
        </p:nvSpPr>
        <p:spPr>
          <a:xfrm>
            <a:off x="1069848" y="3154680"/>
            <a:ext cx="3200400" cy="594360"/>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Xác định rõ trách nhiệm và thẩm quyền của nhân sự chủ chốt</a:t>
            </a:r>
            <a:endParaRPr lang="en-US" sz="1200" dirty="0"/>
          </a:p>
        </p:txBody>
      </p:sp>
      <p:sp>
        <p:nvSpPr>
          <p:cNvPr id="25" name="Shape 23"/>
          <p:cNvSpPr/>
          <p:nvPr/>
        </p:nvSpPr>
        <p:spPr>
          <a:xfrm>
            <a:off x="4636008" y="2697480"/>
            <a:ext cx="3977640" cy="117043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4636008" y="2697480"/>
            <a:ext cx="594360" cy="1170432"/>
          </a:xfrm>
          <a:prstGeom prst="rect">
            <a:avLst/>
          </a:prstGeom>
          <a:solidFill>
            <a:srgbClr val="009B8E"/>
          </a:solidFill>
          <a:ln/>
        </p:spPr>
      </p:sp>
      <p:sp>
        <p:nvSpPr>
          <p:cNvPr id="27" name="Text 25"/>
          <p:cNvSpPr/>
          <p:nvPr/>
        </p:nvSpPr>
        <p:spPr>
          <a:xfrm>
            <a:off x="4636008" y="2697480"/>
            <a:ext cx="594360" cy="1170432"/>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a:t>
            </a:r>
            <a:endParaRPr lang="en-US" sz="2200" dirty="0"/>
          </a:p>
        </p:txBody>
      </p:sp>
      <p:sp>
        <p:nvSpPr>
          <p:cNvPr id="28" name="Text 26"/>
          <p:cNvSpPr/>
          <p:nvPr/>
        </p:nvSpPr>
        <p:spPr>
          <a:xfrm>
            <a:off x="5321808" y="2807208"/>
            <a:ext cx="3200400" cy="320040"/>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Cải tiến hệ thống</a:t>
            </a:r>
            <a:endParaRPr lang="en-US" sz="1300" dirty="0"/>
          </a:p>
        </p:txBody>
      </p:sp>
      <p:sp>
        <p:nvSpPr>
          <p:cNvPr id="29" name="Text 27"/>
          <p:cNvSpPr/>
          <p:nvPr/>
        </p:nvSpPr>
        <p:spPr>
          <a:xfrm>
            <a:off x="5321808" y="3154680"/>
            <a:ext cx="3200400" cy="594360"/>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Thúc đẩy hợp tác giữa các phòng ban và cải tiến liên tục</a:t>
            </a:r>
            <a:endParaRPr lang="en-US" sz="1200" dirty="0"/>
          </a:p>
        </p:txBody>
      </p:sp>
      <p:sp>
        <p:nvSpPr>
          <p:cNvPr id="30" name="Shape 28"/>
          <p:cNvSpPr/>
          <p:nvPr/>
        </p:nvSpPr>
        <p:spPr>
          <a:xfrm>
            <a:off x="384048" y="4041648"/>
            <a:ext cx="8321040" cy="502920"/>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31" name="Text 29"/>
          <p:cNvSpPr/>
          <p:nvPr/>
        </p:nvSpPr>
        <p:spPr>
          <a:xfrm>
            <a:off x="502920" y="4059936"/>
            <a:ext cx="1828800" cy="256032"/>
          </a:xfrm>
          <a:prstGeom prst="rect">
            <a:avLst/>
          </a:prstGeom>
          <a:noFill/>
          <a:ln/>
        </p:spPr>
        <p:txBody>
          <a:bodyPr wrap="square" lIns="0" tIns="0" rIns="0" bIns="0" rtlCol="0" anchor="ctr"/>
          <a:lstStyle/>
          <a:p>
            <a:pPr indent="0" marL="0">
              <a:buNone/>
            </a:pPr>
            <a:r>
              <a:rPr lang="en-US" sz="1100" b="1" dirty="0">
                <a:solidFill>
                  <a:srgbClr val="C9952A"/>
                </a:solidFill>
                <a:latin typeface="Calibri" pitchFamily="34" charset="0"/>
                <a:ea typeface="Calibri" pitchFamily="34" charset="-122"/>
                <a:cs typeface="Calibri" pitchFamily="34" charset="-120"/>
              </a:rPr>
              <a:t>Hiệu ứng sau kiểm định:</a:t>
            </a:r>
            <a:endParaRPr lang="en-US" sz="1100" dirty="0"/>
          </a:p>
        </p:txBody>
      </p:sp>
      <p:sp>
        <p:nvSpPr>
          <p:cNvPr id="32" name="Text 30"/>
          <p:cNvSpPr/>
          <p:nvPr/>
        </p:nvSpPr>
        <p:spPr>
          <a:xfrm>
            <a:off x="2286000" y="4059936"/>
            <a:ext cx="8229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Niềm tin KH</a:t>
            </a:r>
            <a:endParaRPr lang="en-US" sz="1100" dirty="0"/>
          </a:p>
        </p:txBody>
      </p:sp>
      <p:sp>
        <p:nvSpPr>
          <p:cNvPr id="33" name="Text 31"/>
          <p:cNvSpPr/>
          <p:nvPr/>
        </p:nvSpPr>
        <p:spPr>
          <a:xfrm>
            <a:off x="3218688" y="4059936"/>
            <a:ext cx="822960" cy="457200"/>
          </a:xfrm>
          <a:prstGeom prst="rect">
            <a:avLst/>
          </a:prstGeom>
          <a:noFill/>
          <a:ln/>
        </p:spPr>
        <p:txBody>
          <a:bodyPr wrap="square" lIns="0" tIns="0" rIns="0" bIns="0" rtlCol="0" anchor="ctr"/>
          <a:lstStyle/>
          <a:p>
            <a:pPr algn="ctr" indent="0" marL="0">
              <a:buNone/>
            </a:pPr>
            <a:r>
              <a:rPr lang="en-US" sz="1800" dirty="0">
                <a:solidFill>
                  <a:srgbClr val="C9952A"/>
                </a:solidFill>
                <a:latin typeface="Calibri" pitchFamily="34" charset="0"/>
                <a:ea typeface="Calibri" pitchFamily="34" charset="-122"/>
                <a:cs typeface="Calibri" pitchFamily="34" charset="-120"/>
              </a:rPr>
              <a:t>→</a:t>
            </a:r>
            <a:endParaRPr lang="en-US" sz="1800" dirty="0"/>
          </a:p>
        </p:txBody>
      </p:sp>
      <p:sp>
        <p:nvSpPr>
          <p:cNvPr id="34" name="Text 32"/>
          <p:cNvSpPr/>
          <p:nvPr/>
        </p:nvSpPr>
        <p:spPr>
          <a:xfrm>
            <a:off x="4151376" y="4059936"/>
            <a:ext cx="8229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Nhu cầu ↑</a:t>
            </a:r>
            <a:endParaRPr lang="en-US" sz="1100" dirty="0"/>
          </a:p>
        </p:txBody>
      </p:sp>
      <p:sp>
        <p:nvSpPr>
          <p:cNvPr id="35" name="Text 33"/>
          <p:cNvSpPr/>
          <p:nvPr/>
        </p:nvSpPr>
        <p:spPr>
          <a:xfrm>
            <a:off x="5084064" y="4059936"/>
            <a:ext cx="822960" cy="457200"/>
          </a:xfrm>
          <a:prstGeom prst="rect">
            <a:avLst/>
          </a:prstGeom>
          <a:noFill/>
          <a:ln/>
        </p:spPr>
        <p:txBody>
          <a:bodyPr wrap="square" lIns="0" tIns="0" rIns="0" bIns="0" rtlCol="0" anchor="ctr"/>
          <a:lstStyle/>
          <a:p>
            <a:pPr algn="ctr" indent="0" marL="0">
              <a:buNone/>
            </a:pPr>
            <a:r>
              <a:rPr lang="en-US" sz="1800" dirty="0">
                <a:solidFill>
                  <a:srgbClr val="C9952A"/>
                </a:solidFill>
                <a:latin typeface="Calibri" pitchFamily="34" charset="0"/>
                <a:ea typeface="Calibri" pitchFamily="34" charset="-122"/>
                <a:cs typeface="Calibri" pitchFamily="34" charset="-120"/>
              </a:rPr>
              <a:t>→</a:t>
            </a:r>
            <a:endParaRPr lang="en-US" sz="1800" dirty="0"/>
          </a:p>
        </p:txBody>
      </p:sp>
      <p:sp>
        <p:nvSpPr>
          <p:cNvPr id="36" name="Text 34"/>
          <p:cNvSpPr/>
          <p:nvPr/>
        </p:nvSpPr>
        <p:spPr>
          <a:xfrm>
            <a:off x="6016752" y="4059936"/>
            <a:ext cx="8229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Doanh số ↑</a:t>
            </a:r>
            <a:endParaRPr lang="en-US" sz="1100" dirty="0"/>
          </a:p>
        </p:txBody>
      </p:sp>
      <p:sp>
        <p:nvSpPr>
          <p:cNvPr id="37" name="Text 35"/>
          <p:cNvSpPr/>
          <p:nvPr/>
        </p:nvSpPr>
        <p:spPr>
          <a:xfrm>
            <a:off x="6949440" y="4059936"/>
            <a:ext cx="822960" cy="457200"/>
          </a:xfrm>
          <a:prstGeom prst="rect">
            <a:avLst/>
          </a:prstGeom>
          <a:noFill/>
          <a:ln/>
        </p:spPr>
        <p:txBody>
          <a:bodyPr wrap="square" lIns="0" tIns="0" rIns="0" bIns="0" rtlCol="0" anchor="ctr"/>
          <a:lstStyle/>
          <a:p>
            <a:pPr algn="ctr" indent="0" marL="0">
              <a:buNone/>
            </a:pPr>
            <a:r>
              <a:rPr lang="en-US" sz="1800" dirty="0">
                <a:solidFill>
                  <a:srgbClr val="C9952A"/>
                </a:solidFill>
                <a:latin typeface="Calibri" pitchFamily="34" charset="0"/>
                <a:ea typeface="Calibri" pitchFamily="34" charset="-122"/>
                <a:cs typeface="Calibri" pitchFamily="34" charset="-120"/>
              </a:rPr>
              <a:t>→</a:t>
            </a:r>
            <a:endParaRPr lang="en-US" sz="1800" dirty="0"/>
          </a:p>
        </p:txBody>
      </p:sp>
      <p:sp>
        <p:nvSpPr>
          <p:cNvPr id="38" name="Text 36"/>
          <p:cNvSpPr/>
          <p:nvPr/>
        </p:nvSpPr>
        <p:spPr>
          <a:xfrm>
            <a:off x="7882128" y="4059936"/>
            <a:ext cx="82296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Lợi nhuận ↑</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6 Nguyên tắc Kiểm định Halal</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THEO ISO 19011 — ÁP DỤNG BỞI HDC</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20040" y="1325880"/>
            <a:ext cx="2651760" cy="144475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20040" y="1325880"/>
            <a:ext cx="2651760" cy="347472"/>
          </a:xfrm>
          <a:prstGeom prst="rect">
            <a:avLst/>
          </a:prstGeom>
          <a:solidFill>
            <a:srgbClr val="00736A"/>
          </a:solidFill>
          <a:ln/>
        </p:spPr>
      </p:sp>
      <p:sp>
        <p:nvSpPr>
          <p:cNvPr id="12" name="Text 10"/>
          <p:cNvSpPr/>
          <p:nvPr/>
        </p:nvSpPr>
        <p:spPr>
          <a:xfrm>
            <a:off x="411480" y="1362456"/>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Ứng xử Đạo đức</a:t>
            </a:r>
            <a:endParaRPr lang="en-US" sz="1100" dirty="0"/>
          </a:p>
        </p:txBody>
      </p:sp>
      <p:sp>
        <p:nvSpPr>
          <p:cNvPr id="13" name="Text 11"/>
          <p:cNvSpPr/>
          <p:nvPr/>
        </p:nvSpPr>
        <p:spPr>
          <a:xfrm>
            <a:off x="411480" y="1709928"/>
            <a:ext cx="2468880" cy="228600"/>
          </a:xfrm>
          <a:prstGeom prst="rect">
            <a:avLst/>
          </a:prstGeom>
          <a:noFill/>
          <a:ln/>
        </p:spPr>
        <p:txBody>
          <a:bodyPr wrap="square" lIns="0" tIns="0" rIns="0" bIns="0" rtlCol="0" anchor="ctr"/>
          <a:lstStyle/>
          <a:p>
            <a:pPr indent="0" marL="0">
              <a:buNone/>
            </a:pPr>
            <a:r>
              <a:rPr lang="en-US" sz="950" i="1" dirty="0">
                <a:solidFill>
                  <a:srgbClr val="C9952A"/>
                </a:solidFill>
                <a:latin typeface="Calibri" pitchFamily="34" charset="0"/>
                <a:ea typeface="Calibri" pitchFamily="34" charset="-122"/>
                <a:cs typeface="Calibri" pitchFamily="34" charset="-120"/>
              </a:rPr>
              <a:t>Ethical Conduct</a:t>
            </a:r>
            <a:endParaRPr lang="en-US" sz="950" dirty="0"/>
          </a:p>
        </p:txBody>
      </p:sp>
      <p:sp>
        <p:nvSpPr>
          <p:cNvPr id="14" name="Text 12"/>
          <p:cNvSpPr/>
          <p:nvPr/>
        </p:nvSpPr>
        <p:spPr>
          <a:xfrm>
            <a:off x="411480" y="1965960"/>
            <a:ext cx="2468880" cy="71323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Tin tưởng, Chính trực, Bảo mật, Cân nhắc</a:t>
            </a:r>
            <a:endParaRPr lang="en-US" sz="1100" dirty="0"/>
          </a:p>
        </p:txBody>
      </p:sp>
      <p:sp>
        <p:nvSpPr>
          <p:cNvPr id="15" name="Shape 13"/>
          <p:cNvSpPr/>
          <p:nvPr/>
        </p:nvSpPr>
        <p:spPr>
          <a:xfrm>
            <a:off x="3172968" y="1325880"/>
            <a:ext cx="2651760" cy="144475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172968" y="1325880"/>
            <a:ext cx="2651760" cy="347472"/>
          </a:xfrm>
          <a:prstGeom prst="rect">
            <a:avLst/>
          </a:prstGeom>
          <a:solidFill>
            <a:srgbClr val="00736A"/>
          </a:solidFill>
          <a:ln/>
        </p:spPr>
      </p:sp>
      <p:sp>
        <p:nvSpPr>
          <p:cNvPr id="17" name="Text 15"/>
          <p:cNvSpPr/>
          <p:nvPr/>
        </p:nvSpPr>
        <p:spPr>
          <a:xfrm>
            <a:off x="3264408" y="1362456"/>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Trình bày Công bằng</a:t>
            </a:r>
            <a:endParaRPr lang="en-US" sz="1100" dirty="0"/>
          </a:p>
        </p:txBody>
      </p:sp>
      <p:sp>
        <p:nvSpPr>
          <p:cNvPr id="18" name="Text 16"/>
          <p:cNvSpPr/>
          <p:nvPr/>
        </p:nvSpPr>
        <p:spPr>
          <a:xfrm>
            <a:off x="3264408" y="1709928"/>
            <a:ext cx="2468880" cy="228600"/>
          </a:xfrm>
          <a:prstGeom prst="rect">
            <a:avLst/>
          </a:prstGeom>
          <a:noFill/>
          <a:ln/>
        </p:spPr>
        <p:txBody>
          <a:bodyPr wrap="square" lIns="0" tIns="0" rIns="0" bIns="0" rtlCol="0" anchor="ctr"/>
          <a:lstStyle/>
          <a:p>
            <a:pPr indent="0" marL="0">
              <a:buNone/>
            </a:pPr>
            <a:r>
              <a:rPr lang="en-US" sz="950" i="1" dirty="0">
                <a:solidFill>
                  <a:srgbClr val="C9952A"/>
                </a:solidFill>
                <a:latin typeface="Calibri" pitchFamily="34" charset="0"/>
                <a:ea typeface="Calibri" pitchFamily="34" charset="-122"/>
                <a:cs typeface="Calibri" pitchFamily="34" charset="-120"/>
              </a:rPr>
              <a:t>Fair Presentation</a:t>
            </a:r>
            <a:endParaRPr lang="en-US" sz="950" dirty="0"/>
          </a:p>
        </p:txBody>
      </p:sp>
      <p:sp>
        <p:nvSpPr>
          <p:cNvPr id="19" name="Text 17"/>
          <p:cNvSpPr/>
          <p:nvPr/>
        </p:nvSpPr>
        <p:spPr>
          <a:xfrm>
            <a:off x="3264408" y="1965960"/>
            <a:ext cx="2468880" cy="71323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Báo cáo trung thực, chính xác, bao gồm các bất đồng</a:t>
            </a:r>
            <a:endParaRPr lang="en-US" sz="1100" dirty="0"/>
          </a:p>
        </p:txBody>
      </p:sp>
      <p:sp>
        <p:nvSpPr>
          <p:cNvPr id="20" name="Shape 18"/>
          <p:cNvSpPr/>
          <p:nvPr/>
        </p:nvSpPr>
        <p:spPr>
          <a:xfrm>
            <a:off x="6025896" y="1325880"/>
            <a:ext cx="2651760" cy="144475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6025896" y="1325880"/>
            <a:ext cx="2651760" cy="347472"/>
          </a:xfrm>
          <a:prstGeom prst="rect">
            <a:avLst/>
          </a:prstGeom>
          <a:solidFill>
            <a:srgbClr val="00736A"/>
          </a:solidFill>
          <a:ln/>
        </p:spPr>
      </p:sp>
      <p:sp>
        <p:nvSpPr>
          <p:cNvPr id="22" name="Text 20"/>
          <p:cNvSpPr/>
          <p:nvPr/>
        </p:nvSpPr>
        <p:spPr>
          <a:xfrm>
            <a:off x="6117336" y="1362456"/>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Thận trọng Chuyên nghiệp</a:t>
            </a:r>
            <a:endParaRPr lang="en-US" sz="1100" dirty="0"/>
          </a:p>
        </p:txBody>
      </p:sp>
      <p:sp>
        <p:nvSpPr>
          <p:cNvPr id="23" name="Text 21"/>
          <p:cNvSpPr/>
          <p:nvPr/>
        </p:nvSpPr>
        <p:spPr>
          <a:xfrm>
            <a:off x="6117336" y="1709928"/>
            <a:ext cx="2468880" cy="228600"/>
          </a:xfrm>
          <a:prstGeom prst="rect">
            <a:avLst/>
          </a:prstGeom>
          <a:noFill/>
          <a:ln/>
        </p:spPr>
        <p:txBody>
          <a:bodyPr wrap="square" lIns="0" tIns="0" rIns="0" bIns="0" rtlCol="0" anchor="ctr"/>
          <a:lstStyle/>
          <a:p>
            <a:pPr indent="0" marL="0">
              <a:buNone/>
            </a:pPr>
            <a:r>
              <a:rPr lang="en-US" sz="950" i="1" dirty="0">
                <a:solidFill>
                  <a:srgbClr val="C9952A"/>
                </a:solidFill>
                <a:latin typeface="Calibri" pitchFamily="34" charset="0"/>
                <a:ea typeface="Calibri" pitchFamily="34" charset="-122"/>
                <a:cs typeface="Calibri" pitchFamily="34" charset="-120"/>
              </a:rPr>
              <a:t>Due Professional Care</a:t>
            </a:r>
            <a:endParaRPr lang="en-US" sz="950" dirty="0"/>
          </a:p>
        </p:txBody>
      </p:sp>
      <p:sp>
        <p:nvSpPr>
          <p:cNvPr id="24" name="Text 22"/>
          <p:cNvSpPr/>
          <p:nvPr/>
        </p:nvSpPr>
        <p:spPr>
          <a:xfrm>
            <a:off x="6117336" y="1965960"/>
            <a:ext cx="2468880" cy="71323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Áp dụng sự chuyên cần và phán đoán trong kiểm định</a:t>
            </a:r>
            <a:endParaRPr lang="en-US" sz="1100" dirty="0"/>
          </a:p>
        </p:txBody>
      </p:sp>
      <p:sp>
        <p:nvSpPr>
          <p:cNvPr id="25" name="Shape 23"/>
          <p:cNvSpPr/>
          <p:nvPr/>
        </p:nvSpPr>
        <p:spPr>
          <a:xfrm>
            <a:off x="320040" y="2898648"/>
            <a:ext cx="2651760" cy="144475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320040" y="2898648"/>
            <a:ext cx="2651760" cy="347472"/>
          </a:xfrm>
          <a:prstGeom prst="rect">
            <a:avLst/>
          </a:prstGeom>
          <a:solidFill>
            <a:srgbClr val="00736A"/>
          </a:solidFill>
          <a:ln/>
        </p:spPr>
      </p:sp>
      <p:sp>
        <p:nvSpPr>
          <p:cNvPr id="27" name="Text 25"/>
          <p:cNvSpPr/>
          <p:nvPr/>
        </p:nvSpPr>
        <p:spPr>
          <a:xfrm>
            <a:off x="411480" y="2935224"/>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Tính Độc lập</a:t>
            </a:r>
            <a:endParaRPr lang="en-US" sz="1100" dirty="0"/>
          </a:p>
        </p:txBody>
      </p:sp>
      <p:sp>
        <p:nvSpPr>
          <p:cNvPr id="28" name="Text 26"/>
          <p:cNvSpPr/>
          <p:nvPr/>
        </p:nvSpPr>
        <p:spPr>
          <a:xfrm>
            <a:off x="411480" y="3282696"/>
            <a:ext cx="2468880" cy="228600"/>
          </a:xfrm>
          <a:prstGeom prst="rect">
            <a:avLst/>
          </a:prstGeom>
          <a:noFill/>
          <a:ln/>
        </p:spPr>
        <p:txBody>
          <a:bodyPr wrap="square" lIns="0" tIns="0" rIns="0" bIns="0" rtlCol="0" anchor="ctr"/>
          <a:lstStyle/>
          <a:p>
            <a:pPr indent="0" marL="0">
              <a:buNone/>
            </a:pPr>
            <a:r>
              <a:rPr lang="en-US" sz="950" i="1" dirty="0">
                <a:solidFill>
                  <a:srgbClr val="C9952A"/>
                </a:solidFill>
                <a:latin typeface="Calibri" pitchFamily="34" charset="0"/>
                <a:ea typeface="Calibri" pitchFamily="34" charset="-122"/>
                <a:cs typeface="Calibri" pitchFamily="34" charset="-120"/>
              </a:rPr>
              <a:t>Independence</a:t>
            </a:r>
            <a:endParaRPr lang="en-US" sz="950" dirty="0"/>
          </a:p>
        </p:txBody>
      </p:sp>
      <p:sp>
        <p:nvSpPr>
          <p:cNvPr id="29" name="Text 27"/>
          <p:cNvSpPr/>
          <p:nvPr/>
        </p:nvSpPr>
        <p:spPr>
          <a:xfrm>
            <a:off x="411480" y="3538728"/>
            <a:ext cx="2468880" cy="71323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Cơ sở của sự vô tư và khách quan, không bị chi phối</a:t>
            </a:r>
            <a:endParaRPr lang="en-US" sz="1100" dirty="0"/>
          </a:p>
        </p:txBody>
      </p:sp>
      <p:sp>
        <p:nvSpPr>
          <p:cNvPr id="30" name="Shape 28"/>
          <p:cNvSpPr/>
          <p:nvPr/>
        </p:nvSpPr>
        <p:spPr>
          <a:xfrm>
            <a:off x="3172968" y="2898648"/>
            <a:ext cx="2651760" cy="144475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31" name="Shape 29"/>
          <p:cNvSpPr/>
          <p:nvPr/>
        </p:nvSpPr>
        <p:spPr>
          <a:xfrm>
            <a:off x="3172968" y="2898648"/>
            <a:ext cx="2651760" cy="347472"/>
          </a:xfrm>
          <a:prstGeom prst="rect">
            <a:avLst/>
          </a:prstGeom>
          <a:solidFill>
            <a:srgbClr val="00736A"/>
          </a:solidFill>
          <a:ln/>
        </p:spPr>
      </p:sp>
      <p:sp>
        <p:nvSpPr>
          <p:cNvPr id="32" name="Text 30"/>
          <p:cNvSpPr/>
          <p:nvPr/>
        </p:nvSpPr>
        <p:spPr>
          <a:xfrm>
            <a:off x="3264408" y="2935224"/>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 Tiếp cận Dựa trên Bằng chứng</a:t>
            </a:r>
            <a:endParaRPr lang="en-US" sz="1100" dirty="0"/>
          </a:p>
        </p:txBody>
      </p:sp>
      <p:sp>
        <p:nvSpPr>
          <p:cNvPr id="33" name="Text 31"/>
          <p:cNvSpPr/>
          <p:nvPr/>
        </p:nvSpPr>
        <p:spPr>
          <a:xfrm>
            <a:off x="3264408" y="3282696"/>
            <a:ext cx="2468880" cy="228600"/>
          </a:xfrm>
          <a:prstGeom prst="rect">
            <a:avLst/>
          </a:prstGeom>
          <a:noFill/>
          <a:ln/>
        </p:spPr>
        <p:txBody>
          <a:bodyPr wrap="square" lIns="0" tIns="0" rIns="0" bIns="0" rtlCol="0" anchor="ctr"/>
          <a:lstStyle/>
          <a:p>
            <a:pPr indent="0" marL="0">
              <a:buNone/>
            </a:pPr>
            <a:r>
              <a:rPr lang="en-US" sz="950" i="1" dirty="0">
                <a:solidFill>
                  <a:srgbClr val="C9952A"/>
                </a:solidFill>
                <a:latin typeface="Calibri" pitchFamily="34" charset="0"/>
                <a:ea typeface="Calibri" pitchFamily="34" charset="-122"/>
                <a:cs typeface="Calibri" pitchFamily="34" charset="-120"/>
              </a:rPr>
              <a:t>Evidence-based Approach</a:t>
            </a:r>
            <a:endParaRPr lang="en-US" sz="950" dirty="0"/>
          </a:p>
        </p:txBody>
      </p:sp>
      <p:sp>
        <p:nvSpPr>
          <p:cNvPr id="34" name="Text 32"/>
          <p:cNvSpPr/>
          <p:nvPr/>
        </p:nvSpPr>
        <p:spPr>
          <a:xfrm>
            <a:off x="3264408" y="3538728"/>
            <a:ext cx="2468880" cy="71323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Phương pháp hợp lý để đạt kết luận đáng tin cậy</a:t>
            </a:r>
            <a:endParaRPr lang="en-US" sz="1100" dirty="0"/>
          </a:p>
        </p:txBody>
      </p:sp>
      <p:sp>
        <p:nvSpPr>
          <p:cNvPr id="35" name="Shape 33"/>
          <p:cNvSpPr/>
          <p:nvPr/>
        </p:nvSpPr>
        <p:spPr>
          <a:xfrm>
            <a:off x="6025896" y="2898648"/>
            <a:ext cx="2651760" cy="144475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36" name="Shape 34"/>
          <p:cNvSpPr/>
          <p:nvPr/>
        </p:nvSpPr>
        <p:spPr>
          <a:xfrm>
            <a:off x="6025896" y="2898648"/>
            <a:ext cx="2651760" cy="347472"/>
          </a:xfrm>
          <a:prstGeom prst="rect">
            <a:avLst/>
          </a:prstGeom>
          <a:solidFill>
            <a:srgbClr val="00736A"/>
          </a:solidFill>
          <a:ln/>
        </p:spPr>
      </p:sp>
      <p:sp>
        <p:nvSpPr>
          <p:cNvPr id="37" name="Text 35"/>
          <p:cNvSpPr/>
          <p:nvPr/>
        </p:nvSpPr>
        <p:spPr>
          <a:xfrm>
            <a:off x="6117336" y="2935224"/>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6. Tiếp cận Dựa trên Rủi ro</a:t>
            </a:r>
            <a:endParaRPr lang="en-US" sz="1100" dirty="0"/>
          </a:p>
        </p:txBody>
      </p:sp>
      <p:sp>
        <p:nvSpPr>
          <p:cNvPr id="38" name="Text 36"/>
          <p:cNvSpPr/>
          <p:nvPr/>
        </p:nvSpPr>
        <p:spPr>
          <a:xfrm>
            <a:off x="6117336" y="3282696"/>
            <a:ext cx="2468880" cy="228600"/>
          </a:xfrm>
          <a:prstGeom prst="rect">
            <a:avLst/>
          </a:prstGeom>
          <a:noFill/>
          <a:ln/>
        </p:spPr>
        <p:txBody>
          <a:bodyPr wrap="square" lIns="0" tIns="0" rIns="0" bIns="0" rtlCol="0" anchor="ctr"/>
          <a:lstStyle/>
          <a:p>
            <a:pPr indent="0" marL="0">
              <a:buNone/>
            </a:pPr>
            <a:r>
              <a:rPr lang="en-US" sz="950" i="1" dirty="0">
                <a:solidFill>
                  <a:srgbClr val="C9952A"/>
                </a:solidFill>
                <a:latin typeface="Calibri" pitchFamily="34" charset="0"/>
                <a:ea typeface="Calibri" pitchFamily="34" charset="-122"/>
                <a:cs typeface="Calibri" pitchFamily="34" charset="-120"/>
              </a:rPr>
              <a:t>Risk-based Approach</a:t>
            </a:r>
            <a:endParaRPr lang="en-US" sz="950" dirty="0"/>
          </a:p>
        </p:txBody>
      </p:sp>
      <p:sp>
        <p:nvSpPr>
          <p:cNvPr id="39" name="Text 37"/>
          <p:cNvSpPr/>
          <p:nvPr/>
        </p:nvSpPr>
        <p:spPr>
          <a:xfrm>
            <a:off x="6117336" y="3538728"/>
            <a:ext cx="2468880" cy="71323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Xem xét rủi ro &amp; cơ hội ảnh hưởng đến mục tiêu kiểm định</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Nguyên tắc 1: Ứng xử Đạo đức</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4 YẾU TỐ CỦA ETHICAL CONDUCT</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25880"/>
            <a:ext cx="8321040" cy="658368"/>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84048" y="1325880"/>
            <a:ext cx="347472" cy="658368"/>
          </a:xfrm>
          <a:prstGeom prst="rect">
            <a:avLst/>
          </a:prstGeom>
          <a:solidFill>
            <a:srgbClr val="00736A"/>
          </a:solidFill>
          <a:ln/>
        </p:spPr>
      </p:sp>
      <p:sp>
        <p:nvSpPr>
          <p:cNvPr id="12" name="Text 10"/>
          <p:cNvSpPr/>
          <p:nvPr/>
        </p:nvSpPr>
        <p:spPr>
          <a:xfrm>
            <a:off x="384048" y="1325880"/>
            <a:ext cx="347472" cy="658368"/>
          </a:xfrm>
          <a:prstGeom prst="rect">
            <a:avLst/>
          </a:prstGeom>
          <a:noFill/>
          <a:ln/>
        </p:spPr>
        <p:txBody>
          <a:bodyPr wrap="square" lIns="0" tIns="0" rIns="0" bIns="0" rtlCol="0" anchor="ctr"/>
          <a:lstStyle/>
          <a:p>
            <a:pPr algn="ctr" indent="0" marL="0">
              <a:buNone/>
            </a:pPr>
            <a:r>
              <a:rPr lang="en-US" sz="1400" b="1" dirty="0">
                <a:solidFill>
                  <a:srgbClr val="C9952A"/>
                </a:solidFill>
                <a:latin typeface="Calibri" pitchFamily="34" charset="0"/>
                <a:ea typeface="Calibri" pitchFamily="34" charset="-122"/>
                <a:cs typeface="Calibri" pitchFamily="34" charset="-120"/>
              </a:rPr>
              <a:t>01</a:t>
            </a:r>
            <a:endParaRPr lang="en-US" sz="1400" dirty="0"/>
          </a:p>
        </p:txBody>
      </p:sp>
      <p:sp>
        <p:nvSpPr>
          <p:cNvPr id="13" name="Text 11"/>
          <p:cNvSpPr/>
          <p:nvPr/>
        </p:nvSpPr>
        <p:spPr>
          <a:xfrm>
            <a:off x="841248" y="1399032"/>
            <a:ext cx="2286000" cy="256032"/>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Tin tưởng (Trust)</a:t>
            </a:r>
            <a:endParaRPr lang="en-US" sz="1200" dirty="0"/>
          </a:p>
        </p:txBody>
      </p:sp>
      <p:sp>
        <p:nvSpPr>
          <p:cNvPr id="14" name="Shape 12"/>
          <p:cNvSpPr/>
          <p:nvPr/>
        </p:nvSpPr>
        <p:spPr>
          <a:xfrm>
            <a:off x="3200400" y="1417320"/>
            <a:ext cx="18288" cy="475488"/>
          </a:xfrm>
          <a:prstGeom prst="rect">
            <a:avLst/>
          </a:prstGeom>
          <a:solidFill>
            <a:srgbClr val="E8EEEE"/>
          </a:solidFill>
          <a:ln/>
        </p:spPr>
      </p:sp>
      <p:sp>
        <p:nvSpPr>
          <p:cNvPr id="15" name="Text 13"/>
          <p:cNvSpPr/>
          <p:nvPr/>
        </p:nvSpPr>
        <p:spPr>
          <a:xfrm>
            <a:off x="3337560" y="1380744"/>
            <a:ext cx="5257800" cy="548640"/>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Kiểm định chuyên nghiệp tạo sự tin tưởng với auditee. Đây là nền tảng để đạt mục tiêu kiểm định và cải thiện kinh doanh.</a:t>
            </a:r>
            <a:endParaRPr lang="en-US" sz="1200" dirty="0"/>
          </a:p>
        </p:txBody>
      </p:sp>
      <p:sp>
        <p:nvSpPr>
          <p:cNvPr id="16" name="Shape 14"/>
          <p:cNvSpPr/>
          <p:nvPr/>
        </p:nvSpPr>
        <p:spPr>
          <a:xfrm>
            <a:off x="384048" y="2093976"/>
            <a:ext cx="8321040" cy="658368"/>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384048" y="2093976"/>
            <a:ext cx="347472" cy="658368"/>
          </a:xfrm>
          <a:prstGeom prst="rect">
            <a:avLst/>
          </a:prstGeom>
          <a:solidFill>
            <a:srgbClr val="00736A"/>
          </a:solidFill>
          <a:ln/>
        </p:spPr>
      </p:sp>
      <p:sp>
        <p:nvSpPr>
          <p:cNvPr id="18" name="Text 16"/>
          <p:cNvSpPr/>
          <p:nvPr/>
        </p:nvSpPr>
        <p:spPr>
          <a:xfrm>
            <a:off x="384048" y="2093976"/>
            <a:ext cx="347472" cy="658368"/>
          </a:xfrm>
          <a:prstGeom prst="rect">
            <a:avLst/>
          </a:prstGeom>
          <a:noFill/>
          <a:ln/>
        </p:spPr>
        <p:txBody>
          <a:bodyPr wrap="square" lIns="0" tIns="0" rIns="0" bIns="0" rtlCol="0" anchor="ctr"/>
          <a:lstStyle/>
          <a:p>
            <a:pPr algn="ctr" indent="0" marL="0">
              <a:buNone/>
            </a:pPr>
            <a:r>
              <a:rPr lang="en-US" sz="1400" b="1" dirty="0">
                <a:solidFill>
                  <a:srgbClr val="C9952A"/>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841248" y="2167128"/>
            <a:ext cx="2286000" cy="256032"/>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Chính trực (Integrity)</a:t>
            </a:r>
            <a:endParaRPr lang="en-US" sz="1200" dirty="0"/>
          </a:p>
        </p:txBody>
      </p:sp>
      <p:sp>
        <p:nvSpPr>
          <p:cNvPr id="20" name="Shape 18"/>
          <p:cNvSpPr/>
          <p:nvPr/>
        </p:nvSpPr>
        <p:spPr>
          <a:xfrm>
            <a:off x="3200400" y="2185416"/>
            <a:ext cx="18288" cy="475488"/>
          </a:xfrm>
          <a:prstGeom prst="rect">
            <a:avLst/>
          </a:prstGeom>
          <a:solidFill>
            <a:srgbClr val="E8EEEE"/>
          </a:solidFill>
          <a:ln/>
        </p:spPr>
      </p:sp>
      <p:sp>
        <p:nvSpPr>
          <p:cNvPr id="21" name="Text 19"/>
          <p:cNvSpPr/>
          <p:nvPr/>
        </p:nvSpPr>
        <p:spPr>
          <a:xfrm>
            <a:off x="3337560" y="2148840"/>
            <a:ext cx="5257800" cy="548640"/>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Trung thực, minh bạch trong tất cả các phán đoán và báo cáo kiểm định. Không nhượng bộ về chất lượng đánh giá.</a:t>
            </a:r>
            <a:endParaRPr lang="en-US" sz="1200" dirty="0"/>
          </a:p>
        </p:txBody>
      </p:sp>
      <p:sp>
        <p:nvSpPr>
          <p:cNvPr id="22" name="Shape 20"/>
          <p:cNvSpPr/>
          <p:nvPr/>
        </p:nvSpPr>
        <p:spPr>
          <a:xfrm>
            <a:off x="384048" y="2862072"/>
            <a:ext cx="8321040" cy="658368"/>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384048" y="2862072"/>
            <a:ext cx="347472" cy="658368"/>
          </a:xfrm>
          <a:prstGeom prst="rect">
            <a:avLst/>
          </a:prstGeom>
          <a:solidFill>
            <a:srgbClr val="009B8E"/>
          </a:solidFill>
          <a:ln/>
        </p:spPr>
      </p:sp>
      <p:sp>
        <p:nvSpPr>
          <p:cNvPr id="24" name="Text 22"/>
          <p:cNvSpPr/>
          <p:nvPr/>
        </p:nvSpPr>
        <p:spPr>
          <a:xfrm>
            <a:off x="384048" y="2862072"/>
            <a:ext cx="347472" cy="658368"/>
          </a:xfrm>
          <a:prstGeom prst="rect">
            <a:avLst/>
          </a:prstGeom>
          <a:noFill/>
          <a:ln/>
        </p:spPr>
        <p:txBody>
          <a:bodyPr wrap="square" lIns="0" tIns="0" rIns="0" bIns="0" rtlCol="0" anchor="ctr"/>
          <a:lstStyle/>
          <a:p>
            <a:pPr algn="ctr" indent="0" marL="0">
              <a:buNone/>
            </a:pPr>
            <a:r>
              <a:rPr lang="en-US" sz="1400" b="1" dirty="0">
                <a:solidFill>
                  <a:srgbClr val="C9952A"/>
                </a:solidFill>
                <a:latin typeface="Calibri" pitchFamily="34" charset="0"/>
                <a:ea typeface="Calibri" pitchFamily="34" charset="-122"/>
                <a:cs typeface="Calibri" pitchFamily="34" charset="-120"/>
              </a:rPr>
              <a:t>03</a:t>
            </a:r>
            <a:endParaRPr lang="en-US" sz="1400" dirty="0"/>
          </a:p>
        </p:txBody>
      </p:sp>
      <p:sp>
        <p:nvSpPr>
          <p:cNvPr id="25" name="Text 23"/>
          <p:cNvSpPr/>
          <p:nvPr/>
        </p:nvSpPr>
        <p:spPr>
          <a:xfrm>
            <a:off x="841248" y="2935224"/>
            <a:ext cx="2286000" cy="256032"/>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Bảo mật (Confidentiality)</a:t>
            </a:r>
            <a:endParaRPr lang="en-US" sz="1200" dirty="0"/>
          </a:p>
        </p:txBody>
      </p:sp>
      <p:sp>
        <p:nvSpPr>
          <p:cNvPr id="26" name="Shape 24"/>
          <p:cNvSpPr/>
          <p:nvPr/>
        </p:nvSpPr>
        <p:spPr>
          <a:xfrm>
            <a:off x="3200400" y="2953512"/>
            <a:ext cx="18288" cy="475488"/>
          </a:xfrm>
          <a:prstGeom prst="rect">
            <a:avLst/>
          </a:prstGeom>
          <a:solidFill>
            <a:srgbClr val="E8EEEE"/>
          </a:solidFill>
          <a:ln/>
        </p:spPr>
      </p:sp>
      <p:sp>
        <p:nvSpPr>
          <p:cNvPr id="27" name="Text 25"/>
          <p:cNvSpPr/>
          <p:nvPr/>
        </p:nvSpPr>
        <p:spPr>
          <a:xfrm>
            <a:off x="3337560" y="2916936"/>
            <a:ext cx="5257800" cy="548640"/>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Bảo vệ kết quả &amp; dữ liệu kiểm định. Không tiết lộ dưới bất kỳ hình thức nào — bản cứng, bản mềm, hoặc lời nói.</a:t>
            </a:r>
            <a:endParaRPr lang="en-US" sz="1200" dirty="0"/>
          </a:p>
        </p:txBody>
      </p:sp>
      <p:sp>
        <p:nvSpPr>
          <p:cNvPr id="28" name="Shape 26"/>
          <p:cNvSpPr/>
          <p:nvPr/>
        </p:nvSpPr>
        <p:spPr>
          <a:xfrm>
            <a:off x="384048" y="3630168"/>
            <a:ext cx="8321040" cy="658368"/>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384048" y="3630168"/>
            <a:ext cx="347472" cy="658368"/>
          </a:xfrm>
          <a:prstGeom prst="rect">
            <a:avLst/>
          </a:prstGeom>
          <a:solidFill>
            <a:srgbClr val="009B8E"/>
          </a:solidFill>
          <a:ln/>
        </p:spPr>
      </p:sp>
      <p:sp>
        <p:nvSpPr>
          <p:cNvPr id="30" name="Text 28"/>
          <p:cNvSpPr/>
          <p:nvPr/>
        </p:nvSpPr>
        <p:spPr>
          <a:xfrm>
            <a:off x="384048" y="3630168"/>
            <a:ext cx="347472" cy="658368"/>
          </a:xfrm>
          <a:prstGeom prst="rect">
            <a:avLst/>
          </a:prstGeom>
          <a:noFill/>
          <a:ln/>
        </p:spPr>
        <p:txBody>
          <a:bodyPr wrap="square" lIns="0" tIns="0" rIns="0" bIns="0" rtlCol="0" anchor="ctr"/>
          <a:lstStyle/>
          <a:p>
            <a:pPr algn="ctr" indent="0" marL="0">
              <a:buNone/>
            </a:pPr>
            <a:r>
              <a:rPr lang="en-US" sz="1400" b="1" dirty="0">
                <a:solidFill>
                  <a:srgbClr val="C9952A"/>
                </a:solidFill>
                <a:latin typeface="Calibri" pitchFamily="34" charset="0"/>
                <a:ea typeface="Calibri" pitchFamily="34" charset="-122"/>
                <a:cs typeface="Calibri" pitchFamily="34" charset="-120"/>
              </a:rPr>
              <a:t>04</a:t>
            </a:r>
            <a:endParaRPr lang="en-US" sz="1400" dirty="0"/>
          </a:p>
        </p:txBody>
      </p:sp>
      <p:sp>
        <p:nvSpPr>
          <p:cNvPr id="31" name="Text 29"/>
          <p:cNvSpPr/>
          <p:nvPr/>
        </p:nvSpPr>
        <p:spPr>
          <a:xfrm>
            <a:off x="841248" y="3703320"/>
            <a:ext cx="2286000" cy="256032"/>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Cân nhắc (Discretion)</a:t>
            </a:r>
            <a:endParaRPr lang="en-US" sz="1200" dirty="0"/>
          </a:p>
        </p:txBody>
      </p:sp>
      <p:sp>
        <p:nvSpPr>
          <p:cNvPr id="32" name="Shape 30"/>
          <p:cNvSpPr/>
          <p:nvPr/>
        </p:nvSpPr>
        <p:spPr>
          <a:xfrm>
            <a:off x="3200400" y="3721608"/>
            <a:ext cx="18288" cy="475488"/>
          </a:xfrm>
          <a:prstGeom prst="rect">
            <a:avLst/>
          </a:prstGeom>
          <a:solidFill>
            <a:srgbClr val="E8EEEE"/>
          </a:solidFill>
          <a:ln/>
        </p:spPr>
      </p:sp>
      <p:sp>
        <p:nvSpPr>
          <p:cNvPr id="33" name="Text 31"/>
          <p:cNvSpPr/>
          <p:nvPr/>
        </p:nvSpPr>
        <p:spPr>
          <a:xfrm>
            <a:off x="3337560" y="3685032"/>
            <a:ext cx="5257800" cy="548640"/>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Thể hiện trí tuệ và khả năng phán đoán tốt. Biết phân biệt thông tin quan trọng/then chốt trong quá trình kiểm định.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Đội ngũ Kiểm định Halal</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VAI TRÒ &amp; TRÁCH NHIỆM</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25880"/>
            <a:ext cx="3977640" cy="3337560"/>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11" name="Text 9"/>
          <p:cNvSpPr/>
          <p:nvPr/>
        </p:nvSpPr>
        <p:spPr>
          <a:xfrm>
            <a:off x="502920" y="1417320"/>
            <a:ext cx="3749040" cy="292608"/>
          </a:xfrm>
          <a:prstGeom prst="rect">
            <a:avLst/>
          </a:prstGeom>
          <a:noFill/>
          <a:ln/>
        </p:spPr>
        <p:txBody>
          <a:bodyPr wrap="square" lIns="0" tIns="0" rIns="0" bIns="0" rtlCol="0" anchor="ctr"/>
          <a:lstStyle/>
          <a:p>
            <a:pPr indent="0" marL="0">
              <a:buNone/>
            </a:pPr>
            <a:r>
              <a:rPr lang="en-US" sz="1200" b="1" spc="50" kern="0" dirty="0">
                <a:solidFill>
                  <a:srgbClr val="C9952A"/>
                </a:solidFill>
                <a:latin typeface="Calibri" pitchFamily="34" charset="0"/>
                <a:ea typeface="Calibri" pitchFamily="34" charset="-122"/>
                <a:cs typeface="Calibri" pitchFamily="34" charset="-120"/>
              </a:rPr>
              <a:t>TRƯỞNG ĐOÀN KIỂM ĐỊNH</a:t>
            </a:r>
            <a:endParaRPr lang="en-US" sz="1200" dirty="0"/>
          </a:p>
        </p:txBody>
      </p:sp>
      <p:sp>
        <p:nvSpPr>
          <p:cNvPr id="12" name="Text 10"/>
          <p:cNvSpPr/>
          <p:nvPr/>
        </p:nvSpPr>
        <p:spPr>
          <a:xfrm>
            <a:off x="502920" y="1709928"/>
            <a:ext cx="3749040" cy="201168"/>
          </a:xfrm>
          <a:prstGeom prst="rect">
            <a:avLst/>
          </a:prstGeom>
          <a:noFill/>
          <a:ln/>
        </p:spPr>
        <p:txBody>
          <a:bodyPr wrap="square" lIns="0" tIns="0" rIns="0" bIns="0" rtlCol="0" anchor="ctr"/>
          <a:lstStyle/>
          <a:p>
            <a:pPr indent="0" marL="0">
              <a:buNone/>
            </a:pPr>
            <a:r>
              <a:rPr lang="en-US" sz="1000" i="1" dirty="0">
                <a:solidFill>
                  <a:srgbClr val="E0F4F2"/>
                </a:solidFill>
                <a:latin typeface="Calibri" pitchFamily="34" charset="0"/>
                <a:ea typeface="Calibri" pitchFamily="34" charset="-122"/>
                <a:cs typeface="Calibri" pitchFamily="34" charset="-120"/>
              </a:rPr>
              <a:t>Lead Auditor</a:t>
            </a:r>
            <a:endParaRPr lang="en-US" sz="1000" dirty="0"/>
          </a:p>
        </p:txBody>
      </p:sp>
      <p:sp>
        <p:nvSpPr>
          <p:cNvPr id="13" name="Shape 11"/>
          <p:cNvSpPr/>
          <p:nvPr/>
        </p:nvSpPr>
        <p:spPr>
          <a:xfrm>
            <a:off x="502920" y="1956816"/>
            <a:ext cx="3749040" cy="18288"/>
          </a:xfrm>
          <a:prstGeom prst="rect">
            <a:avLst/>
          </a:prstGeom>
          <a:solidFill>
            <a:srgbClr val="C9952A"/>
          </a:solidFill>
          <a:ln/>
        </p:spPr>
      </p:sp>
      <p:sp>
        <p:nvSpPr>
          <p:cNvPr id="14" name="Text 12"/>
          <p:cNvSpPr/>
          <p:nvPr/>
        </p:nvSpPr>
        <p:spPr>
          <a:xfrm>
            <a:off x="502920" y="2029968"/>
            <a:ext cx="3749040" cy="2514600"/>
          </a:xfrm>
          <a:prstGeom prst="rect">
            <a:avLst/>
          </a:prstGeom>
          <a:noFill/>
          <a:ln/>
        </p:spPr>
        <p:txBody>
          <a:bodyPr wrap="square" rtlCol="0" anchor="ctr"/>
          <a:lstStyle/>
          <a:p>
            <a:pPr marL="342900" indent="-342900">
              <a:spcAft>
                <a:spcPts val="1400"/>
              </a:spcAft>
              <a:buSzPct val="100000"/>
              <a:buChar char="•"/>
            </a:pPr>
            <a:r>
              <a:rPr lang="en-US" sz="1100" dirty="0">
                <a:solidFill>
                  <a:srgbClr val="FFFFFF"/>
                </a:solidFill>
                <a:latin typeface="Calibri" pitchFamily="34" charset="0"/>
                <a:ea typeface="Calibri" pitchFamily="34" charset="-122"/>
                <a:cs typeface="Calibri" pitchFamily="34" charset="-120"/>
              </a:rPr>
              <a:t>Xác định tiêu chí &amp; phạm vi kiểm định</a:t>
            </a:r>
            <a:endParaRPr lang="en-US" sz="1100" dirty="0"/>
          </a:p>
          <a:p>
            <a:pPr marL="342900" indent="-342900">
              <a:spcAft>
                <a:spcPts val="1400"/>
              </a:spcAft>
              <a:buSzPct val="100000"/>
              <a:buChar char="•"/>
            </a:pPr>
            <a:r>
              <a:rPr lang="en-US" sz="1100" dirty="0">
                <a:solidFill>
                  <a:srgbClr val="FFFFFF"/>
                </a:solidFill>
                <a:latin typeface="Calibri" pitchFamily="34" charset="0"/>
                <a:ea typeface="Calibri" pitchFamily="34" charset="-122"/>
                <a:cs typeface="Calibri" pitchFamily="34" charset="-120"/>
              </a:rPr>
              <a:t>Thiết lập chương trình kiểm định</a:t>
            </a:r>
            <a:endParaRPr lang="en-US" sz="1100" dirty="0"/>
          </a:p>
          <a:p>
            <a:pPr marL="342900" indent="-342900">
              <a:spcAft>
                <a:spcPts val="1400"/>
              </a:spcAft>
              <a:buSzPct val="100000"/>
              <a:buChar char="•"/>
            </a:pPr>
            <a:r>
              <a:rPr lang="en-US" sz="1100" dirty="0">
                <a:solidFill>
                  <a:srgbClr val="FFFFFF"/>
                </a:solidFill>
                <a:latin typeface="Calibri" pitchFamily="34" charset="0"/>
                <a:ea typeface="Calibri" pitchFamily="34" charset="-122"/>
                <a:cs typeface="Calibri" pitchFamily="34" charset="-120"/>
              </a:rPr>
              <a:t>Lựa chọn &amp; đánh giá đội ngũ kiểm định</a:t>
            </a:r>
            <a:endParaRPr lang="en-US" sz="1100" dirty="0"/>
          </a:p>
          <a:p>
            <a:pPr marL="342900" indent="-342900">
              <a:spcAft>
                <a:spcPts val="1400"/>
              </a:spcAft>
              <a:buSzPct val="100000"/>
              <a:buChar char="•"/>
            </a:pPr>
            <a:r>
              <a:rPr lang="en-US" sz="1100" dirty="0">
                <a:solidFill>
                  <a:srgbClr val="FFFFFF"/>
                </a:solidFill>
                <a:latin typeface="Calibri" pitchFamily="34" charset="0"/>
                <a:ea typeface="Calibri" pitchFamily="34" charset="-122"/>
                <a:cs typeface="Calibri" pitchFamily="34" charset="-120"/>
              </a:rPr>
              <a:t>Dẫn dắt đội và đại diện thảo luận với auditee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Hòa giải các vấn đề phát sinh</a:t>
            </a:r>
            <a:endParaRPr lang="en-US" sz="1100" dirty="0"/>
          </a:p>
        </p:txBody>
      </p:sp>
      <p:sp>
        <p:nvSpPr>
          <p:cNvPr id="15" name="Shape 13"/>
          <p:cNvSpPr/>
          <p:nvPr/>
        </p:nvSpPr>
        <p:spPr>
          <a:xfrm>
            <a:off x="4572000" y="1325880"/>
            <a:ext cx="4160520" cy="3337560"/>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4572000" y="1325880"/>
            <a:ext cx="4160520" cy="347472"/>
          </a:xfrm>
          <a:prstGeom prst="rect">
            <a:avLst/>
          </a:prstGeom>
          <a:solidFill>
            <a:srgbClr val="009B8E"/>
          </a:solidFill>
          <a:ln/>
        </p:spPr>
      </p:sp>
      <p:sp>
        <p:nvSpPr>
          <p:cNvPr id="17" name="Text 15"/>
          <p:cNvSpPr/>
          <p:nvPr/>
        </p:nvSpPr>
        <p:spPr>
          <a:xfrm>
            <a:off x="4681728" y="1362456"/>
            <a:ext cx="39319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KIỂM ĐỊNH VIÊN  ·  Auditor</a:t>
            </a:r>
            <a:endParaRPr lang="en-US" sz="1200" dirty="0"/>
          </a:p>
        </p:txBody>
      </p:sp>
      <p:sp>
        <p:nvSpPr>
          <p:cNvPr id="18" name="Text 16"/>
          <p:cNvSpPr/>
          <p:nvPr/>
        </p:nvSpPr>
        <p:spPr>
          <a:xfrm>
            <a:off x="4681728" y="1755648"/>
            <a:ext cx="3931920" cy="2834640"/>
          </a:xfrm>
          <a:prstGeom prst="rect">
            <a:avLst/>
          </a:prstGeom>
          <a:noFill/>
          <a:ln/>
        </p:spPr>
        <p:txBody>
          <a:bodyPr wrap="square" rtlCol="0" anchor="ctr"/>
          <a:lstStyle/>
          <a:p>
            <a:pPr marL="342900" indent="-342900">
              <a:spcAft>
                <a:spcPts val="1400"/>
              </a:spcAft>
              <a:buSzPct val="100000"/>
              <a:buChar char="•"/>
            </a:pPr>
            <a:r>
              <a:rPr lang="en-US" sz="1100" dirty="0">
                <a:solidFill>
                  <a:srgbClr val="1A2E2C"/>
                </a:solidFill>
                <a:latin typeface="Calibri" pitchFamily="34" charset="0"/>
                <a:ea typeface="Calibri" pitchFamily="34" charset="-122"/>
                <a:cs typeface="Calibri" pitchFamily="34" charset="-120"/>
              </a:rPr>
              <a:t>Thực hiện nhiệm vụ được phân công</a:t>
            </a:r>
            <a:endParaRPr lang="en-US" sz="1100" dirty="0"/>
          </a:p>
          <a:p>
            <a:pPr marL="342900" indent="-342900">
              <a:spcAft>
                <a:spcPts val="1400"/>
              </a:spcAft>
              <a:buSzPct val="100000"/>
              <a:buChar char="•"/>
            </a:pPr>
            <a:r>
              <a:rPr lang="en-US" sz="1100" dirty="0">
                <a:solidFill>
                  <a:srgbClr val="1A2E2C"/>
                </a:solidFill>
                <a:latin typeface="Calibri" pitchFamily="34" charset="0"/>
                <a:ea typeface="Calibri" pitchFamily="34" charset="-122"/>
                <a:cs typeface="Calibri" pitchFamily="34" charset="-120"/>
              </a:rPr>
              <a:t>Thu thập bằng chứng kiểm định đầy đủ</a:t>
            </a:r>
            <a:endParaRPr lang="en-US" sz="1100" dirty="0"/>
          </a:p>
          <a:p>
            <a:pPr marL="342900" indent="-342900">
              <a:spcAft>
                <a:spcPts val="1400"/>
              </a:spcAft>
              <a:buSzPct val="100000"/>
              <a:buChar char="•"/>
            </a:pPr>
            <a:r>
              <a:rPr lang="en-US" sz="1100" dirty="0">
                <a:solidFill>
                  <a:srgbClr val="1A2E2C"/>
                </a:solidFill>
                <a:latin typeface="Calibri" pitchFamily="34" charset="0"/>
                <a:ea typeface="Calibri" pitchFamily="34" charset="-122"/>
                <a:cs typeface="Calibri" pitchFamily="34" charset="-120"/>
              </a:rPr>
              <a:t>Chuẩn bị tài liệu làm việc</a:t>
            </a:r>
            <a:endParaRPr lang="en-US" sz="1100" dirty="0"/>
          </a:p>
          <a:p>
            <a:pPr marL="342900" indent="-342900">
              <a:spcAft>
                <a:spcPts val="1400"/>
              </a:spcAft>
              <a:buSzPct val="100000"/>
              <a:buChar char="•"/>
            </a:pPr>
            <a:r>
              <a:rPr lang="en-US" sz="1100" dirty="0">
                <a:solidFill>
                  <a:srgbClr val="1A2E2C"/>
                </a:solidFill>
                <a:latin typeface="Calibri" pitchFamily="34" charset="0"/>
                <a:ea typeface="Calibri" pitchFamily="34" charset="-122"/>
                <a:cs typeface="Calibri" pitchFamily="34" charset="-120"/>
              </a:rPr>
              <a:t>Bảo mật tài liệu liên quan đến kiểm định</a:t>
            </a:r>
            <a:endParaRPr lang="en-US" sz="1100" dirty="0"/>
          </a:p>
          <a:p>
            <a:pPr marL="342900" indent="-342900">
              <a:buSzPct val="100000"/>
              <a:buChar char="•"/>
            </a:pPr>
            <a:r>
              <a:rPr lang="en-US" sz="1100" dirty="0">
                <a:solidFill>
                  <a:srgbClr val="1A2E2C"/>
                </a:solidFill>
                <a:latin typeface="Calibri" pitchFamily="34" charset="0"/>
                <a:ea typeface="Calibri" pitchFamily="34" charset="-122"/>
                <a:cs typeface="Calibri" pitchFamily="34" charset="-120"/>
              </a:rPr>
              <a:t>Báo cáo kết quả lên Lead Auditor</a:t>
            </a:r>
            <a:endParaRPr lang="en-US" sz="1100" dirty="0"/>
          </a:p>
        </p:txBody>
      </p:sp>
      <p:sp>
        <p:nvSpPr>
          <p:cNvPr id="19" name="Shape 17"/>
          <p:cNvSpPr/>
          <p:nvPr/>
        </p:nvSpPr>
        <p:spPr>
          <a:xfrm>
            <a:off x="384048" y="4480560"/>
            <a:ext cx="8321040" cy="292608"/>
          </a:xfrm>
          <a:prstGeom prst="rect">
            <a:avLst/>
          </a:prstGeom>
          <a:solidFill>
            <a:srgbClr val="FDF5E4"/>
          </a:solidFill>
          <a:ln w="10160">
            <a:solidFill>
              <a:srgbClr val="C9952A"/>
            </a:solidFill>
            <a:prstDash val="solid"/>
          </a:ln>
        </p:spPr>
      </p:sp>
      <p:sp>
        <p:nvSpPr>
          <p:cNvPr id="20" name="Shape 18"/>
          <p:cNvSpPr/>
          <p:nvPr/>
        </p:nvSpPr>
        <p:spPr>
          <a:xfrm>
            <a:off x="384048" y="4480560"/>
            <a:ext cx="91440" cy="292608"/>
          </a:xfrm>
          <a:prstGeom prst="rect">
            <a:avLst/>
          </a:prstGeom>
          <a:solidFill>
            <a:srgbClr val="C9952A"/>
          </a:solidFill>
          <a:ln/>
        </p:spPr>
      </p:sp>
      <p:sp>
        <p:nvSpPr>
          <p:cNvPr id="21" name="Text 19"/>
          <p:cNvSpPr/>
          <p:nvPr/>
        </p:nvSpPr>
        <p:spPr>
          <a:xfrm>
            <a:off x="566928" y="4480560"/>
            <a:ext cx="8046720" cy="292608"/>
          </a:xfrm>
          <a:prstGeom prst="rect">
            <a:avLst/>
          </a:prstGeom>
          <a:noFill/>
          <a:ln/>
        </p:spPr>
        <p:txBody>
          <a:bodyPr wrap="square" lIns="0" tIns="0" rIns="0" bIns="0" rtlCol="0" anchor="ctr"/>
          <a:lstStyle/>
          <a:p>
            <a:pPr indent="0" marL="0">
              <a:buNone/>
            </a:pPr>
            <a:r>
              <a:rPr lang="en-US" sz="1100" i="1" dirty="0">
                <a:solidFill>
                  <a:srgbClr val="1A2E2C"/>
                </a:solidFill>
                <a:latin typeface="Calibri" pitchFamily="34" charset="0"/>
                <a:ea typeface="Calibri" pitchFamily="34" charset="-122"/>
                <a:cs typeface="Calibri" pitchFamily="34" charset="-120"/>
              </a:rPr>
              <a:t>⚠  Kiểm định viên phải kiểm soát cảm xúc — tức giận hay thành kiến dẫn đến phán đoán thiếu công bằng.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Phẩm chất &amp; Năng lực Kiểm định viên</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PERSONAL ATTRIBUTES &amp; KNOWLEDGE</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71600"/>
            <a:ext cx="3977640" cy="1207008"/>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84048" y="1371600"/>
            <a:ext cx="3977640" cy="91440"/>
          </a:xfrm>
          <a:prstGeom prst="rect">
            <a:avLst/>
          </a:prstGeom>
          <a:solidFill>
            <a:srgbClr val="00736A"/>
          </a:solidFill>
          <a:ln/>
        </p:spPr>
      </p:sp>
      <p:sp>
        <p:nvSpPr>
          <p:cNvPr id="12" name="Text 10"/>
          <p:cNvSpPr/>
          <p:nvPr/>
        </p:nvSpPr>
        <p:spPr>
          <a:xfrm>
            <a:off x="521208" y="1536192"/>
            <a:ext cx="3657600" cy="274320"/>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Đạo đức (Ethical)</a:t>
            </a:r>
            <a:endParaRPr lang="en-US" sz="1300" dirty="0"/>
          </a:p>
        </p:txBody>
      </p:sp>
      <p:sp>
        <p:nvSpPr>
          <p:cNvPr id="13" name="Text 11"/>
          <p:cNvSpPr/>
          <p:nvPr/>
        </p:nvSpPr>
        <p:spPr>
          <a:xfrm>
            <a:off x="521208" y="1847088"/>
            <a:ext cx="3657600" cy="62179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Công bằng, trung thực, thành thật và cân nhắc trong mọi tình huống</a:t>
            </a:r>
            <a:endParaRPr lang="en-US" sz="1200" dirty="0"/>
          </a:p>
        </p:txBody>
      </p:sp>
      <p:sp>
        <p:nvSpPr>
          <p:cNvPr id="14" name="Shape 12"/>
          <p:cNvSpPr/>
          <p:nvPr/>
        </p:nvSpPr>
        <p:spPr>
          <a:xfrm>
            <a:off x="4636008" y="1371600"/>
            <a:ext cx="3977640" cy="1207008"/>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4636008" y="1371600"/>
            <a:ext cx="3977640" cy="91440"/>
          </a:xfrm>
          <a:prstGeom prst="rect">
            <a:avLst/>
          </a:prstGeom>
          <a:solidFill>
            <a:srgbClr val="009B8E"/>
          </a:solidFill>
          <a:ln/>
        </p:spPr>
      </p:sp>
      <p:sp>
        <p:nvSpPr>
          <p:cNvPr id="16" name="Text 14"/>
          <p:cNvSpPr/>
          <p:nvPr/>
        </p:nvSpPr>
        <p:spPr>
          <a:xfrm>
            <a:off x="4773168" y="1536192"/>
            <a:ext cx="3657600" cy="274320"/>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Cởi mở (Open-minded)</a:t>
            </a:r>
            <a:endParaRPr lang="en-US" sz="1300" dirty="0"/>
          </a:p>
        </p:txBody>
      </p:sp>
      <p:sp>
        <p:nvSpPr>
          <p:cNvPr id="17" name="Text 15"/>
          <p:cNvSpPr/>
          <p:nvPr/>
        </p:nvSpPr>
        <p:spPr>
          <a:xfrm>
            <a:off x="4773168" y="1847088"/>
            <a:ext cx="3657600" cy="62179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Sẵn sàng xem xét các ý kiến khác nhau trước khi đưa ra phán đoán</a:t>
            </a:r>
            <a:endParaRPr lang="en-US" sz="1200" dirty="0"/>
          </a:p>
        </p:txBody>
      </p:sp>
      <p:sp>
        <p:nvSpPr>
          <p:cNvPr id="18" name="Shape 16"/>
          <p:cNvSpPr/>
          <p:nvPr/>
        </p:nvSpPr>
        <p:spPr>
          <a:xfrm>
            <a:off x="384048" y="2743200"/>
            <a:ext cx="3977640" cy="1207008"/>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384048" y="2743200"/>
            <a:ext cx="3977640" cy="91440"/>
          </a:xfrm>
          <a:prstGeom prst="rect">
            <a:avLst/>
          </a:prstGeom>
          <a:solidFill>
            <a:srgbClr val="009B8E"/>
          </a:solidFill>
          <a:ln/>
        </p:spPr>
      </p:sp>
      <p:sp>
        <p:nvSpPr>
          <p:cNvPr id="20" name="Text 18"/>
          <p:cNvSpPr/>
          <p:nvPr/>
        </p:nvSpPr>
        <p:spPr>
          <a:xfrm>
            <a:off x="521208" y="2907792"/>
            <a:ext cx="3657600" cy="274320"/>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Tinh tế (Perceptive)</a:t>
            </a:r>
            <a:endParaRPr lang="en-US" sz="1300" dirty="0"/>
          </a:p>
        </p:txBody>
      </p:sp>
      <p:sp>
        <p:nvSpPr>
          <p:cNvPr id="21" name="Text 19"/>
          <p:cNvSpPr/>
          <p:nvPr/>
        </p:nvSpPr>
        <p:spPr>
          <a:xfrm>
            <a:off x="521208" y="3218688"/>
            <a:ext cx="3657600" cy="62179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Nhận thức và hiểu tình huống; quan sát sắc bén môi trường xung quanh</a:t>
            </a:r>
            <a:endParaRPr lang="en-US" sz="1200" dirty="0"/>
          </a:p>
        </p:txBody>
      </p:sp>
      <p:sp>
        <p:nvSpPr>
          <p:cNvPr id="22" name="Shape 20"/>
          <p:cNvSpPr/>
          <p:nvPr/>
        </p:nvSpPr>
        <p:spPr>
          <a:xfrm>
            <a:off x="4636008" y="2743200"/>
            <a:ext cx="3977640" cy="1207008"/>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636008" y="2743200"/>
            <a:ext cx="3977640" cy="91440"/>
          </a:xfrm>
          <a:prstGeom prst="rect">
            <a:avLst/>
          </a:prstGeom>
          <a:solidFill>
            <a:srgbClr val="00736A"/>
          </a:solidFill>
          <a:ln/>
        </p:spPr>
      </p:sp>
      <p:sp>
        <p:nvSpPr>
          <p:cNvPr id="24" name="Text 22"/>
          <p:cNvSpPr/>
          <p:nvPr/>
        </p:nvSpPr>
        <p:spPr>
          <a:xfrm>
            <a:off x="4773168" y="2907792"/>
            <a:ext cx="3657600" cy="274320"/>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Linh hoạt (Versatile)</a:t>
            </a:r>
            <a:endParaRPr lang="en-US" sz="1300" dirty="0"/>
          </a:p>
        </p:txBody>
      </p:sp>
      <p:sp>
        <p:nvSpPr>
          <p:cNvPr id="25" name="Text 23"/>
          <p:cNvSpPr/>
          <p:nvPr/>
        </p:nvSpPr>
        <p:spPr>
          <a:xfrm>
            <a:off x="4773168" y="3218688"/>
            <a:ext cx="3657600" cy="62179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Thích nghi với nhiều tình huống khác nhau, có thể đảm nhận nhiều vai trò</a:t>
            </a:r>
            <a:endParaRPr lang="en-US" sz="1200" dirty="0"/>
          </a:p>
        </p:txBody>
      </p:sp>
      <p:sp>
        <p:nvSpPr>
          <p:cNvPr id="26" name="Shape 24"/>
          <p:cNvSpPr/>
          <p:nvPr/>
        </p:nvSpPr>
        <p:spPr>
          <a:xfrm>
            <a:off x="384048" y="4160520"/>
            <a:ext cx="8321040" cy="594360"/>
          </a:xfrm>
          <a:prstGeom prst="rect">
            <a:avLst/>
          </a:prstGeom>
          <a:solidFill>
            <a:srgbClr val="E0F4F2"/>
          </a:solidFill>
          <a:ln w="6350">
            <a:solidFill>
              <a:srgbClr val="009B8E"/>
            </a:solidFill>
            <a:prstDash val="solid"/>
          </a:ln>
        </p:spPr>
      </p:sp>
      <p:sp>
        <p:nvSpPr>
          <p:cNvPr id="27" name="Text 25"/>
          <p:cNvSpPr/>
          <p:nvPr/>
        </p:nvSpPr>
        <p:spPr>
          <a:xfrm>
            <a:off x="548640" y="4187952"/>
            <a:ext cx="1828800" cy="256032"/>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Kiến thức cần có:</a:t>
            </a:r>
            <a:endParaRPr lang="en-US" sz="1200" dirty="0"/>
          </a:p>
        </p:txBody>
      </p:sp>
      <p:sp>
        <p:nvSpPr>
          <p:cNvPr id="28" name="Text 26"/>
          <p:cNvSpPr/>
          <p:nvPr/>
        </p:nvSpPr>
        <p:spPr>
          <a:xfrm>
            <a:off x="548640" y="4434840"/>
            <a:ext cx="1920240" cy="228600"/>
          </a:xfrm>
          <a:prstGeom prst="rect">
            <a:avLst/>
          </a:prstGeom>
          <a:noFill/>
          <a:ln/>
        </p:spPr>
        <p:txBody>
          <a:bodyPr wrap="square" lIns="0" tIns="0" rIns="0" bIns="0" rtlCol="0" anchor="ctr"/>
          <a:lstStyle/>
          <a:p>
            <a:pPr indent="0" marL="0">
              <a:buNone/>
            </a:pPr>
            <a:r>
              <a:rPr lang="en-US" sz="1000" dirty="0">
                <a:solidFill>
                  <a:srgbClr val="00736A"/>
                </a:solidFill>
                <a:latin typeface="Calibri" pitchFamily="34" charset="0"/>
                <a:ea typeface="Calibri" pitchFamily="34" charset="-122"/>
                <a:cs typeface="Calibri" pitchFamily="34" charset="-120"/>
              </a:rPr>
              <a:t>• Kiến thức chung về Halal &amp; Fiqh</a:t>
            </a:r>
            <a:endParaRPr lang="en-US" sz="1000" dirty="0"/>
          </a:p>
        </p:txBody>
      </p:sp>
      <p:sp>
        <p:nvSpPr>
          <p:cNvPr id="29" name="Text 27"/>
          <p:cNvSpPr/>
          <p:nvPr/>
        </p:nvSpPr>
        <p:spPr>
          <a:xfrm>
            <a:off x="2606040" y="4434840"/>
            <a:ext cx="1920240" cy="228600"/>
          </a:xfrm>
          <a:prstGeom prst="rect">
            <a:avLst/>
          </a:prstGeom>
          <a:noFill/>
          <a:ln/>
        </p:spPr>
        <p:txBody>
          <a:bodyPr wrap="square" lIns="0" tIns="0" rIns="0" bIns="0" rtlCol="0" anchor="ctr"/>
          <a:lstStyle/>
          <a:p>
            <a:pPr indent="0" marL="0">
              <a:buNone/>
            </a:pPr>
            <a:r>
              <a:rPr lang="en-US" sz="1000" dirty="0">
                <a:solidFill>
                  <a:srgbClr val="00736A"/>
                </a:solidFill>
                <a:latin typeface="Calibri" pitchFamily="34" charset="0"/>
                <a:ea typeface="Calibri" pitchFamily="34" charset="-122"/>
                <a:cs typeface="Calibri" pitchFamily="34" charset="-120"/>
              </a:rPr>
              <a:t>• Tiêu chuẩn MHMS / MS1500 / JAKIM</a:t>
            </a:r>
            <a:endParaRPr lang="en-US" sz="1000" dirty="0"/>
          </a:p>
        </p:txBody>
      </p:sp>
      <p:sp>
        <p:nvSpPr>
          <p:cNvPr id="30" name="Text 28"/>
          <p:cNvSpPr/>
          <p:nvPr/>
        </p:nvSpPr>
        <p:spPr>
          <a:xfrm>
            <a:off x="4663440" y="4434840"/>
            <a:ext cx="1920240" cy="228600"/>
          </a:xfrm>
          <a:prstGeom prst="rect">
            <a:avLst/>
          </a:prstGeom>
          <a:noFill/>
          <a:ln/>
        </p:spPr>
        <p:txBody>
          <a:bodyPr wrap="square" lIns="0" tIns="0" rIns="0" bIns="0" rtlCol="0" anchor="ctr"/>
          <a:lstStyle/>
          <a:p>
            <a:pPr indent="0" marL="0">
              <a:buNone/>
            </a:pPr>
            <a:r>
              <a:rPr lang="en-US" sz="1000" dirty="0">
                <a:solidFill>
                  <a:srgbClr val="00736A"/>
                </a:solidFill>
                <a:latin typeface="Calibri" pitchFamily="34" charset="0"/>
                <a:ea typeface="Calibri" pitchFamily="34" charset="-122"/>
                <a:cs typeface="Calibri" pitchFamily="34" charset="-120"/>
              </a:rPr>
              <a:t>• Quy trình sản xuất theo ngành</a:t>
            </a:r>
            <a:endParaRPr lang="en-US" sz="1000" dirty="0"/>
          </a:p>
        </p:txBody>
      </p:sp>
      <p:sp>
        <p:nvSpPr>
          <p:cNvPr id="31" name="Text 29"/>
          <p:cNvSpPr/>
          <p:nvPr/>
        </p:nvSpPr>
        <p:spPr>
          <a:xfrm>
            <a:off x="6720840" y="4434840"/>
            <a:ext cx="1920240" cy="228600"/>
          </a:xfrm>
          <a:prstGeom prst="rect">
            <a:avLst/>
          </a:prstGeom>
          <a:noFill/>
          <a:ln/>
        </p:spPr>
        <p:txBody>
          <a:bodyPr wrap="square" lIns="0" tIns="0" rIns="0" bIns="0" rtlCol="0" anchor="ctr"/>
          <a:lstStyle/>
          <a:p>
            <a:pPr indent="0" marL="0">
              <a:buNone/>
            </a:pPr>
            <a:r>
              <a:rPr lang="en-US" sz="1000" dirty="0">
                <a:solidFill>
                  <a:srgbClr val="00736A"/>
                </a:solidFill>
                <a:latin typeface="Calibri" pitchFamily="34" charset="0"/>
                <a:ea typeface="Calibri" pitchFamily="34" charset="-122"/>
                <a:cs typeface="Calibri" pitchFamily="34" charset="-120"/>
              </a:rPr>
              <a:t>• Kỹ năng kiểm định thực tế</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Chu trình Kiểm định Halal</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4 GIAI ĐOẠN CỦA QUÁ TRÌNH KIỂM ĐỊNH</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169164" y="1554480"/>
            <a:ext cx="1600200" cy="1371600"/>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11" name="Text 9"/>
          <p:cNvSpPr/>
          <p:nvPr/>
        </p:nvSpPr>
        <p:spPr>
          <a:xfrm>
            <a:off x="169164" y="1627632"/>
            <a:ext cx="1600200" cy="411480"/>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1</a:t>
            </a:r>
            <a:endParaRPr lang="en-US" sz="2200" dirty="0"/>
          </a:p>
        </p:txBody>
      </p:sp>
      <p:sp>
        <p:nvSpPr>
          <p:cNvPr id="12" name="Text 10"/>
          <p:cNvSpPr/>
          <p:nvPr/>
        </p:nvSpPr>
        <p:spPr>
          <a:xfrm>
            <a:off x="242316" y="2029968"/>
            <a:ext cx="145389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Lập kế hoạch</a:t>
            </a:r>
            <a:endParaRPr lang="en-US" sz="1100" dirty="0"/>
          </a:p>
        </p:txBody>
      </p:sp>
      <p:sp>
        <p:nvSpPr>
          <p:cNvPr id="13" name="Text 11"/>
          <p:cNvSpPr/>
          <p:nvPr/>
        </p:nvSpPr>
        <p:spPr>
          <a:xfrm>
            <a:off x="242316" y="2514600"/>
            <a:ext cx="1453896" cy="347472"/>
          </a:xfrm>
          <a:prstGeom prst="rect">
            <a:avLst/>
          </a:prstGeom>
          <a:noFill/>
          <a:ln/>
        </p:spPr>
        <p:txBody>
          <a:bodyPr wrap="square" lIns="0" tIns="0" rIns="0" bIns="0" rtlCol="0" anchor="ctr"/>
          <a:lstStyle/>
          <a:p>
            <a:pPr algn="ctr" indent="0" marL="0">
              <a:buNone/>
            </a:pPr>
            <a:r>
              <a:rPr lang="en-US" sz="900" dirty="0">
                <a:solidFill>
                  <a:srgbClr val="E0F4F2"/>
                </a:solidFill>
                <a:latin typeface="Calibri" pitchFamily="34" charset="0"/>
                <a:ea typeface="Calibri" pitchFamily="34" charset="-122"/>
                <a:cs typeface="Calibri" pitchFamily="34" charset="-120"/>
              </a:rPr>
              <a:t>Planning</a:t>
            </a:r>
            <a:endParaRPr lang="en-US" sz="900" dirty="0"/>
          </a:p>
        </p:txBody>
      </p:sp>
      <p:sp>
        <p:nvSpPr>
          <p:cNvPr id="14" name="Shape 12"/>
          <p:cNvSpPr/>
          <p:nvPr/>
        </p:nvSpPr>
        <p:spPr>
          <a:xfrm>
            <a:off x="1769364" y="2203704"/>
            <a:ext cx="201168" cy="54864"/>
          </a:xfrm>
          <a:prstGeom prst="rect">
            <a:avLst/>
          </a:prstGeom>
          <a:solidFill>
            <a:srgbClr val="C9952A"/>
          </a:solidFill>
          <a:ln/>
        </p:spPr>
      </p:sp>
      <p:sp>
        <p:nvSpPr>
          <p:cNvPr id="15" name="Shape 13"/>
          <p:cNvSpPr/>
          <p:nvPr/>
        </p:nvSpPr>
        <p:spPr>
          <a:xfrm>
            <a:off x="1970532" y="1554480"/>
            <a:ext cx="1600200" cy="1371600"/>
          </a:xfrm>
          <a:prstGeom prst="rect">
            <a:avLst/>
          </a:prstGeom>
          <a:solidFill>
            <a:srgbClr val="009B8E"/>
          </a:solidFill>
          <a:ln/>
          <a:effectLst>
            <a:outerShdw sx="100000" sy="100000" kx="0" ky="0" algn="bl" rotWithShape="0" blurRad="101600" dist="38100" dir="8100000">
              <a:srgbClr val="000000">
                <a:alpha val="10000"/>
              </a:srgbClr>
            </a:outerShdw>
          </a:effectLst>
        </p:spPr>
      </p:sp>
      <p:sp>
        <p:nvSpPr>
          <p:cNvPr id="16" name="Text 14"/>
          <p:cNvSpPr/>
          <p:nvPr/>
        </p:nvSpPr>
        <p:spPr>
          <a:xfrm>
            <a:off x="1970532" y="1627632"/>
            <a:ext cx="1600200" cy="411480"/>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2043684" y="2029968"/>
            <a:ext cx="145389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Thực hiện</a:t>
            </a:r>
            <a:endParaRPr lang="en-US" sz="1100" dirty="0"/>
          </a:p>
        </p:txBody>
      </p:sp>
      <p:sp>
        <p:nvSpPr>
          <p:cNvPr id="18" name="Text 16"/>
          <p:cNvSpPr/>
          <p:nvPr/>
        </p:nvSpPr>
        <p:spPr>
          <a:xfrm>
            <a:off x="2043684" y="2514600"/>
            <a:ext cx="1453896" cy="347472"/>
          </a:xfrm>
          <a:prstGeom prst="rect">
            <a:avLst/>
          </a:prstGeom>
          <a:noFill/>
          <a:ln/>
        </p:spPr>
        <p:txBody>
          <a:bodyPr wrap="square" lIns="0" tIns="0" rIns="0" bIns="0" rtlCol="0" anchor="ctr"/>
          <a:lstStyle/>
          <a:p>
            <a:pPr algn="ctr" indent="0" marL="0">
              <a:buNone/>
            </a:pPr>
            <a:r>
              <a:rPr lang="en-US" sz="900" dirty="0">
                <a:solidFill>
                  <a:srgbClr val="E0F4F2"/>
                </a:solidFill>
                <a:latin typeface="Calibri" pitchFamily="34" charset="0"/>
                <a:ea typeface="Calibri" pitchFamily="34" charset="-122"/>
                <a:cs typeface="Calibri" pitchFamily="34" charset="-120"/>
              </a:rPr>
              <a:t>Execution</a:t>
            </a:r>
            <a:endParaRPr lang="en-US" sz="900" dirty="0"/>
          </a:p>
        </p:txBody>
      </p:sp>
      <p:sp>
        <p:nvSpPr>
          <p:cNvPr id="19" name="Shape 17"/>
          <p:cNvSpPr/>
          <p:nvPr/>
        </p:nvSpPr>
        <p:spPr>
          <a:xfrm>
            <a:off x="3570732" y="2203704"/>
            <a:ext cx="201168" cy="54864"/>
          </a:xfrm>
          <a:prstGeom prst="rect">
            <a:avLst/>
          </a:prstGeom>
          <a:solidFill>
            <a:srgbClr val="C9952A"/>
          </a:solidFill>
          <a:ln/>
        </p:spPr>
      </p:sp>
      <p:sp>
        <p:nvSpPr>
          <p:cNvPr id="20" name="Shape 18"/>
          <p:cNvSpPr/>
          <p:nvPr/>
        </p:nvSpPr>
        <p:spPr>
          <a:xfrm>
            <a:off x="3771900" y="1554480"/>
            <a:ext cx="1600200" cy="1371600"/>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21" name="Text 19"/>
          <p:cNvSpPr/>
          <p:nvPr/>
        </p:nvSpPr>
        <p:spPr>
          <a:xfrm>
            <a:off x="3771900" y="1627632"/>
            <a:ext cx="1600200" cy="411480"/>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3</a:t>
            </a:r>
            <a:endParaRPr lang="en-US" sz="2200" dirty="0"/>
          </a:p>
        </p:txBody>
      </p:sp>
      <p:sp>
        <p:nvSpPr>
          <p:cNvPr id="22" name="Text 20"/>
          <p:cNvSpPr/>
          <p:nvPr/>
        </p:nvSpPr>
        <p:spPr>
          <a:xfrm>
            <a:off x="3845052" y="2029968"/>
            <a:ext cx="145389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Báo cáo</a:t>
            </a:r>
            <a:endParaRPr lang="en-US" sz="1100" dirty="0"/>
          </a:p>
        </p:txBody>
      </p:sp>
      <p:sp>
        <p:nvSpPr>
          <p:cNvPr id="23" name="Text 21"/>
          <p:cNvSpPr/>
          <p:nvPr/>
        </p:nvSpPr>
        <p:spPr>
          <a:xfrm>
            <a:off x="3845052" y="2514600"/>
            <a:ext cx="1453896" cy="347472"/>
          </a:xfrm>
          <a:prstGeom prst="rect">
            <a:avLst/>
          </a:prstGeom>
          <a:noFill/>
          <a:ln/>
        </p:spPr>
        <p:txBody>
          <a:bodyPr wrap="square" lIns="0" tIns="0" rIns="0" bIns="0" rtlCol="0" anchor="ctr"/>
          <a:lstStyle/>
          <a:p>
            <a:pPr algn="ctr" indent="0" marL="0">
              <a:buNone/>
            </a:pPr>
            <a:r>
              <a:rPr lang="en-US" sz="900" dirty="0">
                <a:solidFill>
                  <a:srgbClr val="E0F4F2"/>
                </a:solidFill>
                <a:latin typeface="Calibri" pitchFamily="34" charset="0"/>
                <a:ea typeface="Calibri" pitchFamily="34" charset="-122"/>
                <a:cs typeface="Calibri" pitchFamily="34" charset="-120"/>
              </a:rPr>
              <a:t>Reporting</a:t>
            </a:r>
            <a:endParaRPr lang="en-US" sz="900" dirty="0"/>
          </a:p>
        </p:txBody>
      </p:sp>
      <p:sp>
        <p:nvSpPr>
          <p:cNvPr id="24" name="Shape 22"/>
          <p:cNvSpPr/>
          <p:nvPr/>
        </p:nvSpPr>
        <p:spPr>
          <a:xfrm>
            <a:off x="5372100" y="2203704"/>
            <a:ext cx="201168" cy="54864"/>
          </a:xfrm>
          <a:prstGeom prst="rect">
            <a:avLst/>
          </a:prstGeom>
          <a:solidFill>
            <a:srgbClr val="C9952A"/>
          </a:solidFill>
          <a:ln/>
        </p:spPr>
      </p:sp>
      <p:sp>
        <p:nvSpPr>
          <p:cNvPr id="25" name="Shape 23"/>
          <p:cNvSpPr/>
          <p:nvPr/>
        </p:nvSpPr>
        <p:spPr>
          <a:xfrm>
            <a:off x="5573268" y="1554480"/>
            <a:ext cx="1600200" cy="1371600"/>
          </a:xfrm>
          <a:prstGeom prst="rect">
            <a:avLst/>
          </a:prstGeom>
          <a:solidFill>
            <a:srgbClr val="009B8E"/>
          </a:solidFill>
          <a:ln/>
          <a:effectLst>
            <a:outerShdw sx="100000" sy="100000" kx="0" ky="0" algn="bl" rotWithShape="0" blurRad="101600" dist="38100" dir="8100000">
              <a:srgbClr val="000000">
                <a:alpha val="10000"/>
              </a:srgbClr>
            </a:outerShdw>
          </a:effectLst>
        </p:spPr>
      </p:sp>
      <p:sp>
        <p:nvSpPr>
          <p:cNvPr id="26" name="Text 24"/>
          <p:cNvSpPr/>
          <p:nvPr/>
        </p:nvSpPr>
        <p:spPr>
          <a:xfrm>
            <a:off x="5573268" y="1627632"/>
            <a:ext cx="1600200" cy="411480"/>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4</a:t>
            </a:r>
            <a:endParaRPr lang="en-US" sz="2200" dirty="0"/>
          </a:p>
        </p:txBody>
      </p:sp>
      <p:sp>
        <p:nvSpPr>
          <p:cNvPr id="27" name="Text 25"/>
          <p:cNvSpPr/>
          <p:nvPr/>
        </p:nvSpPr>
        <p:spPr>
          <a:xfrm>
            <a:off x="5646420" y="2029968"/>
            <a:ext cx="145389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Theo dõi</a:t>
            </a:r>
            <a:endParaRPr lang="en-US" sz="1100" dirty="0"/>
          </a:p>
        </p:txBody>
      </p:sp>
      <p:sp>
        <p:nvSpPr>
          <p:cNvPr id="28" name="Text 26"/>
          <p:cNvSpPr/>
          <p:nvPr/>
        </p:nvSpPr>
        <p:spPr>
          <a:xfrm>
            <a:off x="5646420" y="2514600"/>
            <a:ext cx="1453896" cy="347472"/>
          </a:xfrm>
          <a:prstGeom prst="rect">
            <a:avLst/>
          </a:prstGeom>
          <a:noFill/>
          <a:ln/>
        </p:spPr>
        <p:txBody>
          <a:bodyPr wrap="square" lIns="0" tIns="0" rIns="0" bIns="0" rtlCol="0" anchor="ctr"/>
          <a:lstStyle/>
          <a:p>
            <a:pPr algn="ctr" indent="0" marL="0">
              <a:buNone/>
            </a:pPr>
            <a:r>
              <a:rPr lang="en-US" sz="900" dirty="0">
                <a:solidFill>
                  <a:srgbClr val="E0F4F2"/>
                </a:solidFill>
                <a:latin typeface="Calibri" pitchFamily="34" charset="0"/>
                <a:ea typeface="Calibri" pitchFamily="34" charset="-122"/>
                <a:cs typeface="Calibri" pitchFamily="34" charset="-120"/>
              </a:rPr>
              <a:t>Follow-up</a:t>
            </a:r>
            <a:endParaRPr lang="en-US" sz="900" dirty="0"/>
          </a:p>
        </p:txBody>
      </p:sp>
      <p:sp>
        <p:nvSpPr>
          <p:cNvPr id="29" name="Shape 27"/>
          <p:cNvSpPr/>
          <p:nvPr/>
        </p:nvSpPr>
        <p:spPr>
          <a:xfrm>
            <a:off x="7173468" y="2203704"/>
            <a:ext cx="201168" cy="54864"/>
          </a:xfrm>
          <a:prstGeom prst="rect">
            <a:avLst/>
          </a:prstGeom>
          <a:solidFill>
            <a:srgbClr val="C9952A"/>
          </a:solidFill>
          <a:ln/>
        </p:spPr>
      </p:sp>
      <p:sp>
        <p:nvSpPr>
          <p:cNvPr id="30" name="Shape 28"/>
          <p:cNvSpPr/>
          <p:nvPr/>
        </p:nvSpPr>
        <p:spPr>
          <a:xfrm>
            <a:off x="7374636" y="1554480"/>
            <a:ext cx="1600200" cy="1371600"/>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31" name="Text 29"/>
          <p:cNvSpPr/>
          <p:nvPr/>
        </p:nvSpPr>
        <p:spPr>
          <a:xfrm>
            <a:off x="7374636" y="1627632"/>
            <a:ext cx="1600200" cy="411480"/>
          </a:xfrm>
          <a:prstGeom prst="rect">
            <a:avLst/>
          </a:prstGeom>
          <a:noFill/>
          <a:ln/>
        </p:spPr>
        <p:txBody>
          <a:bodyPr wrap="square" lIns="0" tIns="0" rIns="0" bIns="0" rtlCol="0" anchor="ctr"/>
          <a:lstStyle/>
          <a:p>
            <a:pPr algn="ctr" indent="0" marL="0">
              <a:buNone/>
            </a:pPr>
            <a:r>
              <a:rPr lang="en-US" sz="2200" b="1" dirty="0">
                <a:solidFill>
                  <a:srgbClr val="C9952A"/>
                </a:solidFill>
                <a:latin typeface="Calibri" pitchFamily="34" charset="0"/>
                <a:ea typeface="Calibri" pitchFamily="34" charset="-122"/>
                <a:cs typeface="Calibri" pitchFamily="34" charset="-120"/>
              </a:rPr>
              <a:t>5</a:t>
            </a:r>
            <a:endParaRPr lang="en-US" sz="2200" dirty="0"/>
          </a:p>
        </p:txBody>
      </p:sp>
      <p:sp>
        <p:nvSpPr>
          <p:cNvPr id="32" name="Text 30"/>
          <p:cNvSpPr/>
          <p:nvPr/>
        </p:nvSpPr>
        <p:spPr>
          <a:xfrm>
            <a:off x="7447788" y="2029968"/>
            <a:ext cx="1453896"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Cải tiến</a:t>
            </a:r>
            <a:endParaRPr lang="en-US" sz="1100" dirty="0"/>
          </a:p>
        </p:txBody>
      </p:sp>
      <p:sp>
        <p:nvSpPr>
          <p:cNvPr id="33" name="Text 31"/>
          <p:cNvSpPr/>
          <p:nvPr/>
        </p:nvSpPr>
        <p:spPr>
          <a:xfrm>
            <a:off x="7447788" y="2514600"/>
            <a:ext cx="1453896" cy="347472"/>
          </a:xfrm>
          <a:prstGeom prst="rect">
            <a:avLst/>
          </a:prstGeom>
          <a:noFill/>
          <a:ln/>
        </p:spPr>
        <p:txBody>
          <a:bodyPr wrap="square" lIns="0" tIns="0" rIns="0" bIns="0" rtlCol="0" anchor="ctr"/>
          <a:lstStyle/>
          <a:p>
            <a:pPr algn="ctr" indent="0" marL="0">
              <a:buNone/>
            </a:pPr>
            <a:r>
              <a:rPr lang="en-US" sz="900" dirty="0">
                <a:solidFill>
                  <a:srgbClr val="E0F4F2"/>
                </a:solidFill>
                <a:latin typeface="Calibri" pitchFamily="34" charset="0"/>
                <a:ea typeface="Calibri" pitchFamily="34" charset="-122"/>
                <a:cs typeface="Calibri" pitchFamily="34" charset="-120"/>
              </a:rPr>
              <a:t>Improvement</a:t>
            </a:r>
            <a:endParaRPr lang="en-US" sz="900" dirty="0"/>
          </a:p>
        </p:txBody>
      </p:sp>
      <p:sp>
        <p:nvSpPr>
          <p:cNvPr id="34" name="Shape 32"/>
          <p:cNvSpPr/>
          <p:nvPr/>
        </p:nvSpPr>
        <p:spPr>
          <a:xfrm>
            <a:off x="384048" y="3246120"/>
            <a:ext cx="8321040" cy="18288"/>
          </a:xfrm>
          <a:prstGeom prst="rect">
            <a:avLst/>
          </a:prstGeom>
          <a:solidFill>
            <a:srgbClr val="E8EEEE"/>
          </a:solidFill>
          <a:ln/>
        </p:spPr>
      </p:sp>
      <p:sp>
        <p:nvSpPr>
          <p:cNvPr id="35" name="Text 33"/>
          <p:cNvSpPr/>
          <p:nvPr/>
        </p:nvSpPr>
        <p:spPr>
          <a:xfrm>
            <a:off x="384048" y="3364992"/>
            <a:ext cx="8321040" cy="594360"/>
          </a:xfrm>
          <a:prstGeom prst="rect">
            <a:avLst/>
          </a:prstGeom>
          <a:noFill/>
          <a:ln/>
        </p:spPr>
        <p:txBody>
          <a:bodyPr wrap="square" lIns="0" tIns="0" rIns="0" bIns="0" rtlCol="0" anchor="ctr"/>
          <a:lstStyle/>
          <a:p>
            <a:pPr algn="ctr" indent="0" marL="0">
              <a:buNone/>
            </a:pPr>
            <a:r>
              <a:rPr lang="en-US" sz="1300" i="1" dirty="0">
                <a:solidFill>
                  <a:srgbClr val="5C6E6C"/>
                </a:solidFill>
                <a:latin typeface="Calibri" pitchFamily="34" charset="0"/>
                <a:ea typeface="Calibri" pitchFamily="34" charset="-122"/>
                <a:cs typeface="Calibri" pitchFamily="34" charset="-120"/>
              </a:rPr>
              <a:t>Kiểm định thành công là kết quả của lập kế hoạch tốt và bầu không khí giao tiếp xây dựng giữa kiểm định viên và đơn vị được kiểm định (auditee).</a:t>
            </a:r>
            <a:endParaRPr lang="en-US" sz="1300" dirty="0"/>
          </a:p>
        </p:txBody>
      </p:sp>
      <p:sp>
        <p:nvSpPr>
          <p:cNvPr id="36" name="Shape 34"/>
          <p:cNvSpPr/>
          <p:nvPr/>
        </p:nvSpPr>
        <p:spPr>
          <a:xfrm>
            <a:off x="384048" y="4041648"/>
            <a:ext cx="1938528" cy="685800"/>
          </a:xfrm>
          <a:prstGeom prst="rect">
            <a:avLst/>
          </a:prstGeom>
          <a:solidFill>
            <a:srgbClr val="FFFFFF"/>
          </a:solidFill>
          <a:ln w="5080">
            <a:solidFill>
              <a:srgbClr val="E8EEEE"/>
            </a:solidFill>
            <a:prstDash val="solid"/>
          </a:ln>
        </p:spPr>
      </p:sp>
      <p:sp>
        <p:nvSpPr>
          <p:cNvPr id="37" name="Text 35"/>
          <p:cNvSpPr/>
          <p:nvPr/>
        </p:nvSpPr>
        <p:spPr>
          <a:xfrm>
            <a:off x="457200" y="4059936"/>
            <a:ext cx="1792224" cy="201168"/>
          </a:xfrm>
          <a:prstGeom prst="rect">
            <a:avLst/>
          </a:prstGeom>
          <a:noFill/>
          <a:ln/>
        </p:spPr>
        <p:txBody>
          <a:bodyPr wrap="square" lIns="0" tIns="0" rIns="0" bIns="0" rtlCol="0" anchor="ctr"/>
          <a:lstStyle/>
          <a:p>
            <a:pPr indent="0" marL="0">
              <a:buNone/>
            </a:pPr>
            <a:r>
              <a:rPr lang="en-US" sz="900" b="1" dirty="0">
                <a:solidFill>
                  <a:srgbClr val="00736A"/>
                </a:solidFill>
                <a:latin typeface="Calibri" pitchFamily="34" charset="0"/>
                <a:ea typeface="Calibri" pitchFamily="34" charset="-122"/>
                <a:cs typeface="Calibri" pitchFamily="34" charset="-120"/>
              </a:rPr>
              <a:t>PLANNING</a:t>
            </a:r>
            <a:endParaRPr lang="en-US" sz="900" dirty="0"/>
          </a:p>
        </p:txBody>
      </p:sp>
      <p:sp>
        <p:nvSpPr>
          <p:cNvPr id="38" name="Text 36"/>
          <p:cNvSpPr/>
          <p:nvPr/>
        </p:nvSpPr>
        <p:spPr>
          <a:xfrm>
            <a:off x="457200" y="4270248"/>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Chương trình kiểm định</a:t>
            </a:r>
            <a:endParaRPr lang="en-US" sz="850" dirty="0"/>
          </a:p>
        </p:txBody>
      </p:sp>
      <p:sp>
        <p:nvSpPr>
          <p:cNvPr id="39" name="Text 37"/>
          <p:cNvSpPr/>
          <p:nvPr/>
        </p:nvSpPr>
        <p:spPr>
          <a:xfrm>
            <a:off x="457200" y="4398264"/>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Tài liệu tham chiếu</a:t>
            </a:r>
            <a:endParaRPr lang="en-US" sz="850" dirty="0"/>
          </a:p>
        </p:txBody>
      </p:sp>
      <p:sp>
        <p:nvSpPr>
          <p:cNvPr id="40" name="Text 38"/>
          <p:cNvSpPr/>
          <p:nvPr/>
        </p:nvSpPr>
        <p:spPr>
          <a:xfrm>
            <a:off x="457200" y="4526280"/>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Công cụ kiểm định</a:t>
            </a:r>
            <a:endParaRPr lang="en-US" sz="850" dirty="0"/>
          </a:p>
        </p:txBody>
      </p:sp>
      <p:sp>
        <p:nvSpPr>
          <p:cNvPr id="41" name="Shape 39"/>
          <p:cNvSpPr/>
          <p:nvPr/>
        </p:nvSpPr>
        <p:spPr>
          <a:xfrm>
            <a:off x="2505456" y="4041648"/>
            <a:ext cx="1938528" cy="685800"/>
          </a:xfrm>
          <a:prstGeom prst="rect">
            <a:avLst/>
          </a:prstGeom>
          <a:solidFill>
            <a:srgbClr val="FFFFFF"/>
          </a:solidFill>
          <a:ln w="5080">
            <a:solidFill>
              <a:srgbClr val="E8EEEE"/>
            </a:solidFill>
            <a:prstDash val="solid"/>
          </a:ln>
        </p:spPr>
      </p:sp>
      <p:sp>
        <p:nvSpPr>
          <p:cNvPr id="42" name="Text 40"/>
          <p:cNvSpPr/>
          <p:nvPr/>
        </p:nvSpPr>
        <p:spPr>
          <a:xfrm>
            <a:off x="2578608" y="4059936"/>
            <a:ext cx="1792224" cy="201168"/>
          </a:xfrm>
          <a:prstGeom prst="rect">
            <a:avLst/>
          </a:prstGeom>
          <a:noFill/>
          <a:ln/>
        </p:spPr>
        <p:txBody>
          <a:bodyPr wrap="square" lIns="0" tIns="0" rIns="0" bIns="0" rtlCol="0" anchor="ctr"/>
          <a:lstStyle/>
          <a:p>
            <a:pPr indent="0" marL="0">
              <a:buNone/>
            </a:pPr>
            <a:r>
              <a:rPr lang="en-US" sz="900" b="1" dirty="0">
                <a:solidFill>
                  <a:srgbClr val="00736A"/>
                </a:solidFill>
                <a:latin typeface="Calibri" pitchFamily="34" charset="0"/>
                <a:ea typeface="Calibri" pitchFamily="34" charset="-122"/>
                <a:cs typeface="Calibri" pitchFamily="34" charset="-120"/>
              </a:rPr>
              <a:t>EXECUTION</a:t>
            </a:r>
            <a:endParaRPr lang="en-US" sz="900" dirty="0"/>
          </a:p>
        </p:txBody>
      </p:sp>
      <p:sp>
        <p:nvSpPr>
          <p:cNvPr id="43" name="Text 41"/>
          <p:cNvSpPr/>
          <p:nvPr/>
        </p:nvSpPr>
        <p:spPr>
          <a:xfrm>
            <a:off x="2578608" y="4270248"/>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Họp khai mạc</a:t>
            </a:r>
            <a:endParaRPr lang="en-US" sz="850" dirty="0"/>
          </a:p>
        </p:txBody>
      </p:sp>
      <p:sp>
        <p:nvSpPr>
          <p:cNvPr id="44" name="Text 42"/>
          <p:cNvSpPr/>
          <p:nvPr/>
        </p:nvSpPr>
        <p:spPr>
          <a:xfrm>
            <a:off x="2578608" y="4398264"/>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Thực hiện kiểm định</a:t>
            </a:r>
            <a:endParaRPr lang="en-US" sz="850" dirty="0"/>
          </a:p>
        </p:txBody>
      </p:sp>
      <p:sp>
        <p:nvSpPr>
          <p:cNvPr id="45" name="Text 43"/>
          <p:cNvSpPr/>
          <p:nvPr/>
        </p:nvSpPr>
        <p:spPr>
          <a:xfrm>
            <a:off x="2578608" y="4526280"/>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Họp kết thúc</a:t>
            </a:r>
            <a:endParaRPr lang="en-US" sz="850" dirty="0"/>
          </a:p>
        </p:txBody>
      </p:sp>
      <p:sp>
        <p:nvSpPr>
          <p:cNvPr id="46" name="Shape 44"/>
          <p:cNvSpPr/>
          <p:nvPr/>
        </p:nvSpPr>
        <p:spPr>
          <a:xfrm>
            <a:off x="4626864" y="4041648"/>
            <a:ext cx="1938528" cy="685800"/>
          </a:xfrm>
          <a:prstGeom prst="rect">
            <a:avLst/>
          </a:prstGeom>
          <a:solidFill>
            <a:srgbClr val="FFFFFF"/>
          </a:solidFill>
          <a:ln w="5080">
            <a:solidFill>
              <a:srgbClr val="E8EEEE"/>
            </a:solidFill>
            <a:prstDash val="solid"/>
          </a:ln>
        </p:spPr>
      </p:sp>
      <p:sp>
        <p:nvSpPr>
          <p:cNvPr id="47" name="Text 45"/>
          <p:cNvSpPr/>
          <p:nvPr/>
        </p:nvSpPr>
        <p:spPr>
          <a:xfrm>
            <a:off x="4700016" y="4059936"/>
            <a:ext cx="1792224" cy="201168"/>
          </a:xfrm>
          <a:prstGeom prst="rect">
            <a:avLst/>
          </a:prstGeom>
          <a:noFill/>
          <a:ln/>
        </p:spPr>
        <p:txBody>
          <a:bodyPr wrap="square" lIns="0" tIns="0" rIns="0" bIns="0" rtlCol="0" anchor="ctr"/>
          <a:lstStyle/>
          <a:p>
            <a:pPr indent="0" marL="0">
              <a:buNone/>
            </a:pPr>
            <a:r>
              <a:rPr lang="en-US" sz="900" b="1" dirty="0">
                <a:solidFill>
                  <a:srgbClr val="00736A"/>
                </a:solidFill>
                <a:latin typeface="Calibri" pitchFamily="34" charset="0"/>
                <a:ea typeface="Calibri" pitchFamily="34" charset="-122"/>
                <a:cs typeface="Calibri" pitchFamily="34" charset="-120"/>
              </a:rPr>
              <a:t>REPORTING</a:t>
            </a:r>
            <a:endParaRPr lang="en-US" sz="900" dirty="0"/>
          </a:p>
        </p:txBody>
      </p:sp>
      <p:sp>
        <p:nvSpPr>
          <p:cNvPr id="48" name="Text 46"/>
          <p:cNvSpPr/>
          <p:nvPr/>
        </p:nvSpPr>
        <p:spPr>
          <a:xfrm>
            <a:off x="4700016" y="4270248"/>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Kết quả kiểm định</a:t>
            </a:r>
            <a:endParaRPr lang="en-US" sz="850" dirty="0"/>
          </a:p>
        </p:txBody>
      </p:sp>
      <p:sp>
        <p:nvSpPr>
          <p:cNvPr id="49" name="Text 47"/>
          <p:cNvSpPr/>
          <p:nvPr/>
        </p:nvSpPr>
        <p:spPr>
          <a:xfrm>
            <a:off x="4700016" y="4398264"/>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Báo cáo NC</a:t>
            </a:r>
            <a:endParaRPr lang="en-US" sz="850" dirty="0"/>
          </a:p>
        </p:txBody>
      </p:sp>
      <p:sp>
        <p:nvSpPr>
          <p:cNvPr id="50" name="Text 48"/>
          <p:cNvSpPr/>
          <p:nvPr/>
        </p:nvSpPr>
        <p:spPr>
          <a:xfrm>
            <a:off x="4700016" y="4526280"/>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Phân loại NC</a:t>
            </a:r>
            <a:endParaRPr lang="en-US" sz="850" dirty="0"/>
          </a:p>
        </p:txBody>
      </p:sp>
      <p:sp>
        <p:nvSpPr>
          <p:cNvPr id="51" name="Shape 49"/>
          <p:cNvSpPr/>
          <p:nvPr/>
        </p:nvSpPr>
        <p:spPr>
          <a:xfrm>
            <a:off x="6748272" y="4041648"/>
            <a:ext cx="1938528" cy="685800"/>
          </a:xfrm>
          <a:prstGeom prst="rect">
            <a:avLst/>
          </a:prstGeom>
          <a:solidFill>
            <a:srgbClr val="FFFFFF"/>
          </a:solidFill>
          <a:ln w="5080">
            <a:solidFill>
              <a:srgbClr val="E8EEEE"/>
            </a:solidFill>
            <a:prstDash val="solid"/>
          </a:ln>
        </p:spPr>
      </p:sp>
      <p:sp>
        <p:nvSpPr>
          <p:cNvPr id="52" name="Text 50"/>
          <p:cNvSpPr/>
          <p:nvPr/>
        </p:nvSpPr>
        <p:spPr>
          <a:xfrm>
            <a:off x="6821424" y="4059936"/>
            <a:ext cx="1792224" cy="201168"/>
          </a:xfrm>
          <a:prstGeom prst="rect">
            <a:avLst/>
          </a:prstGeom>
          <a:noFill/>
          <a:ln/>
        </p:spPr>
        <p:txBody>
          <a:bodyPr wrap="square" lIns="0" tIns="0" rIns="0" bIns="0" rtlCol="0" anchor="ctr"/>
          <a:lstStyle/>
          <a:p>
            <a:pPr indent="0" marL="0">
              <a:buNone/>
            </a:pPr>
            <a:r>
              <a:rPr lang="en-US" sz="900" b="1" dirty="0">
                <a:solidFill>
                  <a:srgbClr val="00736A"/>
                </a:solidFill>
                <a:latin typeface="Calibri" pitchFamily="34" charset="0"/>
                <a:ea typeface="Calibri" pitchFamily="34" charset="-122"/>
                <a:cs typeface="Calibri" pitchFamily="34" charset="-120"/>
              </a:rPr>
              <a:t>FOLLOW-UP</a:t>
            </a:r>
            <a:endParaRPr lang="en-US" sz="900" dirty="0"/>
          </a:p>
        </p:txBody>
      </p:sp>
      <p:sp>
        <p:nvSpPr>
          <p:cNvPr id="53" name="Text 51"/>
          <p:cNvSpPr/>
          <p:nvPr/>
        </p:nvSpPr>
        <p:spPr>
          <a:xfrm>
            <a:off x="6821424" y="4270248"/>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Hành động khắc phục</a:t>
            </a:r>
            <a:endParaRPr lang="en-US" sz="850" dirty="0"/>
          </a:p>
        </p:txBody>
      </p:sp>
      <p:sp>
        <p:nvSpPr>
          <p:cNvPr id="54" name="Text 52"/>
          <p:cNvSpPr/>
          <p:nvPr/>
        </p:nvSpPr>
        <p:spPr>
          <a:xfrm>
            <a:off x="6821424" y="4398264"/>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Xác minh CAR</a:t>
            </a:r>
            <a:endParaRPr lang="en-US" sz="850" dirty="0"/>
          </a:p>
        </p:txBody>
      </p:sp>
      <p:sp>
        <p:nvSpPr>
          <p:cNvPr id="55" name="Text 53"/>
          <p:cNvSpPr/>
          <p:nvPr/>
        </p:nvSpPr>
        <p:spPr>
          <a:xfrm>
            <a:off x="6821424" y="4526280"/>
            <a:ext cx="1792224" cy="128016"/>
          </a:xfrm>
          <a:prstGeom prst="rect">
            <a:avLst/>
          </a:prstGeom>
          <a:noFill/>
          <a:ln/>
        </p:spPr>
        <p:txBody>
          <a:bodyPr wrap="square" lIns="0" tIns="0" rIns="0" bIns="0" rtlCol="0" anchor="ctr"/>
          <a:lstStyle/>
          <a:p>
            <a:pPr indent="0" marL="0">
              <a:buNone/>
            </a:pPr>
            <a:r>
              <a:rPr lang="en-US" sz="850" dirty="0">
                <a:solidFill>
                  <a:srgbClr val="5C6E6C"/>
                </a:solidFill>
                <a:latin typeface="Calibri" pitchFamily="34" charset="0"/>
                <a:ea typeface="Calibri" pitchFamily="34" charset="-122"/>
                <a:cs typeface="Calibri" pitchFamily="34" charset="-120"/>
              </a:rPr>
              <a:t>· Đóng NC</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Lập kế hoạch Kiểm định — 5 Bước</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AUDIT PLANNING PROCESS</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25880"/>
            <a:ext cx="8321040" cy="59436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84048" y="1325880"/>
            <a:ext cx="502920" cy="594360"/>
          </a:xfrm>
          <a:prstGeom prst="rect">
            <a:avLst/>
          </a:prstGeom>
          <a:solidFill>
            <a:srgbClr val="00736A"/>
          </a:solidFill>
          <a:ln/>
        </p:spPr>
      </p:sp>
      <p:sp>
        <p:nvSpPr>
          <p:cNvPr id="12" name="Text 10"/>
          <p:cNvSpPr/>
          <p:nvPr/>
        </p:nvSpPr>
        <p:spPr>
          <a:xfrm>
            <a:off x="384048" y="1325880"/>
            <a:ext cx="502920" cy="594360"/>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B1</a:t>
            </a:r>
            <a:endParaRPr lang="en-US" sz="1600" dirty="0"/>
          </a:p>
        </p:txBody>
      </p:sp>
      <p:sp>
        <p:nvSpPr>
          <p:cNvPr id="13" name="Text 11"/>
          <p:cNvSpPr/>
          <p:nvPr/>
        </p:nvSpPr>
        <p:spPr>
          <a:xfrm>
            <a:off x="969264" y="1389888"/>
            <a:ext cx="2926080" cy="228600"/>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Xây dựng Chương trình Kiểm định</a:t>
            </a:r>
            <a:endParaRPr lang="en-US" sz="1200" dirty="0"/>
          </a:p>
        </p:txBody>
      </p:sp>
      <p:sp>
        <p:nvSpPr>
          <p:cNvPr id="14" name="Shape 12"/>
          <p:cNvSpPr/>
          <p:nvPr/>
        </p:nvSpPr>
        <p:spPr>
          <a:xfrm>
            <a:off x="4023360" y="1417320"/>
            <a:ext cx="18288" cy="411480"/>
          </a:xfrm>
          <a:prstGeom prst="rect">
            <a:avLst/>
          </a:prstGeom>
          <a:solidFill>
            <a:srgbClr val="E8EEEE"/>
          </a:solidFill>
          <a:ln/>
        </p:spPr>
      </p:sp>
      <p:sp>
        <p:nvSpPr>
          <p:cNvPr id="15" name="Text 13"/>
          <p:cNvSpPr/>
          <p:nvPr/>
        </p:nvSpPr>
        <p:spPr>
          <a:xfrm>
            <a:off x="4160520" y="1380744"/>
            <a:ext cx="4434840" cy="4846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Xác định loại, mục tiêu, phạm vi, tài liệu tham chiếu, tần suất và lịch trình kiểm định</a:t>
            </a:r>
            <a:endParaRPr lang="en-US" sz="1200" dirty="0"/>
          </a:p>
        </p:txBody>
      </p:sp>
      <p:sp>
        <p:nvSpPr>
          <p:cNvPr id="16" name="Shape 14"/>
          <p:cNvSpPr/>
          <p:nvPr/>
        </p:nvSpPr>
        <p:spPr>
          <a:xfrm>
            <a:off x="384048" y="2002536"/>
            <a:ext cx="8321040" cy="59436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384048" y="2002536"/>
            <a:ext cx="502920" cy="594360"/>
          </a:xfrm>
          <a:prstGeom prst="rect">
            <a:avLst/>
          </a:prstGeom>
          <a:solidFill>
            <a:srgbClr val="00736A"/>
          </a:solidFill>
          <a:ln/>
        </p:spPr>
      </p:sp>
      <p:sp>
        <p:nvSpPr>
          <p:cNvPr id="18" name="Text 16"/>
          <p:cNvSpPr/>
          <p:nvPr/>
        </p:nvSpPr>
        <p:spPr>
          <a:xfrm>
            <a:off x="384048" y="2002536"/>
            <a:ext cx="502920" cy="594360"/>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B2</a:t>
            </a:r>
            <a:endParaRPr lang="en-US" sz="1600" dirty="0"/>
          </a:p>
        </p:txBody>
      </p:sp>
      <p:sp>
        <p:nvSpPr>
          <p:cNvPr id="19" name="Text 17"/>
          <p:cNvSpPr/>
          <p:nvPr/>
        </p:nvSpPr>
        <p:spPr>
          <a:xfrm>
            <a:off x="969264" y="2066544"/>
            <a:ext cx="2926080" cy="228600"/>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Khởi động Quy trình Kiểm định</a:t>
            </a:r>
            <a:endParaRPr lang="en-US" sz="1200" dirty="0"/>
          </a:p>
        </p:txBody>
      </p:sp>
      <p:sp>
        <p:nvSpPr>
          <p:cNvPr id="20" name="Shape 18"/>
          <p:cNvSpPr/>
          <p:nvPr/>
        </p:nvSpPr>
        <p:spPr>
          <a:xfrm>
            <a:off x="4023360" y="2093976"/>
            <a:ext cx="18288" cy="411480"/>
          </a:xfrm>
          <a:prstGeom prst="rect">
            <a:avLst/>
          </a:prstGeom>
          <a:solidFill>
            <a:srgbClr val="E8EEEE"/>
          </a:solidFill>
          <a:ln/>
        </p:spPr>
      </p:sp>
      <p:sp>
        <p:nvSpPr>
          <p:cNvPr id="21" name="Text 19"/>
          <p:cNvSpPr/>
          <p:nvPr/>
        </p:nvSpPr>
        <p:spPr>
          <a:xfrm>
            <a:off x="4160520" y="2057400"/>
            <a:ext cx="4434840" cy="4846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Bổ nhiệm kiểm định viên, xác định mục tiêu, phạm vi, tiêu chí và liên hệ chính thức với auditee</a:t>
            </a:r>
            <a:endParaRPr lang="en-US" sz="1200" dirty="0"/>
          </a:p>
        </p:txBody>
      </p:sp>
      <p:sp>
        <p:nvSpPr>
          <p:cNvPr id="22" name="Shape 20"/>
          <p:cNvSpPr/>
          <p:nvPr/>
        </p:nvSpPr>
        <p:spPr>
          <a:xfrm>
            <a:off x="384048" y="2679192"/>
            <a:ext cx="8321040" cy="59436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384048" y="2679192"/>
            <a:ext cx="502920" cy="594360"/>
          </a:xfrm>
          <a:prstGeom prst="rect">
            <a:avLst/>
          </a:prstGeom>
          <a:solidFill>
            <a:srgbClr val="00736A"/>
          </a:solidFill>
          <a:ln/>
        </p:spPr>
      </p:sp>
      <p:sp>
        <p:nvSpPr>
          <p:cNvPr id="24" name="Text 22"/>
          <p:cNvSpPr/>
          <p:nvPr/>
        </p:nvSpPr>
        <p:spPr>
          <a:xfrm>
            <a:off x="384048" y="2679192"/>
            <a:ext cx="502920" cy="594360"/>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B3</a:t>
            </a:r>
            <a:endParaRPr lang="en-US" sz="1600" dirty="0"/>
          </a:p>
        </p:txBody>
      </p:sp>
      <p:sp>
        <p:nvSpPr>
          <p:cNvPr id="25" name="Text 23"/>
          <p:cNvSpPr/>
          <p:nvPr/>
        </p:nvSpPr>
        <p:spPr>
          <a:xfrm>
            <a:off x="969264" y="2743200"/>
            <a:ext cx="2926080" cy="228600"/>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Xem xét Tài liệu</a:t>
            </a:r>
            <a:endParaRPr lang="en-US" sz="1200" dirty="0"/>
          </a:p>
        </p:txBody>
      </p:sp>
      <p:sp>
        <p:nvSpPr>
          <p:cNvPr id="26" name="Shape 24"/>
          <p:cNvSpPr/>
          <p:nvPr/>
        </p:nvSpPr>
        <p:spPr>
          <a:xfrm>
            <a:off x="4023360" y="2770632"/>
            <a:ext cx="18288" cy="411480"/>
          </a:xfrm>
          <a:prstGeom prst="rect">
            <a:avLst/>
          </a:prstGeom>
          <a:solidFill>
            <a:srgbClr val="E8EEEE"/>
          </a:solidFill>
          <a:ln/>
        </p:spPr>
      </p:sp>
      <p:sp>
        <p:nvSpPr>
          <p:cNvPr id="27" name="Text 25"/>
          <p:cNvSpPr/>
          <p:nvPr/>
        </p:nvSpPr>
        <p:spPr>
          <a:xfrm>
            <a:off x="4160520" y="2734056"/>
            <a:ext cx="4434840" cy="4846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Hiểu rõ yêu cầu chứng nhận Halal, MHMS 2020 và xác định thông số quan trọng cần kiểm tra</a:t>
            </a:r>
            <a:endParaRPr lang="en-US" sz="1200" dirty="0"/>
          </a:p>
        </p:txBody>
      </p:sp>
      <p:sp>
        <p:nvSpPr>
          <p:cNvPr id="28" name="Shape 26"/>
          <p:cNvSpPr/>
          <p:nvPr/>
        </p:nvSpPr>
        <p:spPr>
          <a:xfrm>
            <a:off x="384048" y="3355848"/>
            <a:ext cx="8321040" cy="59436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384048" y="3355848"/>
            <a:ext cx="502920" cy="594360"/>
          </a:xfrm>
          <a:prstGeom prst="rect">
            <a:avLst/>
          </a:prstGeom>
          <a:solidFill>
            <a:srgbClr val="00736A"/>
          </a:solidFill>
          <a:ln/>
        </p:spPr>
      </p:sp>
      <p:sp>
        <p:nvSpPr>
          <p:cNvPr id="30" name="Text 28"/>
          <p:cNvSpPr/>
          <p:nvPr/>
        </p:nvSpPr>
        <p:spPr>
          <a:xfrm>
            <a:off x="384048" y="3355848"/>
            <a:ext cx="502920" cy="594360"/>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B4</a:t>
            </a:r>
            <a:endParaRPr lang="en-US" sz="1600" dirty="0"/>
          </a:p>
        </p:txBody>
      </p:sp>
      <p:sp>
        <p:nvSpPr>
          <p:cNvPr id="31" name="Text 29"/>
          <p:cNvSpPr/>
          <p:nvPr/>
        </p:nvSpPr>
        <p:spPr>
          <a:xfrm>
            <a:off x="969264" y="3419856"/>
            <a:ext cx="2926080" cy="228600"/>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Chuẩn bị Công cụ Kiểm định</a:t>
            </a:r>
            <a:endParaRPr lang="en-US" sz="1200" dirty="0"/>
          </a:p>
        </p:txBody>
      </p:sp>
      <p:sp>
        <p:nvSpPr>
          <p:cNvPr id="32" name="Shape 30"/>
          <p:cNvSpPr/>
          <p:nvPr/>
        </p:nvSpPr>
        <p:spPr>
          <a:xfrm>
            <a:off x="4023360" y="3447288"/>
            <a:ext cx="18288" cy="411480"/>
          </a:xfrm>
          <a:prstGeom prst="rect">
            <a:avLst/>
          </a:prstGeom>
          <a:solidFill>
            <a:srgbClr val="E8EEEE"/>
          </a:solidFill>
          <a:ln/>
        </p:spPr>
      </p:sp>
      <p:sp>
        <p:nvSpPr>
          <p:cNvPr id="33" name="Text 31"/>
          <p:cNvSpPr/>
          <p:nvPr/>
        </p:nvSpPr>
        <p:spPr>
          <a:xfrm>
            <a:off x="4160520" y="3410712"/>
            <a:ext cx="4434840" cy="4846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PPE, thiết bị quan sát, hồ sơ tham chiếu, mẫu ghi chép (Audit Checklist, NC Report, v.v.)</a:t>
            </a:r>
            <a:endParaRPr lang="en-US" sz="1200" dirty="0"/>
          </a:p>
        </p:txBody>
      </p:sp>
      <p:sp>
        <p:nvSpPr>
          <p:cNvPr id="34" name="Shape 32"/>
          <p:cNvSpPr/>
          <p:nvPr/>
        </p:nvSpPr>
        <p:spPr>
          <a:xfrm>
            <a:off x="384048" y="4032504"/>
            <a:ext cx="8321040" cy="59436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35" name="Shape 33"/>
          <p:cNvSpPr/>
          <p:nvPr/>
        </p:nvSpPr>
        <p:spPr>
          <a:xfrm>
            <a:off x="384048" y="4032504"/>
            <a:ext cx="502920" cy="594360"/>
          </a:xfrm>
          <a:prstGeom prst="rect">
            <a:avLst/>
          </a:prstGeom>
          <a:solidFill>
            <a:srgbClr val="00736A"/>
          </a:solidFill>
          <a:ln/>
        </p:spPr>
      </p:sp>
      <p:sp>
        <p:nvSpPr>
          <p:cNvPr id="36" name="Text 34"/>
          <p:cNvSpPr/>
          <p:nvPr/>
        </p:nvSpPr>
        <p:spPr>
          <a:xfrm>
            <a:off x="384048" y="4032504"/>
            <a:ext cx="502920" cy="594360"/>
          </a:xfrm>
          <a:prstGeom prst="rect">
            <a:avLst/>
          </a:prstGeom>
          <a:noFill/>
          <a:ln/>
        </p:spPr>
        <p:txBody>
          <a:bodyPr wrap="square" lIns="0" tIns="0" rIns="0" bIns="0" rtlCol="0" anchor="ctr"/>
          <a:lstStyle/>
          <a:p>
            <a:pPr algn="ctr" indent="0" marL="0">
              <a:buNone/>
            </a:pPr>
            <a:r>
              <a:rPr lang="en-US" sz="1600" b="1" dirty="0">
                <a:solidFill>
                  <a:srgbClr val="C9952A"/>
                </a:solidFill>
                <a:latin typeface="Calibri" pitchFamily="34" charset="0"/>
                <a:ea typeface="Calibri" pitchFamily="34" charset="-122"/>
                <a:cs typeface="Calibri" pitchFamily="34" charset="-120"/>
              </a:rPr>
              <a:t>B5</a:t>
            </a:r>
            <a:endParaRPr lang="en-US" sz="1600" dirty="0"/>
          </a:p>
        </p:txBody>
      </p:sp>
      <p:sp>
        <p:nvSpPr>
          <p:cNvPr id="37" name="Text 35"/>
          <p:cNvSpPr/>
          <p:nvPr/>
        </p:nvSpPr>
        <p:spPr>
          <a:xfrm>
            <a:off x="969264" y="4096512"/>
            <a:ext cx="2926080" cy="228600"/>
          </a:xfrm>
          <a:prstGeom prst="rect">
            <a:avLst/>
          </a:prstGeom>
          <a:noFill/>
          <a:ln/>
        </p:spPr>
        <p:txBody>
          <a:bodyPr wrap="square" lIns="0" tIns="0" rIns="0" bIns="0" rtlCol="0" anchor="ctr"/>
          <a:lstStyle/>
          <a:p>
            <a:pPr indent="0" marL="0">
              <a:buNone/>
            </a:pPr>
            <a:r>
              <a:rPr lang="en-US" sz="1200" b="1" dirty="0">
                <a:solidFill>
                  <a:srgbClr val="00736A"/>
                </a:solidFill>
                <a:latin typeface="Calibri" pitchFamily="34" charset="0"/>
                <a:ea typeface="Calibri" pitchFamily="34" charset="-122"/>
                <a:cs typeface="Calibri" pitchFamily="34" charset="-120"/>
              </a:rPr>
              <a:t>Thông báo cho Auditee</a:t>
            </a:r>
            <a:endParaRPr lang="en-US" sz="1200" dirty="0"/>
          </a:p>
        </p:txBody>
      </p:sp>
      <p:sp>
        <p:nvSpPr>
          <p:cNvPr id="38" name="Shape 36"/>
          <p:cNvSpPr/>
          <p:nvPr/>
        </p:nvSpPr>
        <p:spPr>
          <a:xfrm>
            <a:off x="4023360" y="4123944"/>
            <a:ext cx="18288" cy="411480"/>
          </a:xfrm>
          <a:prstGeom prst="rect">
            <a:avLst/>
          </a:prstGeom>
          <a:solidFill>
            <a:srgbClr val="E8EEEE"/>
          </a:solidFill>
          <a:ln/>
        </p:spPr>
      </p:sp>
      <p:sp>
        <p:nvSpPr>
          <p:cNvPr id="39" name="Text 37"/>
          <p:cNvSpPr/>
          <p:nvPr/>
        </p:nvSpPr>
        <p:spPr>
          <a:xfrm>
            <a:off x="4160520" y="4087368"/>
            <a:ext cx="4434840" cy="4846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Liên hệ chính thức về kế hoạch kiểm định, xác nhận thỏa thuận về phạm vi, lịch trình và bảo mật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Checklist Kiểm định Halal</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MỤC ĐÍCH &amp; CÁCH XÂY DỰNG</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Text 8"/>
          <p:cNvSpPr/>
          <p:nvPr/>
        </p:nvSpPr>
        <p:spPr>
          <a:xfrm>
            <a:off x="384048" y="1325880"/>
            <a:ext cx="8321040" cy="274320"/>
          </a:xfrm>
          <a:prstGeom prst="rect">
            <a:avLst/>
          </a:prstGeom>
          <a:noFill/>
          <a:ln/>
        </p:spPr>
        <p:txBody>
          <a:bodyPr wrap="square" lIns="0" tIns="0" rIns="0" bIns="0" rtlCol="0" anchor="ctr"/>
          <a:lstStyle/>
          <a:p>
            <a:pPr indent="0" marL="0">
              <a:buNone/>
            </a:pPr>
            <a:r>
              <a:rPr lang="en-US" sz="1400" b="1" dirty="0">
                <a:solidFill>
                  <a:srgbClr val="00736A"/>
                </a:solidFill>
                <a:latin typeface="Calibri" pitchFamily="34" charset="0"/>
                <a:ea typeface="Calibri" pitchFamily="34" charset="-122"/>
                <a:cs typeface="Calibri" pitchFamily="34" charset="-120"/>
              </a:rPr>
              <a:t>Tại sao cần Audit Checklist?</a:t>
            </a:r>
            <a:endParaRPr lang="en-US" sz="1400" dirty="0"/>
          </a:p>
        </p:txBody>
      </p:sp>
      <p:sp>
        <p:nvSpPr>
          <p:cNvPr id="11" name="Text 9"/>
          <p:cNvSpPr/>
          <p:nvPr/>
        </p:nvSpPr>
        <p:spPr>
          <a:xfrm>
            <a:off x="384048" y="1691640"/>
            <a:ext cx="4023360" cy="1554480"/>
          </a:xfrm>
          <a:prstGeom prst="rect">
            <a:avLst/>
          </a:prstGeom>
          <a:noFill/>
          <a:ln/>
        </p:spPr>
        <p:txBody>
          <a:bodyPr wrap="square" rtlCol="0" anchor="ctr"/>
          <a:lstStyle/>
          <a:p>
            <a:pPr marL="342900" indent="-342900">
              <a:spcAft>
                <a:spcPts val="600"/>
              </a:spcAft>
              <a:buSzPct val="100000"/>
              <a:buChar char="•"/>
            </a:pPr>
            <a:r>
              <a:rPr lang="en-US" sz="1200" dirty="0">
                <a:solidFill>
                  <a:srgbClr val="1A2E2C"/>
                </a:solidFill>
                <a:latin typeface="Calibri" pitchFamily="34" charset="0"/>
                <a:ea typeface="Calibri" pitchFamily="34" charset="-122"/>
                <a:cs typeface="Calibri" pitchFamily="34" charset="-120"/>
              </a:rPr>
              <a:t>Bằng chứng kiểm định đã được thực hiện</a:t>
            </a:r>
            <a:endParaRPr lang="en-US" sz="1200" dirty="0"/>
          </a:p>
          <a:p>
            <a:pPr marL="342900" indent="-342900">
              <a:spcAft>
                <a:spcPts val="600"/>
              </a:spcAft>
              <a:buSzPct val="100000"/>
              <a:buChar char="•"/>
            </a:pPr>
            <a:r>
              <a:rPr lang="en-US" sz="1200" dirty="0">
                <a:solidFill>
                  <a:srgbClr val="1A2E2C"/>
                </a:solidFill>
                <a:latin typeface="Calibri" pitchFamily="34" charset="0"/>
                <a:ea typeface="Calibri" pitchFamily="34" charset="-122"/>
                <a:cs typeface="Calibri" pitchFamily="34" charset="-120"/>
              </a:rPr>
              <a:t>Đảm bảo kiểm định có hệ thống</a:t>
            </a:r>
            <a:endParaRPr lang="en-US" sz="1200" dirty="0"/>
          </a:p>
          <a:p>
            <a:pPr marL="342900" indent="-342900">
              <a:spcAft>
                <a:spcPts val="600"/>
              </a:spcAft>
              <a:buSzPct val="100000"/>
              <a:buChar char="•"/>
            </a:pPr>
            <a:r>
              <a:rPr lang="en-US" sz="1200" dirty="0">
                <a:solidFill>
                  <a:srgbClr val="1A2E2C"/>
                </a:solidFill>
                <a:latin typeface="Calibri" pitchFamily="34" charset="0"/>
                <a:ea typeface="Calibri" pitchFamily="34" charset="-122"/>
                <a:cs typeface="Calibri" pitchFamily="34" charset="-120"/>
              </a:rPr>
              <a:t>Duy trì cách tiếp cận nhất quán</a:t>
            </a:r>
            <a:endParaRPr lang="en-US" sz="1200" dirty="0"/>
          </a:p>
          <a:p>
            <a:pPr marL="342900" indent="-342900">
              <a:spcAft>
                <a:spcPts val="600"/>
              </a:spcAft>
              <a:buSzPct val="100000"/>
              <a:buChar char="•"/>
            </a:pPr>
            <a:r>
              <a:rPr lang="en-US" sz="1200" dirty="0">
                <a:solidFill>
                  <a:srgbClr val="1A2E2C"/>
                </a:solidFill>
                <a:latin typeface="Calibri" pitchFamily="34" charset="0"/>
                <a:ea typeface="Calibri" pitchFamily="34" charset="-122"/>
                <a:cs typeface="Calibri" pitchFamily="34" charset="-120"/>
              </a:rPr>
              <a:t>Hỗ trợ quy trình kiểm định của tổ chức</a:t>
            </a:r>
            <a:endParaRPr lang="en-US" sz="1200" dirty="0"/>
          </a:p>
        </p:txBody>
      </p:sp>
      <p:sp>
        <p:nvSpPr>
          <p:cNvPr id="12" name="Shape 10"/>
          <p:cNvSpPr/>
          <p:nvPr/>
        </p:nvSpPr>
        <p:spPr>
          <a:xfrm>
            <a:off x="4572000" y="1691640"/>
            <a:ext cx="18288" cy="1321308"/>
          </a:xfrm>
          <a:prstGeom prst="rect">
            <a:avLst/>
          </a:prstGeom>
          <a:solidFill>
            <a:srgbClr val="E8EEEE"/>
          </a:solidFill>
          <a:ln/>
        </p:spPr>
      </p:sp>
      <p:sp>
        <p:nvSpPr>
          <p:cNvPr id="13" name="Text 11"/>
          <p:cNvSpPr/>
          <p:nvPr/>
        </p:nvSpPr>
        <p:spPr>
          <a:xfrm>
            <a:off x="4709160" y="1691640"/>
            <a:ext cx="4023360" cy="1554480"/>
          </a:xfrm>
          <a:prstGeom prst="rect">
            <a:avLst/>
          </a:prstGeom>
          <a:noFill/>
          <a:ln/>
        </p:spPr>
        <p:txBody>
          <a:bodyPr wrap="square" rtlCol="0" anchor="ctr"/>
          <a:lstStyle/>
          <a:p>
            <a:pPr marL="342900" indent="-342900">
              <a:spcAft>
                <a:spcPts val="600"/>
              </a:spcAft>
              <a:buSzPct val="100000"/>
              <a:buChar char="•"/>
            </a:pPr>
            <a:r>
              <a:rPr lang="en-US" sz="1200" dirty="0">
                <a:solidFill>
                  <a:srgbClr val="1A2E2C"/>
                </a:solidFill>
                <a:latin typeface="Calibri" pitchFamily="34" charset="0"/>
                <a:ea typeface="Calibri" pitchFamily="34" charset="-122"/>
                <a:cs typeface="Calibri" pitchFamily="34" charset="-120"/>
              </a:rPr>
              <a:t>Nguồn tham chiếu ghi chú trong kiểm định</a:t>
            </a:r>
            <a:endParaRPr lang="en-US" sz="1200" dirty="0"/>
          </a:p>
          <a:p>
            <a:pPr marL="342900" indent="-342900">
              <a:spcAft>
                <a:spcPts val="600"/>
              </a:spcAft>
              <a:buSzPct val="100000"/>
              <a:buChar char="•"/>
            </a:pPr>
            <a:r>
              <a:rPr lang="en-US" sz="1200" dirty="0">
                <a:solidFill>
                  <a:srgbClr val="1A2E2C"/>
                </a:solidFill>
                <a:latin typeface="Calibri" pitchFamily="34" charset="0"/>
                <a:ea typeface="Calibri" pitchFamily="34" charset="-122"/>
                <a:cs typeface="Calibri" pitchFamily="34" charset="-120"/>
              </a:rPr>
              <a:t>Đảm bảo tính đồng đều giữa các kiểm định viên</a:t>
            </a:r>
            <a:endParaRPr lang="en-US" sz="1200" dirty="0"/>
          </a:p>
          <a:p>
            <a:pPr marL="342900" indent="-342900">
              <a:spcAft>
                <a:spcPts val="600"/>
              </a:spcAft>
              <a:buSzPct val="100000"/>
              <a:buChar char="•"/>
            </a:pPr>
            <a:r>
              <a:rPr lang="en-US" sz="1200" dirty="0">
                <a:solidFill>
                  <a:srgbClr val="1A2E2C"/>
                </a:solidFill>
                <a:latin typeface="Calibri" pitchFamily="34" charset="0"/>
                <a:ea typeface="Calibri" pitchFamily="34" charset="-122"/>
                <a:cs typeface="Calibri" pitchFamily="34" charset="-120"/>
              </a:rPr>
              <a:t>Cung cấp bằng chứng khách quan</a:t>
            </a:r>
            <a:endParaRPr lang="en-US" sz="1200" dirty="0"/>
          </a:p>
          <a:p>
            <a:pPr marL="342900" indent="-342900">
              <a:spcAft>
                <a:spcPts val="600"/>
              </a:spcAft>
              <a:buSzPct val="100000"/>
              <a:buChar char="•"/>
            </a:pPr>
            <a:r>
              <a:rPr lang="en-US" sz="1200" dirty="0">
                <a:solidFill>
                  <a:srgbClr val="1A2E2C"/>
                </a:solidFill>
                <a:latin typeface="Calibri" pitchFamily="34" charset="0"/>
                <a:ea typeface="Calibri" pitchFamily="34" charset="-122"/>
                <a:cs typeface="Calibri" pitchFamily="34" charset="-120"/>
              </a:rPr>
              <a:t>Hỗ trợ chuẩn bị báo cáo kết thúc</a:t>
            </a:r>
            <a:endParaRPr lang="en-US" sz="1200" dirty="0"/>
          </a:p>
        </p:txBody>
      </p:sp>
      <p:sp>
        <p:nvSpPr>
          <p:cNvPr id="14" name="Shape 12"/>
          <p:cNvSpPr/>
          <p:nvPr/>
        </p:nvSpPr>
        <p:spPr>
          <a:xfrm>
            <a:off x="384048" y="3364992"/>
            <a:ext cx="8321040" cy="18288"/>
          </a:xfrm>
          <a:prstGeom prst="rect">
            <a:avLst/>
          </a:prstGeom>
          <a:solidFill>
            <a:srgbClr val="E8EEEE"/>
          </a:solidFill>
          <a:ln/>
        </p:spPr>
      </p:sp>
      <p:sp>
        <p:nvSpPr>
          <p:cNvPr id="15" name="Text 13"/>
          <p:cNvSpPr/>
          <p:nvPr/>
        </p:nvSpPr>
        <p:spPr>
          <a:xfrm>
            <a:off x="384048" y="3429000"/>
            <a:ext cx="8321040" cy="256032"/>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3 bước xây dựng Checklist:</a:t>
            </a:r>
            <a:endParaRPr lang="en-US" sz="1300" dirty="0"/>
          </a:p>
        </p:txBody>
      </p:sp>
      <p:sp>
        <p:nvSpPr>
          <p:cNvPr id="16" name="Shape 14"/>
          <p:cNvSpPr/>
          <p:nvPr/>
        </p:nvSpPr>
        <p:spPr>
          <a:xfrm>
            <a:off x="384048" y="3749040"/>
            <a:ext cx="2670048" cy="987552"/>
          </a:xfrm>
          <a:prstGeom prst="rect">
            <a:avLst/>
          </a:prstGeom>
          <a:solidFill>
            <a:srgbClr val="E0F4F2"/>
          </a:solidFill>
          <a:ln w="6350">
            <a:solidFill>
              <a:srgbClr val="009B8E"/>
            </a:solidFill>
            <a:prstDash val="solid"/>
          </a:ln>
          <a:effectLst>
            <a:outerShdw sx="100000" sy="100000" kx="0" ky="0" algn="bl" rotWithShape="0" blurRad="101600" dist="38100" dir="8100000">
              <a:srgbClr val="000000">
                <a:alpha val="10000"/>
              </a:srgbClr>
            </a:outerShdw>
          </a:effectLst>
        </p:spPr>
      </p:sp>
      <p:sp>
        <p:nvSpPr>
          <p:cNvPr id="17" name="Text 15"/>
          <p:cNvSpPr/>
          <p:nvPr/>
        </p:nvSpPr>
        <p:spPr>
          <a:xfrm>
            <a:off x="475488" y="3776472"/>
            <a:ext cx="365760" cy="347472"/>
          </a:xfrm>
          <a:prstGeom prst="rect">
            <a:avLst/>
          </a:prstGeom>
          <a:noFill/>
          <a:ln/>
        </p:spPr>
        <p:txBody>
          <a:bodyPr wrap="square" lIns="0" tIns="0" rIns="0" bIns="0" rtlCol="0" anchor="ctr"/>
          <a:lstStyle/>
          <a:p>
            <a:pPr indent="0" marL="0">
              <a:buNone/>
            </a:pPr>
            <a:r>
              <a:rPr lang="en-US" sz="1600" b="1" dirty="0">
                <a:solidFill>
                  <a:srgbClr val="00736A"/>
                </a:solidFill>
                <a:latin typeface="Calibri" pitchFamily="34" charset="0"/>
                <a:ea typeface="Calibri" pitchFamily="34" charset="-122"/>
                <a:cs typeface="Calibri" pitchFamily="34" charset="-120"/>
              </a:rPr>
              <a:t>B1</a:t>
            </a:r>
            <a:endParaRPr lang="en-US" sz="1600" dirty="0"/>
          </a:p>
        </p:txBody>
      </p:sp>
      <p:sp>
        <p:nvSpPr>
          <p:cNvPr id="18" name="Text 16"/>
          <p:cNvSpPr/>
          <p:nvPr/>
        </p:nvSpPr>
        <p:spPr>
          <a:xfrm>
            <a:off x="841248" y="3776472"/>
            <a:ext cx="2103120" cy="320040"/>
          </a:xfrm>
          <a:prstGeom prst="rect">
            <a:avLst/>
          </a:prstGeom>
          <a:noFill/>
          <a:ln/>
        </p:spPr>
        <p:txBody>
          <a:bodyPr wrap="square" lIns="0" tIns="0" rIns="0" bIns="0" rtlCol="0" anchor="ctr"/>
          <a:lstStyle/>
          <a:p>
            <a:pPr indent="0" marL="0">
              <a:buNone/>
            </a:pPr>
            <a:r>
              <a:rPr lang="en-US" sz="1100" b="1" dirty="0">
                <a:solidFill>
                  <a:srgbClr val="00736A"/>
                </a:solidFill>
                <a:latin typeface="Calibri" pitchFamily="34" charset="0"/>
                <a:ea typeface="Calibri" pitchFamily="34" charset="-122"/>
                <a:cs typeface="Calibri" pitchFamily="34" charset="-120"/>
              </a:rPr>
              <a:t>Xác định Tiêu chí kiểm định</a:t>
            </a:r>
            <a:endParaRPr lang="en-US" sz="1100" dirty="0"/>
          </a:p>
        </p:txBody>
      </p:sp>
      <p:sp>
        <p:nvSpPr>
          <p:cNvPr id="19" name="Text 17"/>
          <p:cNvSpPr/>
          <p:nvPr/>
        </p:nvSpPr>
        <p:spPr>
          <a:xfrm>
            <a:off x="493776" y="4133088"/>
            <a:ext cx="2468880" cy="502920"/>
          </a:xfrm>
          <a:prstGeom prst="rect">
            <a:avLst/>
          </a:prstGeom>
          <a:noFill/>
          <a:ln/>
        </p:spPr>
        <p:txBody>
          <a:bodyPr wrap="square" lIns="0" tIns="0" rIns="0" bIns="0" rtlCol="0" anchor="ctr"/>
          <a:lstStyle/>
          <a:p>
            <a:pPr indent="0" marL="0">
              <a:buNone/>
            </a:pPr>
            <a:r>
              <a:rPr lang="en-US" sz="1100" dirty="0">
                <a:solidFill>
                  <a:srgbClr val="5C6E6C"/>
                </a:solidFill>
                <a:latin typeface="Calibri" pitchFamily="34" charset="0"/>
                <a:ea typeface="Calibri" pitchFamily="34" charset="-122"/>
                <a:cs typeface="Calibri" pitchFamily="34" charset="-120"/>
              </a:rPr>
              <a:t>Các yêu cầu từ HAS, Halal Standards, MHCMP</a:t>
            </a:r>
            <a:endParaRPr lang="en-US" sz="1100" dirty="0"/>
          </a:p>
        </p:txBody>
      </p:sp>
      <p:sp>
        <p:nvSpPr>
          <p:cNvPr id="20" name="Shape 18"/>
          <p:cNvSpPr/>
          <p:nvPr/>
        </p:nvSpPr>
        <p:spPr>
          <a:xfrm>
            <a:off x="3200400" y="3749040"/>
            <a:ext cx="2670048" cy="987552"/>
          </a:xfrm>
          <a:prstGeom prst="rect">
            <a:avLst/>
          </a:prstGeom>
          <a:solidFill>
            <a:srgbClr val="E0F4F2"/>
          </a:solidFill>
          <a:ln w="6350">
            <a:solidFill>
              <a:srgbClr val="009B8E"/>
            </a:solidFill>
            <a:prstDash val="solid"/>
          </a:ln>
          <a:effectLst>
            <a:outerShdw sx="100000" sy="100000" kx="0" ky="0" algn="bl" rotWithShape="0" blurRad="101600" dist="38100" dir="8100000">
              <a:srgbClr val="000000">
                <a:alpha val="10000"/>
              </a:srgbClr>
            </a:outerShdw>
          </a:effectLst>
        </p:spPr>
      </p:sp>
      <p:sp>
        <p:nvSpPr>
          <p:cNvPr id="21" name="Text 19"/>
          <p:cNvSpPr/>
          <p:nvPr/>
        </p:nvSpPr>
        <p:spPr>
          <a:xfrm>
            <a:off x="3291840" y="3776472"/>
            <a:ext cx="365760" cy="347472"/>
          </a:xfrm>
          <a:prstGeom prst="rect">
            <a:avLst/>
          </a:prstGeom>
          <a:noFill/>
          <a:ln/>
        </p:spPr>
        <p:txBody>
          <a:bodyPr wrap="square" lIns="0" tIns="0" rIns="0" bIns="0" rtlCol="0" anchor="ctr"/>
          <a:lstStyle/>
          <a:p>
            <a:pPr indent="0" marL="0">
              <a:buNone/>
            </a:pPr>
            <a:r>
              <a:rPr lang="en-US" sz="1600" b="1" dirty="0">
                <a:solidFill>
                  <a:srgbClr val="00736A"/>
                </a:solidFill>
                <a:latin typeface="Calibri" pitchFamily="34" charset="0"/>
                <a:ea typeface="Calibri" pitchFamily="34" charset="-122"/>
                <a:cs typeface="Calibri" pitchFamily="34" charset="-120"/>
              </a:rPr>
              <a:t>B2</a:t>
            </a:r>
            <a:endParaRPr lang="en-US" sz="1600" dirty="0"/>
          </a:p>
        </p:txBody>
      </p:sp>
      <p:sp>
        <p:nvSpPr>
          <p:cNvPr id="22" name="Text 20"/>
          <p:cNvSpPr/>
          <p:nvPr/>
        </p:nvSpPr>
        <p:spPr>
          <a:xfrm>
            <a:off x="3657600" y="3776472"/>
            <a:ext cx="2103120" cy="320040"/>
          </a:xfrm>
          <a:prstGeom prst="rect">
            <a:avLst/>
          </a:prstGeom>
          <a:noFill/>
          <a:ln/>
        </p:spPr>
        <p:txBody>
          <a:bodyPr wrap="square" lIns="0" tIns="0" rIns="0" bIns="0" rtlCol="0" anchor="ctr"/>
          <a:lstStyle/>
          <a:p>
            <a:pPr indent="0" marL="0">
              <a:buNone/>
            </a:pPr>
            <a:r>
              <a:rPr lang="en-US" sz="1100" b="1" dirty="0">
                <a:solidFill>
                  <a:srgbClr val="00736A"/>
                </a:solidFill>
                <a:latin typeface="Calibri" pitchFamily="34" charset="0"/>
                <a:ea typeface="Calibri" pitchFamily="34" charset="-122"/>
                <a:cs typeface="Calibri" pitchFamily="34" charset="-120"/>
              </a:rPr>
              <a:t>Định nghĩa Điểm kiểm tra</a:t>
            </a:r>
            <a:endParaRPr lang="en-US" sz="1100" dirty="0"/>
          </a:p>
        </p:txBody>
      </p:sp>
      <p:sp>
        <p:nvSpPr>
          <p:cNvPr id="23" name="Text 21"/>
          <p:cNvSpPr/>
          <p:nvPr/>
        </p:nvSpPr>
        <p:spPr>
          <a:xfrm>
            <a:off x="3310128" y="4133088"/>
            <a:ext cx="2468880" cy="502920"/>
          </a:xfrm>
          <a:prstGeom prst="rect">
            <a:avLst/>
          </a:prstGeom>
          <a:noFill/>
          <a:ln/>
        </p:spPr>
        <p:txBody>
          <a:bodyPr wrap="square" lIns="0" tIns="0" rIns="0" bIns="0" rtlCol="0" anchor="ctr"/>
          <a:lstStyle/>
          <a:p>
            <a:pPr indent="0" marL="0">
              <a:buNone/>
            </a:pPr>
            <a:r>
              <a:rPr lang="en-US" sz="1100" dirty="0">
                <a:solidFill>
                  <a:srgbClr val="5C6E6C"/>
                </a:solidFill>
                <a:latin typeface="Calibri" pitchFamily="34" charset="0"/>
                <a:ea typeface="Calibri" pitchFamily="34" charset="-122"/>
                <a:cs typeface="Calibri" pitchFamily="34" charset="-120"/>
              </a:rPr>
              <a:t>Thông số quan trọng từ tất cả tài liệu tham chiếu</a:t>
            </a:r>
            <a:endParaRPr lang="en-US" sz="1100" dirty="0"/>
          </a:p>
        </p:txBody>
      </p:sp>
      <p:sp>
        <p:nvSpPr>
          <p:cNvPr id="24" name="Shape 22"/>
          <p:cNvSpPr/>
          <p:nvPr/>
        </p:nvSpPr>
        <p:spPr>
          <a:xfrm>
            <a:off x="6016752" y="3749040"/>
            <a:ext cx="2670048" cy="987552"/>
          </a:xfrm>
          <a:prstGeom prst="rect">
            <a:avLst/>
          </a:prstGeom>
          <a:solidFill>
            <a:srgbClr val="E0F4F2"/>
          </a:solidFill>
          <a:ln w="6350">
            <a:solidFill>
              <a:srgbClr val="009B8E"/>
            </a:solidFill>
            <a:prstDash val="solid"/>
          </a:ln>
          <a:effectLst>
            <a:outerShdw sx="100000" sy="100000" kx="0" ky="0" algn="bl" rotWithShape="0" blurRad="101600" dist="38100" dir="8100000">
              <a:srgbClr val="000000">
                <a:alpha val="10000"/>
              </a:srgbClr>
            </a:outerShdw>
          </a:effectLst>
        </p:spPr>
      </p:sp>
      <p:sp>
        <p:nvSpPr>
          <p:cNvPr id="25" name="Text 23"/>
          <p:cNvSpPr/>
          <p:nvPr/>
        </p:nvSpPr>
        <p:spPr>
          <a:xfrm>
            <a:off x="6108192" y="3776472"/>
            <a:ext cx="365760" cy="347472"/>
          </a:xfrm>
          <a:prstGeom prst="rect">
            <a:avLst/>
          </a:prstGeom>
          <a:noFill/>
          <a:ln/>
        </p:spPr>
        <p:txBody>
          <a:bodyPr wrap="square" lIns="0" tIns="0" rIns="0" bIns="0" rtlCol="0" anchor="ctr"/>
          <a:lstStyle/>
          <a:p>
            <a:pPr indent="0" marL="0">
              <a:buNone/>
            </a:pPr>
            <a:r>
              <a:rPr lang="en-US" sz="1600" b="1" dirty="0">
                <a:solidFill>
                  <a:srgbClr val="00736A"/>
                </a:solidFill>
                <a:latin typeface="Calibri" pitchFamily="34" charset="0"/>
                <a:ea typeface="Calibri" pitchFamily="34" charset="-122"/>
                <a:cs typeface="Calibri" pitchFamily="34" charset="-120"/>
              </a:rPr>
              <a:t>B3</a:t>
            </a:r>
            <a:endParaRPr lang="en-US" sz="1600" dirty="0"/>
          </a:p>
        </p:txBody>
      </p:sp>
      <p:sp>
        <p:nvSpPr>
          <p:cNvPr id="26" name="Text 24"/>
          <p:cNvSpPr/>
          <p:nvPr/>
        </p:nvSpPr>
        <p:spPr>
          <a:xfrm>
            <a:off x="6473952" y="3776472"/>
            <a:ext cx="2103120" cy="320040"/>
          </a:xfrm>
          <a:prstGeom prst="rect">
            <a:avLst/>
          </a:prstGeom>
          <a:noFill/>
          <a:ln/>
        </p:spPr>
        <p:txBody>
          <a:bodyPr wrap="square" lIns="0" tIns="0" rIns="0" bIns="0" rtlCol="0" anchor="ctr"/>
          <a:lstStyle/>
          <a:p>
            <a:pPr indent="0" marL="0">
              <a:buNone/>
            </a:pPr>
            <a:r>
              <a:rPr lang="en-US" sz="1100" b="1" dirty="0">
                <a:solidFill>
                  <a:srgbClr val="00736A"/>
                </a:solidFill>
                <a:latin typeface="Calibri" pitchFamily="34" charset="0"/>
                <a:ea typeface="Calibri" pitchFamily="34" charset="-122"/>
                <a:cs typeface="Calibri" pitchFamily="34" charset="-120"/>
              </a:rPr>
              <a:t>Xác định Phương pháp &amp; Bằng chứng</a:t>
            </a:r>
            <a:endParaRPr lang="en-US" sz="1100" dirty="0"/>
          </a:p>
        </p:txBody>
      </p:sp>
      <p:sp>
        <p:nvSpPr>
          <p:cNvPr id="27" name="Text 25"/>
          <p:cNvSpPr/>
          <p:nvPr/>
        </p:nvSpPr>
        <p:spPr>
          <a:xfrm>
            <a:off x="6126480" y="4133088"/>
            <a:ext cx="2468880" cy="502920"/>
          </a:xfrm>
          <a:prstGeom prst="rect">
            <a:avLst/>
          </a:prstGeom>
          <a:noFill/>
          <a:ln/>
        </p:spPr>
        <p:txBody>
          <a:bodyPr wrap="square" lIns="0" tIns="0" rIns="0" bIns="0" rtlCol="0" anchor="ctr"/>
          <a:lstStyle/>
          <a:p>
            <a:pPr indent="0" marL="0">
              <a:buNone/>
            </a:pPr>
            <a:r>
              <a:rPr lang="en-US" sz="1100" dirty="0">
                <a:solidFill>
                  <a:srgbClr val="5C6E6C"/>
                </a:solidFill>
                <a:latin typeface="Calibri" pitchFamily="34" charset="0"/>
                <a:ea typeface="Calibri" pitchFamily="34" charset="-122"/>
                <a:cs typeface="Calibri" pitchFamily="34" charset="-120"/>
              </a:rPr>
              <a:t>Quan sát · Xem xét tài liệu · Phỏng vấn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Bằng chứng Kiểm định (Audit Evidence)</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THU THẬP &amp; ĐÁNH GIÁ BẰNG CHỨNG</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25880"/>
            <a:ext cx="8321040" cy="1188720"/>
          </a:xfrm>
          <a:prstGeom prst="rect">
            <a:avLst/>
          </a:prstGeom>
          <a:solidFill>
            <a:srgbClr val="00736A"/>
          </a:solidFill>
          <a:ln/>
          <a:effectLst>
            <a:outerShdw sx="100000" sy="100000" kx="0" ky="0" algn="bl" rotWithShape="0" blurRad="101600" dist="38100" dir="8100000">
              <a:srgbClr val="000000">
                <a:alpha val="10000"/>
              </a:srgbClr>
            </a:outerShdw>
          </a:effectLst>
        </p:spPr>
      </p:sp>
      <p:sp>
        <p:nvSpPr>
          <p:cNvPr id="11" name="Text 9"/>
          <p:cNvSpPr/>
          <p:nvPr/>
        </p:nvSpPr>
        <p:spPr>
          <a:xfrm>
            <a:off x="548640" y="1389888"/>
            <a:ext cx="79552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Audit Evidence — Bằng chứng Kiểm định</a:t>
            </a:r>
            <a:endParaRPr lang="en-US" sz="2200" dirty="0"/>
          </a:p>
        </p:txBody>
      </p:sp>
      <p:sp>
        <p:nvSpPr>
          <p:cNvPr id="12" name="Shape 10"/>
          <p:cNvSpPr/>
          <p:nvPr/>
        </p:nvSpPr>
        <p:spPr>
          <a:xfrm>
            <a:off x="384048" y="2606040"/>
            <a:ext cx="8321040" cy="1737360"/>
          </a:xfrm>
          <a:prstGeom prst="rect">
            <a:avLst/>
          </a:prstGeom>
          <a:solidFill>
            <a:srgbClr val="F8FAFA"/>
          </a:solidFill>
          <a:ln w="6350">
            <a:solidFill>
              <a:srgbClr val="E8EEEE"/>
            </a:solidFill>
            <a:prstDash val="solid"/>
          </a:ln>
        </p:spPr>
      </p:sp>
      <p:sp>
        <p:nvSpPr>
          <p:cNvPr id="13" name="Text 11"/>
          <p:cNvSpPr/>
          <p:nvPr/>
        </p:nvSpPr>
        <p:spPr>
          <a:xfrm>
            <a:off x="640080" y="2670048"/>
            <a:ext cx="7863840" cy="1600200"/>
          </a:xfrm>
          <a:prstGeom prst="rect">
            <a:avLst/>
          </a:prstGeom>
          <a:noFill/>
          <a:ln/>
        </p:spPr>
        <p:txBody>
          <a:bodyPr wrap="square" lIns="0" tIns="0" rIns="0" bIns="0" rtlCol="0" anchor="t"/>
          <a:lstStyle/>
          <a:p>
            <a:pPr indent="0" marL="0">
              <a:buNone/>
            </a:pPr>
            <a:r>
              <a:rPr lang="en-US" sz="1400" dirty="0">
                <a:solidFill>
                  <a:srgbClr val="1A2E2C"/>
                </a:solidFill>
                <a:latin typeface="Calibri" pitchFamily="34" charset="0"/>
                <a:ea typeface="Calibri" pitchFamily="34" charset="-122"/>
                <a:cs typeface="Calibri" pitchFamily="34" charset="-120"/>
              </a:rPr>
              <a:t>Hồ sơ, tuyên bố về sự việc hoặc thông tin khác có liên quan đến tiêu chí kiểm định và có thể được kiểm chứng. Bằng chứng được thu thập dựa trên hướng dẫn của HAS manual, SOP, work instructions và hồ sơ của công ty.</a:t>
            </a:r>
            <a:endParaRPr lang="en-US" sz="1400" dirty="0"/>
          </a:p>
        </p:txBody>
      </p:sp>
      <p:sp>
        <p:nvSpPr>
          <p:cNvPr id="14" name="Text 12"/>
          <p:cNvSpPr/>
          <p:nvPr/>
        </p:nvSpPr>
        <p:spPr>
          <a:xfrm>
            <a:off x="384048" y="3273552"/>
            <a:ext cx="8321040" cy="256032"/>
          </a:xfrm>
          <a:prstGeom prst="rect">
            <a:avLst/>
          </a:prstGeom>
          <a:noFill/>
          <a:ln/>
        </p:spPr>
        <p:txBody>
          <a:bodyPr wrap="square" lIns="0" tIns="0" rIns="0" bIns="0" rtlCol="0" anchor="ctr"/>
          <a:lstStyle/>
          <a:p>
            <a:pPr indent="0" marL="0">
              <a:buNone/>
            </a:pPr>
            <a:r>
              <a:rPr lang="en-US" sz="1300" b="1" dirty="0">
                <a:solidFill>
                  <a:srgbClr val="00736A"/>
                </a:solidFill>
                <a:latin typeface="Calibri" pitchFamily="34" charset="0"/>
                <a:ea typeface="Calibri" pitchFamily="34" charset="-122"/>
                <a:cs typeface="Calibri" pitchFamily="34" charset="-120"/>
              </a:rPr>
              <a:t>3 phương pháp thu thập bằng chứng:</a:t>
            </a:r>
            <a:endParaRPr lang="en-US" sz="1300" dirty="0"/>
          </a:p>
        </p:txBody>
      </p:sp>
      <p:sp>
        <p:nvSpPr>
          <p:cNvPr id="15" name="Shape 13"/>
          <p:cNvSpPr/>
          <p:nvPr/>
        </p:nvSpPr>
        <p:spPr>
          <a:xfrm>
            <a:off x="384048" y="3611880"/>
            <a:ext cx="2670048" cy="107899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84048" y="3611880"/>
            <a:ext cx="2670048" cy="329184"/>
          </a:xfrm>
          <a:prstGeom prst="rect">
            <a:avLst/>
          </a:prstGeom>
          <a:solidFill>
            <a:srgbClr val="00736A"/>
          </a:solidFill>
          <a:ln/>
        </p:spPr>
      </p:sp>
      <p:sp>
        <p:nvSpPr>
          <p:cNvPr id="17" name="Text 15"/>
          <p:cNvSpPr/>
          <p:nvPr/>
        </p:nvSpPr>
        <p:spPr>
          <a:xfrm>
            <a:off x="475488" y="3630168"/>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Quan sát / Thực hành</a:t>
            </a:r>
            <a:endParaRPr lang="en-US" sz="1100" dirty="0"/>
          </a:p>
        </p:txBody>
      </p:sp>
      <p:sp>
        <p:nvSpPr>
          <p:cNvPr id="18" name="Text 16"/>
          <p:cNvSpPr/>
          <p:nvPr/>
        </p:nvSpPr>
        <p:spPr>
          <a:xfrm>
            <a:off x="475488" y="3986784"/>
            <a:ext cx="2487168" cy="62179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Trực tiếp xem xét quy trình, cơ sở vật chất và hoạt động tại chỗ</a:t>
            </a:r>
            <a:endParaRPr lang="en-US" sz="1100" dirty="0"/>
          </a:p>
        </p:txBody>
      </p:sp>
      <p:sp>
        <p:nvSpPr>
          <p:cNvPr id="19" name="Shape 17"/>
          <p:cNvSpPr/>
          <p:nvPr/>
        </p:nvSpPr>
        <p:spPr>
          <a:xfrm>
            <a:off x="3200400" y="3611880"/>
            <a:ext cx="2670048" cy="107899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3200400" y="3611880"/>
            <a:ext cx="2670048" cy="329184"/>
          </a:xfrm>
          <a:prstGeom prst="rect">
            <a:avLst/>
          </a:prstGeom>
          <a:solidFill>
            <a:srgbClr val="009B8E"/>
          </a:solidFill>
          <a:ln/>
        </p:spPr>
      </p:sp>
      <p:sp>
        <p:nvSpPr>
          <p:cNvPr id="21" name="Text 19"/>
          <p:cNvSpPr/>
          <p:nvPr/>
        </p:nvSpPr>
        <p:spPr>
          <a:xfrm>
            <a:off x="3291840" y="3630168"/>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Xem xét Tài liệu</a:t>
            </a:r>
            <a:endParaRPr lang="en-US" sz="1100" dirty="0"/>
          </a:p>
        </p:txBody>
      </p:sp>
      <p:sp>
        <p:nvSpPr>
          <p:cNvPr id="22" name="Text 20"/>
          <p:cNvSpPr/>
          <p:nvPr/>
        </p:nvSpPr>
        <p:spPr>
          <a:xfrm>
            <a:off x="3291840" y="3986784"/>
            <a:ext cx="2487168" cy="62179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Kiểm tra hồ sơ, chứng từ, chính sách và quy trình bằng văn bản</a:t>
            </a:r>
            <a:endParaRPr lang="en-US" sz="1100" dirty="0"/>
          </a:p>
        </p:txBody>
      </p:sp>
      <p:sp>
        <p:nvSpPr>
          <p:cNvPr id="23" name="Shape 21"/>
          <p:cNvSpPr/>
          <p:nvPr/>
        </p:nvSpPr>
        <p:spPr>
          <a:xfrm>
            <a:off x="6016752" y="3611880"/>
            <a:ext cx="2670048" cy="1078992"/>
          </a:xfrm>
          <a:prstGeom prst="rect">
            <a:avLst/>
          </a:prstGeom>
          <a:solidFill>
            <a:srgbClr val="FFFFFF"/>
          </a:solidFill>
          <a:ln w="6350">
            <a:solidFill>
              <a:srgbClr val="E8EEEE"/>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6016752" y="3611880"/>
            <a:ext cx="2670048" cy="329184"/>
          </a:xfrm>
          <a:prstGeom prst="rect">
            <a:avLst/>
          </a:prstGeom>
          <a:solidFill>
            <a:srgbClr val="007A6E"/>
          </a:solidFill>
          <a:ln/>
        </p:spPr>
      </p:sp>
      <p:sp>
        <p:nvSpPr>
          <p:cNvPr id="25" name="Text 23"/>
          <p:cNvSpPr/>
          <p:nvPr/>
        </p:nvSpPr>
        <p:spPr>
          <a:xfrm>
            <a:off x="6108192" y="3630168"/>
            <a:ext cx="2468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Phỏng vấn / Hỏi đáp</a:t>
            </a:r>
            <a:endParaRPr lang="en-US" sz="1100" dirty="0"/>
          </a:p>
        </p:txBody>
      </p:sp>
      <p:sp>
        <p:nvSpPr>
          <p:cNvPr id="26" name="Text 24"/>
          <p:cNvSpPr/>
          <p:nvPr/>
        </p:nvSpPr>
        <p:spPr>
          <a:xfrm>
            <a:off x="6108192" y="3986784"/>
            <a:ext cx="2487168" cy="621792"/>
          </a:xfrm>
          <a:prstGeom prst="rect">
            <a:avLst/>
          </a:prstGeom>
          <a:noFill/>
          <a:ln/>
        </p:spPr>
        <p:txBody>
          <a:bodyPr wrap="square" lIns="0" tIns="0" rIns="0" bIns="0" rtlCol="0" anchor="ctr"/>
          <a:lstStyle/>
          <a:p>
            <a:pPr indent="0" marL="0">
              <a:buNone/>
            </a:pPr>
            <a:r>
              <a:rPr lang="en-US" sz="1100" dirty="0">
                <a:solidFill>
                  <a:srgbClr val="1A2E2C"/>
                </a:solidFill>
                <a:latin typeface="Calibri" pitchFamily="34" charset="0"/>
                <a:ea typeface="Calibri" pitchFamily="34" charset="-122"/>
                <a:cs typeface="Calibri" pitchFamily="34" charset="-120"/>
              </a:rPr>
              <a:t>Thu thập thông tin qua phỏng vấn có cấu trúc với nhân sự liên quan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Tài liệu Làm việc Kiểm định</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AUDIT WORK DOCUMENTS — HỒ SƠ QUAN TRỌNG</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Shape 8"/>
          <p:cNvSpPr/>
          <p:nvPr/>
        </p:nvSpPr>
        <p:spPr>
          <a:xfrm>
            <a:off x="384048" y="1325880"/>
            <a:ext cx="3977640" cy="64008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11" name="Text 9"/>
          <p:cNvSpPr/>
          <p:nvPr/>
        </p:nvSpPr>
        <p:spPr>
          <a:xfrm>
            <a:off x="493776" y="1389888"/>
            <a:ext cx="2560320" cy="2560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Kế hoạch Kiểm định</a:t>
            </a:r>
            <a:endParaRPr lang="en-US" sz="1200" dirty="0"/>
          </a:p>
        </p:txBody>
      </p:sp>
      <p:sp>
        <p:nvSpPr>
          <p:cNvPr id="12" name="Text 10"/>
          <p:cNvSpPr/>
          <p:nvPr/>
        </p:nvSpPr>
        <p:spPr>
          <a:xfrm>
            <a:off x="493776" y="1664208"/>
            <a:ext cx="2560320" cy="201168"/>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Audit Plan</a:t>
            </a:r>
            <a:endParaRPr lang="en-US" sz="1000" dirty="0"/>
          </a:p>
        </p:txBody>
      </p:sp>
      <p:sp>
        <p:nvSpPr>
          <p:cNvPr id="13" name="Shape 11"/>
          <p:cNvSpPr/>
          <p:nvPr/>
        </p:nvSpPr>
        <p:spPr>
          <a:xfrm>
            <a:off x="4636008" y="1325880"/>
            <a:ext cx="3977640" cy="640080"/>
          </a:xfrm>
          <a:prstGeom prst="rect">
            <a:avLst/>
          </a:prstGeom>
          <a:solidFill>
            <a:srgbClr val="E0F4F2"/>
          </a:solidFill>
          <a:ln w="10160">
            <a:solidFill>
              <a:srgbClr val="009B8E"/>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4636008" y="1325880"/>
            <a:ext cx="109728" cy="640080"/>
          </a:xfrm>
          <a:prstGeom prst="rect">
            <a:avLst/>
          </a:prstGeom>
          <a:solidFill>
            <a:srgbClr val="C9952A"/>
          </a:solidFill>
          <a:ln/>
        </p:spPr>
      </p:sp>
      <p:sp>
        <p:nvSpPr>
          <p:cNvPr id="15" name="Text 13"/>
          <p:cNvSpPr/>
          <p:nvPr/>
        </p:nvSpPr>
        <p:spPr>
          <a:xfrm>
            <a:off x="4837176" y="1389888"/>
            <a:ext cx="2560320" cy="256032"/>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Lịch trình Kiểm định</a:t>
            </a:r>
            <a:endParaRPr lang="en-US" sz="1200" dirty="0"/>
          </a:p>
        </p:txBody>
      </p:sp>
      <p:sp>
        <p:nvSpPr>
          <p:cNvPr id="16" name="Text 14"/>
          <p:cNvSpPr/>
          <p:nvPr/>
        </p:nvSpPr>
        <p:spPr>
          <a:xfrm>
            <a:off x="4837176" y="1664208"/>
            <a:ext cx="2560320" cy="201168"/>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Audit Schedule</a:t>
            </a:r>
            <a:endParaRPr lang="en-US" sz="1000" dirty="0"/>
          </a:p>
        </p:txBody>
      </p:sp>
      <p:sp>
        <p:nvSpPr>
          <p:cNvPr id="17" name="Shape 15"/>
          <p:cNvSpPr/>
          <p:nvPr/>
        </p:nvSpPr>
        <p:spPr>
          <a:xfrm>
            <a:off x="7882128" y="1472184"/>
            <a:ext cx="640080" cy="347472"/>
          </a:xfrm>
          <a:prstGeom prst="rect">
            <a:avLst/>
          </a:prstGeom>
          <a:solidFill>
            <a:srgbClr val="C9952A"/>
          </a:solidFill>
          <a:ln/>
        </p:spPr>
      </p:sp>
      <p:sp>
        <p:nvSpPr>
          <p:cNvPr id="18" name="Text 16"/>
          <p:cNvSpPr/>
          <p:nvPr/>
        </p:nvSpPr>
        <p:spPr>
          <a:xfrm>
            <a:off x="7882128" y="1472184"/>
            <a:ext cx="640080" cy="347472"/>
          </a:xfrm>
          <a:prstGeom prst="rect">
            <a:avLst/>
          </a:prstGeom>
          <a:noFill/>
          <a:ln/>
        </p:spPr>
        <p:txBody>
          <a:bodyPr wrap="square" lIns="0" tIns="0" rIns="0" bIns="0" rtlCol="0" anchor="ctr"/>
          <a:lstStyle/>
          <a:p>
            <a:pPr algn="ctr" indent="0" marL="0">
              <a:buNone/>
            </a:pPr>
            <a:r>
              <a:rPr lang="en-US" sz="800" b="1" dirty="0">
                <a:solidFill>
                  <a:srgbClr val="1A2E2C"/>
                </a:solidFill>
                <a:latin typeface="Calibri" pitchFamily="34" charset="0"/>
                <a:ea typeface="Calibri" pitchFamily="34" charset="-122"/>
                <a:cs typeface="Calibri" pitchFamily="34" charset="-120"/>
              </a:rPr>
              <a:t>★ Quan</a:t>
            </a:r>
            <a:endParaRPr lang="en-US" sz="800" dirty="0"/>
          </a:p>
          <a:p>
            <a:pPr algn="ctr" indent="0" marL="0">
              <a:buNone/>
            </a:pPr>
            <a:r>
              <a:rPr lang="en-US" sz="800" b="1" dirty="0">
                <a:solidFill>
                  <a:srgbClr val="1A2E2C"/>
                </a:solidFill>
                <a:latin typeface="Calibri" pitchFamily="34" charset="0"/>
                <a:ea typeface="Calibri" pitchFamily="34" charset="-122"/>
                <a:cs typeface="Calibri" pitchFamily="34" charset="-120"/>
              </a:rPr>
              <a:t>trọng</a:t>
            </a:r>
            <a:endParaRPr lang="en-US" sz="800" dirty="0"/>
          </a:p>
        </p:txBody>
      </p:sp>
      <p:sp>
        <p:nvSpPr>
          <p:cNvPr id="19" name="Shape 17"/>
          <p:cNvSpPr/>
          <p:nvPr/>
        </p:nvSpPr>
        <p:spPr>
          <a:xfrm>
            <a:off x="384048" y="2075688"/>
            <a:ext cx="3977640" cy="64008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0" name="Text 18"/>
          <p:cNvSpPr/>
          <p:nvPr/>
        </p:nvSpPr>
        <p:spPr>
          <a:xfrm>
            <a:off x="493776" y="2139696"/>
            <a:ext cx="2560320" cy="2560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Chương trình họp khai mạc</a:t>
            </a:r>
            <a:endParaRPr lang="en-US" sz="1200" dirty="0"/>
          </a:p>
        </p:txBody>
      </p:sp>
      <p:sp>
        <p:nvSpPr>
          <p:cNvPr id="21" name="Text 19"/>
          <p:cNvSpPr/>
          <p:nvPr/>
        </p:nvSpPr>
        <p:spPr>
          <a:xfrm>
            <a:off x="493776" y="2414016"/>
            <a:ext cx="2560320" cy="201168"/>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Opening Meeting Agenda</a:t>
            </a:r>
            <a:endParaRPr lang="en-US" sz="1000" dirty="0"/>
          </a:p>
        </p:txBody>
      </p:sp>
      <p:sp>
        <p:nvSpPr>
          <p:cNvPr id="22" name="Shape 20"/>
          <p:cNvSpPr/>
          <p:nvPr/>
        </p:nvSpPr>
        <p:spPr>
          <a:xfrm>
            <a:off x="4636008" y="2075688"/>
            <a:ext cx="3977640" cy="640080"/>
          </a:xfrm>
          <a:prstGeom prst="rect">
            <a:avLst/>
          </a:prstGeom>
          <a:solidFill>
            <a:srgbClr val="E0F4F2"/>
          </a:solidFill>
          <a:ln w="10160">
            <a:solidFill>
              <a:srgbClr val="009B8E"/>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636008" y="2075688"/>
            <a:ext cx="109728" cy="640080"/>
          </a:xfrm>
          <a:prstGeom prst="rect">
            <a:avLst/>
          </a:prstGeom>
          <a:solidFill>
            <a:srgbClr val="C9952A"/>
          </a:solidFill>
          <a:ln/>
        </p:spPr>
      </p:sp>
      <p:sp>
        <p:nvSpPr>
          <p:cNvPr id="24" name="Text 22"/>
          <p:cNvSpPr/>
          <p:nvPr/>
        </p:nvSpPr>
        <p:spPr>
          <a:xfrm>
            <a:off x="4837176" y="2139696"/>
            <a:ext cx="2560320" cy="256032"/>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Checklist Kiểm định</a:t>
            </a:r>
            <a:endParaRPr lang="en-US" sz="1200" dirty="0"/>
          </a:p>
        </p:txBody>
      </p:sp>
      <p:sp>
        <p:nvSpPr>
          <p:cNvPr id="25" name="Text 23"/>
          <p:cNvSpPr/>
          <p:nvPr/>
        </p:nvSpPr>
        <p:spPr>
          <a:xfrm>
            <a:off x="4837176" y="2414016"/>
            <a:ext cx="2560320" cy="201168"/>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Audit Checklist</a:t>
            </a:r>
            <a:endParaRPr lang="en-US" sz="1000" dirty="0"/>
          </a:p>
        </p:txBody>
      </p:sp>
      <p:sp>
        <p:nvSpPr>
          <p:cNvPr id="26" name="Shape 24"/>
          <p:cNvSpPr/>
          <p:nvPr/>
        </p:nvSpPr>
        <p:spPr>
          <a:xfrm>
            <a:off x="7882128" y="2221992"/>
            <a:ext cx="640080" cy="347472"/>
          </a:xfrm>
          <a:prstGeom prst="rect">
            <a:avLst/>
          </a:prstGeom>
          <a:solidFill>
            <a:srgbClr val="C9952A"/>
          </a:solidFill>
          <a:ln/>
        </p:spPr>
      </p:sp>
      <p:sp>
        <p:nvSpPr>
          <p:cNvPr id="27" name="Text 25"/>
          <p:cNvSpPr/>
          <p:nvPr/>
        </p:nvSpPr>
        <p:spPr>
          <a:xfrm>
            <a:off x="7882128" y="2221992"/>
            <a:ext cx="640080" cy="347472"/>
          </a:xfrm>
          <a:prstGeom prst="rect">
            <a:avLst/>
          </a:prstGeom>
          <a:noFill/>
          <a:ln/>
        </p:spPr>
        <p:txBody>
          <a:bodyPr wrap="square" lIns="0" tIns="0" rIns="0" bIns="0" rtlCol="0" anchor="ctr"/>
          <a:lstStyle/>
          <a:p>
            <a:pPr algn="ctr" indent="0" marL="0">
              <a:buNone/>
            </a:pPr>
            <a:r>
              <a:rPr lang="en-US" sz="800" b="1" dirty="0">
                <a:solidFill>
                  <a:srgbClr val="1A2E2C"/>
                </a:solidFill>
                <a:latin typeface="Calibri" pitchFamily="34" charset="0"/>
                <a:ea typeface="Calibri" pitchFamily="34" charset="-122"/>
                <a:cs typeface="Calibri" pitchFamily="34" charset="-120"/>
              </a:rPr>
              <a:t>★ Quan</a:t>
            </a:r>
            <a:endParaRPr lang="en-US" sz="800" dirty="0"/>
          </a:p>
          <a:p>
            <a:pPr algn="ctr" indent="0" marL="0">
              <a:buNone/>
            </a:pPr>
            <a:r>
              <a:rPr lang="en-US" sz="800" b="1" dirty="0">
                <a:solidFill>
                  <a:srgbClr val="1A2E2C"/>
                </a:solidFill>
                <a:latin typeface="Calibri" pitchFamily="34" charset="0"/>
                <a:ea typeface="Calibri" pitchFamily="34" charset="-122"/>
                <a:cs typeface="Calibri" pitchFamily="34" charset="-120"/>
              </a:rPr>
              <a:t>trọng</a:t>
            </a:r>
            <a:endParaRPr lang="en-US" sz="800" dirty="0"/>
          </a:p>
        </p:txBody>
      </p:sp>
      <p:sp>
        <p:nvSpPr>
          <p:cNvPr id="28" name="Shape 26"/>
          <p:cNvSpPr/>
          <p:nvPr/>
        </p:nvSpPr>
        <p:spPr>
          <a:xfrm>
            <a:off x="384048" y="2825496"/>
            <a:ext cx="3977640" cy="64008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29" name="Text 27"/>
          <p:cNvSpPr/>
          <p:nvPr/>
        </p:nvSpPr>
        <p:spPr>
          <a:xfrm>
            <a:off x="493776" y="2889504"/>
            <a:ext cx="2560320" cy="2560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Ghi chú Kiểm định</a:t>
            </a:r>
            <a:endParaRPr lang="en-US" sz="1200" dirty="0"/>
          </a:p>
        </p:txBody>
      </p:sp>
      <p:sp>
        <p:nvSpPr>
          <p:cNvPr id="30" name="Text 28"/>
          <p:cNvSpPr/>
          <p:nvPr/>
        </p:nvSpPr>
        <p:spPr>
          <a:xfrm>
            <a:off x="493776" y="3163824"/>
            <a:ext cx="2560320" cy="201168"/>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Audit Note</a:t>
            </a:r>
            <a:endParaRPr lang="en-US" sz="1000" dirty="0"/>
          </a:p>
        </p:txBody>
      </p:sp>
      <p:sp>
        <p:nvSpPr>
          <p:cNvPr id="31" name="Shape 29"/>
          <p:cNvSpPr/>
          <p:nvPr/>
        </p:nvSpPr>
        <p:spPr>
          <a:xfrm>
            <a:off x="4636008" y="2825496"/>
            <a:ext cx="3977640" cy="640080"/>
          </a:xfrm>
          <a:prstGeom prst="rect">
            <a:avLst/>
          </a:prstGeom>
          <a:solidFill>
            <a:srgbClr val="E0F4F2"/>
          </a:solidFill>
          <a:ln w="10160">
            <a:solidFill>
              <a:srgbClr val="009B8E"/>
            </a:solidFill>
            <a:prstDash val="solid"/>
          </a:ln>
          <a:effectLst>
            <a:outerShdw sx="100000" sy="100000" kx="0" ky="0" algn="bl" rotWithShape="0" blurRad="101600" dist="38100" dir="8100000">
              <a:srgbClr val="000000">
                <a:alpha val="10000"/>
              </a:srgbClr>
            </a:outerShdw>
          </a:effectLst>
        </p:spPr>
      </p:sp>
      <p:sp>
        <p:nvSpPr>
          <p:cNvPr id="32" name="Shape 30"/>
          <p:cNvSpPr/>
          <p:nvPr/>
        </p:nvSpPr>
        <p:spPr>
          <a:xfrm>
            <a:off x="4636008" y="2825496"/>
            <a:ext cx="109728" cy="640080"/>
          </a:xfrm>
          <a:prstGeom prst="rect">
            <a:avLst/>
          </a:prstGeom>
          <a:solidFill>
            <a:srgbClr val="C9952A"/>
          </a:solidFill>
          <a:ln/>
        </p:spPr>
      </p:sp>
      <p:sp>
        <p:nvSpPr>
          <p:cNvPr id="33" name="Text 31"/>
          <p:cNvSpPr/>
          <p:nvPr/>
        </p:nvSpPr>
        <p:spPr>
          <a:xfrm>
            <a:off x="4837176" y="2889504"/>
            <a:ext cx="2560320" cy="256032"/>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Báo cáo Kiểm định</a:t>
            </a:r>
            <a:endParaRPr lang="en-US" sz="1200" dirty="0"/>
          </a:p>
        </p:txBody>
      </p:sp>
      <p:sp>
        <p:nvSpPr>
          <p:cNvPr id="34" name="Text 32"/>
          <p:cNvSpPr/>
          <p:nvPr/>
        </p:nvSpPr>
        <p:spPr>
          <a:xfrm>
            <a:off x="4837176" y="3163824"/>
            <a:ext cx="2560320" cy="201168"/>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Audit Report</a:t>
            </a:r>
            <a:endParaRPr lang="en-US" sz="1000" dirty="0"/>
          </a:p>
        </p:txBody>
      </p:sp>
      <p:sp>
        <p:nvSpPr>
          <p:cNvPr id="35" name="Shape 33"/>
          <p:cNvSpPr/>
          <p:nvPr/>
        </p:nvSpPr>
        <p:spPr>
          <a:xfrm>
            <a:off x="7882128" y="2971800"/>
            <a:ext cx="640080" cy="347472"/>
          </a:xfrm>
          <a:prstGeom prst="rect">
            <a:avLst/>
          </a:prstGeom>
          <a:solidFill>
            <a:srgbClr val="C9952A"/>
          </a:solidFill>
          <a:ln/>
        </p:spPr>
      </p:sp>
      <p:sp>
        <p:nvSpPr>
          <p:cNvPr id="36" name="Text 34"/>
          <p:cNvSpPr/>
          <p:nvPr/>
        </p:nvSpPr>
        <p:spPr>
          <a:xfrm>
            <a:off x="7882128" y="2971800"/>
            <a:ext cx="640080" cy="347472"/>
          </a:xfrm>
          <a:prstGeom prst="rect">
            <a:avLst/>
          </a:prstGeom>
          <a:noFill/>
          <a:ln/>
        </p:spPr>
        <p:txBody>
          <a:bodyPr wrap="square" lIns="0" tIns="0" rIns="0" bIns="0" rtlCol="0" anchor="ctr"/>
          <a:lstStyle/>
          <a:p>
            <a:pPr algn="ctr" indent="0" marL="0">
              <a:buNone/>
            </a:pPr>
            <a:r>
              <a:rPr lang="en-US" sz="800" b="1" dirty="0">
                <a:solidFill>
                  <a:srgbClr val="1A2E2C"/>
                </a:solidFill>
                <a:latin typeface="Calibri" pitchFamily="34" charset="0"/>
                <a:ea typeface="Calibri" pitchFamily="34" charset="-122"/>
                <a:cs typeface="Calibri" pitchFamily="34" charset="-120"/>
              </a:rPr>
              <a:t>★ Quan</a:t>
            </a:r>
            <a:endParaRPr lang="en-US" sz="800" dirty="0"/>
          </a:p>
          <a:p>
            <a:pPr algn="ctr" indent="0" marL="0">
              <a:buNone/>
            </a:pPr>
            <a:r>
              <a:rPr lang="en-US" sz="800" b="1" dirty="0">
                <a:solidFill>
                  <a:srgbClr val="1A2E2C"/>
                </a:solidFill>
                <a:latin typeface="Calibri" pitchFamily="34" charset="0"/>
                <a:ea typeface="Calibri" pitchFamily="34" charset="-122"/>
                <a:cs typeface="Calibri" pitchFamily="34" charset="-120"/>
              </a:rPr>
              <a:t>trọng</a:t>
            </a:r>
            <a:endParaRPr lang="en-US" sz="800" dirty="0"/>
          </a:p>
        </p:txBody>
      </p:sp>
      <p:sp>
        <p:nvSpPr>
          <p:cNvPr id="37" name="Shape 35"/>
          <p:cNvSpPr/>
          <p:nvPr/>
        </p:nvSpPr>
        <p:spPr>
          <a:xfrm>
            <a:off x="384048" y="3575304"/>
            <a:ext cx="3977640" cy="640080"/>
          </a:xfrm>
          <a:prstGeom prst="rect">
            <a:avLst/>
          </a:prstGeom>
          <a:solidFill>
            <a:srgbClr val="E0F4F2"/>
          </a:solidFill>
          <a:ln w="10160">
            <a:solidFill>
              <a:srgbClr val="009B8E"/>
            </a:solidFill>
            <a:prstDash val="solid"/>
          </a:ln>
          <a:effectLst>
            <a:outerShdw sx="100000" sy="100000" kx="0" ky="0" algn="bl" rotWithShape="0" blurRad="101600" dist="38100" dir="8100000">
              <a:srgbClr val="000000">
                <a:alpha val="10000"/>
              </a:srgbClr>
            </a:outerShdw>
          </a:effectLst>
        </p:spPr>
      </p:sp>
      <p:sp>
        <p:nvSpPr>
          <p:cNvPr id="38" name="Shape 36"/>
          <p:cNvSpPr/>
          <p:nvPr/>
        </p:nvSpPr>
        <p:spPr>
          <a:xfrm>
            <a:off x="384048" y="3575304"/>
            <a:ext cx="109728" cy="640080"/>
          </a:xfrm>
          <a:prstGeom prst="rect">
            <a:avLst/>
          </a:prstGeom>
          <a:solidFill>
            <a:srgbClr val="C9952A"/>
          </a:solidFill>
          <a:ln/>
        </p:spPr>
      </p:sp>
      <p:sp>
        <p:nvSpPr>
          <p:cNvPr id="39" name="Text 37"/>
          <p:cNvSpPr/>
          <p:nvPr/>
        </p:nvSpPr>
        <p:spPr>
          <a:xfrm>
            <a:off x="585216" y="3639312"/>
            <a:ext cx="2560320" cy="256032"/>
          </a:xfrm>
          <a:prstGeom prst="rect">
            <a:avLst/>
          </a:prstGeom>
          <a:noFill/>
          <a:ln/>
        </p:spPr>
        <p:txBody>
          <a:bodyPr wrap="square" lIns="0" tIns="0" rIns="0" bIns="0" rtlCol="0" anchor="ctr"/>
          <a:lstStyle/>
          <a:p>
            <a:pPr indent="0" marL="0">
              <a:buNone/>
            </a:pPr>
            <a:r>
              <a:rPr lang="en-US" sz="1200" b="1" dirty="0">
                <a:solidFill>
                  <a:srgbClr val="1A2E2C"/>
                </a:solidFill>
                <a:latin typeface="Calibri" pitchFamily="34" charset="0"/>
                <a:ea typeface="Calibri" pitchFamily="34" charset="-122"/>
                <a:cs typeface="Calibri" pitchFamily="34" charset="-120"/>
              </a:rPr>
              <a:t>Báo cáo Không phù hợp</a:t>
            </a:r>
            <a:endParaRPr lang="en-US" sz="1200" dirty="0"/>
          </a:p>
        </p:txBody>
      </p:sp>
      <p:sp>
        <p:nvSpPr>
          <p:cNvPr id="40" name="Text 38"/>
          <p:cNvSpPr/>
          <p:nvPr/>
        </p:nvSpPr>
        <p:spPr>
          <a:xfrm>
            <a:off x="585216" y="3913632"/>
            <a:ext cx="2560320" cy="201168"/>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Non-Conformance Report (NCR)</a:t>
            </a:r>
            <a:endParaRPr lang="en-US" sz="1000" dirty="0"/>
          </a:p>
        </p:txBody>
      </p:sp>
      <p:sp>
        <p:nvSpPr>
          <p:cNvPr id="41" name="Shape 39"/>
          <p:cNvSpPr/>
          <p:nvPr/>
        </p:nvSpPr>
        <p:spPr>
          <a:xfrm>
            <a:off x="3630168" y="3721608"/>
            <a:ext cx="640080" cy="347472"/>
          </a:xfrm>
          <a:prstGeom prst="rect">
            <a:avLst/>
          </a:prstGeom>
          <a:solidFill>
            <a:srgbClr val="C9952A"/>
          </a:solidFill>
          <a:ln/>
        </p:spPr>
      </p:sp>
      <p:sp>
        <p:nvSpPr>
          <p:cNvPr id="42" name="Text 40"/>
          <p:cNvSpPr/>
          <p:nvPr/>
        </p:nvSpPr>
        <p:spPr>
          <a:xfrm>
            <a:off x="3630168" y="3721608"/>
            <a:ext cx="640080" cy="347472"/>
          </a:xfrm>
          <a:prstGeom prst="rect">
            <a:avLst/>
          </a:prstGeom>
          <a:noFill/>
          <a:ln/>
        </p:spPr>
        <p:txBody>
          <a:bodyPr wrap="square" lIns="0" tIns="0" rIns="0" bIns="0" rtlCol="0" anchor="ctr"/>
          <a:lstStyle/>
          <a:p>
            <a:pPr algn="ctr" indent="0" marL="0">
              <a:buNone/>
            </a:pPr>
            <a:r>
              <a:rPr lang="en-US" sz="800" b="1" dirty="0">
                <a:solidFill>
                  <a:srgbClr val="1A2E2C"/>
                </a:solidFill>
                <a:latin typeface="Calibri" pitchFamily="34" charset="0"/>
                <a:ea typeface="Calibri" pitchFamily="34" charset="-122"/>
                <a:cs typeface="Calibri" pitchFamily="34" charset="-120"/>
              </a:rPr>
              <a:t>★ Quan</a:t>
            </a:r>
            <a:endParaRPr lang="en-US" sz="800" dirty="0"/>
          </a:p>
          <a:p>
            <a:pPr algn="ctr" indent="0" marL="0">
              <a:buNone/>
            </a:pPr>
            <a:r>
              <a:rPr lang="en-US" sz="800" b="1" dirty="0">
                <a:solidFill>
                  <a:srgbClr val="1A2E2C"/>
                </a:solidFill>
                <a:latin typeface="Calibri" pitchFamily="34" charset="0"/>
                <a:ea typeface="Calibri" pitchFamily="34" charset="-122"/>
                <a:cs typeface="Calibri" pitchFamily="34" charset="-120"/>
              </a:rPr>
              <a:t>trọng</a:t>
            </a:r>
            <a:endParaRPr lang="en-US" sz="800" dirty="0"/>
          </a:p>
        </p:txBody>
      </p:sp>
      <p:sp>
        <p:nvSpPr>
          <p:cNvPr id="43" name="Shape 41"/>
          <p:cNvSpPr/>
          <p:nvPr/>
        </p:nvSpPr>
        <p:spPr>
          <a:xfrm>
            <a:off x="4636008" y="3575304"/>
            <a:ext cx="3977640" cy="640080"/>
          </a:xfrm>
          <a:prstGeom prst="rect">
            <a:avLst/>
          </a:prstGeom>
          <a:solidFill>
            <a:srgbClr val="FFFFFF"/>
          </a:solidFill>
          <a:ln w="5080">
            <a:solidFill>
              <a:srgbClr val="E8EEEE"/>
            </a:solidFill>
            <a:prstDash val="solid"/>
          </a:ln>
          <a:effectLst>
            <a:outerShdw sx="100000" sy="100000" kx="0" ky="0" algn="bl" rotWithShape="0" blurRad="101600" dist="38100" dir="8100000">
              <a:srgbClr val="000000">
                <a:alpha val="10000"/>
              </a:srgbClr>
            </a:outerShdw>
          </a:effectLst>
        </p:spPr>
      </p:sp>
      <p:sp>
        <p:nvSpPr>
          <p:cNvPr id="44" name="Text 42"/>
          <p:cNvSpPr/>
          <p:nvPr/>
        </p:nvSpPr>
        <p:spPr>
          <a:xfrm>
            <a:off x="4745736" y="3639312"/>
            <a:ext cx="2560320" cy="256032"/>
          </a:xfrm>
          <a:prstGeom prst="rect">
            <a:avLst/>
          </a:prstGeom>
          <a:noFill/>
          <a:ln/>
        </p:spPr>
        <p:txBody>
          <a:bodyPr wrap="square" lIns="0" tIns="0" rIns="0" bIns="0" rtlCol="0" anchor="ctr"/>
          <a:lstStyle/>
          <a:p>
            <a:pPr indent="0" marL="0">
              <a:buNone/>
            </a:pPr>
            <a:r>
              <a:rPr lang="en-US" sz="1200" dirty="0">
                <a:solidFill>
                  <a:srgbClr val="1A2E2C"/>
                </a:solidFill>
                <a:latin typeface="Calibri" pitchFamily="34" charset="0"/>
                <a:ea typeface="Calibri" pitchFamily="34" charset="-122"/>
                <a:cs typeface="Calibri" pitchFamily="34" charset="-120"/>
              </a:rPr>
              <a:t>Chương trình họp kết thúc</a:t>
            </a:r>
            <a:endParaRPr lang="en-US" sz="1200" dirty="0"/>
          </a:p>
        </p:txBody>
      </p:sp>
      <p:sp>
        <p:nvSpPr>
          <p:cNvPr id="45" name="Text 43"/>
          <p:cNvSpPr/>
          <p:nvPr/>
        </p:nvSpPr>
        <p:spPr>
          <a:xfrm>
            <a:off x="4745736" y="3913632"/>
            <a:ext cx="2560320" cy="201168"/>
          </a:xfrm>
          <a:prstGeom prst="rect">
            <a:avLst/>
          </a:prstGeom>
          <a:noFill/>
          <a:ln/>
        </p:spPr>
        <p:txBody>
          <a:bodyPr wrap="square" lIns="0" tIns="0" rIns="0" bIns="0" rtlCol="0" anchor="ctr"/>
          <a:lstStyle/>
          <a:p>
            <a:pPr indent="0" marL="0">
              <a:buNone/>
            </a:pPr>
            <a:r>
              <a:rPr lang="en-US" sz="1000" i="1" dirty="0">
                <a:solidFill>
                  <a:srgbClr val="5C6E6C"/>
                </a:solidFill>
                <a:latin typeface="Calibri" pitchFamily="34" charset="0"/>
                <a:ea typeface="Calibri" pitchFamily="34" charset="-122"/>
                <a:cs typeface="Calibri" pitchFamily="34" charset="-120"/>
              </a:rPr>
              <a:t>Closing Meeting Agenda</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36A"/>
          </a:solidFill>
          <a:ln/>
        </p:spPr>
      </p:sp>
      <p:sp>
        <p:nvSpPr>
          <p:cNvPr id="3" name="Shape 1"/>
          <p:cNvSpPr/>
          <p:nvPr/>
        </p:nvSpPr>
        <p:spPr>
          <a:xfrm>
            <a:off x="164592" y="0"/>
            <a:ext cx="36576" cy="5143500"/>
          </a:xfrm>
          <a:prstGeom prst="rect">
            <a:avLst/>
          </a:prstGeom>
          <a:solidFill>
            <a:srgbClr val="C9952A"/>
          </a:solidFill>
          <a:ln/>
        </p:spPr>
      </p:sp>
      <p:sp>
        <p:nvSpPr>
          <p:cNvPr id="4" name="Text 2"/>
          <p:cNvSpPr/>
          <p:nvPr/>
        </p:nvSpPr>
        <p:spPr>
          <a:xfrm>
            <a:off x="384048" y="274320"/>
            <a:ext cx="8229600" cy="594360"/>
          </a:xfrm>
          <a:prstGeom prst="rect">
            <a:avLst/>
          </a:prstGeom>
          <a:noFill/>
          <a:ln/>
        </p:spPr>
        <p:txBody>
          <a:bodyPr wrap="square" lIns="0" tIns="0" rIns="0" bIns="0" rtlCol="0" anchor="ctr"/>
          <a:lstStyle/>
          <a:p>
            <a:pPr indent="0" marL="0">
              <a:buNone/>
            </a:pPr>
            <a:r>
              <a:rPr lang="en-US" sz="2600" b="1" dirty="0">
                <a:solidFill>
                  <a:srgbClr val="00736A"/>
                </a:solidFill>
                <a:latin typeface="Calibri" pitchFamily="34" charset="0"/>
                <a:ea typeface="Calibri" pitchFamily="34" charset="-122"/>
                <a:cs typeface="Calibri" pitchFamily="34" charset="-120"/>
              </a:rPr>
              <a:t>Thông báo Auditee — Bước cuối Lập kế hoạch</a:t>
            </a:r>
            <a:endParaRPr lang="en-US" sz="2600" dirty="0"/>
          </a:p>
        </p:txBody>
      </p:sp>
      <p:sp>
        <p:nvSpPr>
          <p:cNvPr id="5" name="Text 3"/>
          <p:cNvSpPr/>
          <p:nvPr/>
        </p:nvSpPr>
        <p:spPr>
          <a:xfrm>
            <a:off x="384048" y="868680"/>
            <a:ext cx="8229600" cy="292608"/>
          </a:xfrm>
          <a:prstGeom prst="rect">
            <a:avLst/>
          </a:prstGeom>
          <a:noFill/>
          <a:ln/>
        </p:spPr>
        <p:txBody>
          <a:bodyPr wrap="square" lIns="0" tIns="0" rIns="0" bIns="0" rtlCol="0" anchor="ctr"/>
          <a:lstStyle/>
          <a:p>
            <a:pPr indent="0" marL="0">
              <a:buNone/>
            </a:pPr>
            <a:r>
              <a:rPr lang="en-US" sz="1300" b="1" spc="100" kern="0" dirty="0">
                <a:solidFill>
                  <a:srgbClr val="C9952A"/>
                </a:solidFill>
                <a:latin typeface="Calibri" pitchFamily="34" charset="0"/>
                <a:ea typeface="Calibri" pitchFamily="34" charset="-122"/>
                <a:cs typeface="Calibri" pitchFamily="34" charset="-120"/>
              </a:rPr>
              <a:t>TẠI SAO PHẢI THÔNG BÁO CHÍNH THỨC?</a:t>
            </a:r>
            <a:endParaRPr lang="en-US" sz="1300" dirty="0"/>
          </a:p>
        </p:txBody>
      </p:sp>
      <p:sp>
        <p:nvSpPr>
          <p:cNvPr id="6" name="Shape 4"/>
          <p:cNvSpPr/>
          <p:nvPr/>
        </p:nvSpPr>
        <p:spPr>
          <a:xfrm>
            <a:off x="384048" y="1143000"/>
            <a:ext cx="8229600" cy="22860"/>
          </a:xfrm>
          <a:prstGeom prst="rect">
            <a:avLst/>
          </a:prstGeom>
          <a:solidFill>
            <a:srgbClr val="E8EEEE"/>
          </a:solidFill>
          <a:ln/>
        </p:spPr>
      </p:sp>
      <p:sp>
        <p:nvSpPr>
          <p:cNvPr id="7" name="Shape 5"/>
          <p:cNvSpPr/>
          <p:nvPr/>
        </p:nvSpPr>
        <p:spPr>
          <a:xfrm>
            <a:off x="0" y="4892040"/>
            <a:ext cx="9144000" cy="251460"/>
          </a:xfrm>
          <a:prstGeom prst="rect">
            <a:avLst/>
          </a:prstGeom>
          <a:solidFill>
            <a:srgbClr val="00736A"/>
          </a:solidFill>
          <a:ln/>
        </p:spPr>
      </p:sp>
      <p:sp>
        <p:nvSpPr>
          <p:cNvPr id="8" name="Text 6"/>
          <p:cNvSpPr/>
          <p:nvPr/>
        </p:nvSpPr>
        <p:spPr>
          <a:xfrm>
            <a:off x="384048" y="4901184"/>
            <a:ext cx="7772400" cy="201168"/>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CertifyAI Vietnam  ·  Nội dung được cấp phép từ HDC Berhad Malaysia  ·  Chứng nhận Chuyên gia Đánh giá Halal</a:t>
            </a:r>
            <a:endParaRPr lang="en-US" sz="800" dirty="0"/>
          </a:p>
        </p:txBody>
      </p:sp>
      <p:sp>
        <p:nvSpPr>
          <p:cNvPr id="9" name="Text 7"/>
          <p:cNvSpPr/>
          <p:nvPr/>
        </p:nvSpPr>
        <p:spPr>
          <a:xfrm>
            <a:off x="8046720" y="4901184"/>
            <a:ext cx="1005840" cy="201168"/>
          </a:xfrm>
          <a:prstGeom prst="rect">
            <a:avLst/>
          </a:prstGeom>
          <a:noFill/>
          <a:ln/>
        </p:spPr>
        <p:txBody>
          <a:bodyPr wrap="square" lIns="0" tIns="0" rIns="0" bIns="0" rtlCol="0" anchor="ctr"/>
          <a:lstStyle/>
          <a:p>
            <a:pPr algn="r" indent="0" marL="0">
              <a:buNone/>
            </a:pPr>
            <a:r>
              <a:rPr lang="en-US" sz="800" dirty="0">
                <a:solidFill>
                  <a:srgbClr val="C9952A"/>
                </a:solidFill>
                <a:latin typeface="Calibri" pitchFamily="34" charset="0"/>
                <a:ea typeface="Calibri" pitchFamily="34" charset="-122"/>
                <a:cs typeface="Calibri" pitchFamily="34" charset="-120"/>
              </a:rPr>
              <a:t>© HDC Berhad</a:t>
            </a:r>
            <a:endParaRPr lang="en-US" sz="800" dirty="0"/>
          </a:p>
        </p:txBody>
      </p:sp>
      <p:sp>
        <p:nvSpPr>
          <p:cNvPr id="10" name="Text 8"/>
          <p:cNvSpPr/>
          <p:nvPr/>
        </p:nvSpPr>
        <p:spPr>
          <a:xfrm>
            <a:off x="384048" y="1325880"/>
            <a:ext cx="8321040" cy="3291840"/>
          </a:xfrm>
          <a:prstGeom prst="rect">
            <a:avLst/>
          </a:prstGeom>
          <a:noFill/>
          <a:ln/>
        </p:spPr>
        <p:txBody>
          <a:bodyPr wrap="square" rtlCol="0" anchor="t"/>
          <a:lstStyle/>
          <a:p>
            <a:pPr marL="342900" indent="-342900">
              <a:spcAft>
                <a:spcPts val="600"/>
              </a:spcAft>
              <a:buSzPct val="100000"/>
              <a:buChar char="•"/>
            </a:pPr>
            <a:r>
              <a:rPr lang="en-US" sz="1400" dirty="0">
                <a:solidFill>
                  <a:srgbClr val="1A2E2C"/>
                </a:solidFill>
                <a:latin typeface="Calibri" pitchFamily="34" charset="0"/>
                <a:ea typeface="Calibri" pitchFamily="34" charset="-122"/>
                <a:cs typeface="Calibri" pitchFamily="34" charset="-120"/>
              </a:rPr>
              <a:t>Thiết lập kênh liên lạc chính thức với auditee</a:t>
            </a:r>
            <a:endParaRPr lang="en-US" sz="1400" dirty="0"/>
          </a:p>
          <a:p>
            <a:pPr marL="342900" indent="-342900">
              <a:spcAft>
                <a:spcPts val="600"/>
              </a:spcAft>
              <a:buSzPct val="100000"/>
              <a:buChar char="•"/>
            </a:pPr>
            <a:r>
              <a:rPr lang="en-US" sz="1400" dirty="0">
                <a:solidFill>
                  <a:srgbClr val="1A2E2C"/>
                </a:solidFill>
                <a:latin typeface="Calibri" pitchFamily="34" charset="0"/>
                <a:ea typeface="Calibri" pitchFamily="34" charset="-122"/>
                <a:cs typeface="Calibri" pitchFamily="34" charset="-120"/>
              </a:rPr>
              <a:t>Xác nhận thẩm quyền tiến hành kiểm định</a:t>
            </a:r>
            <a:endParaRPr lang="en-US" sz="1400" dirty="0"/>
          </a:p>
          <a:p>
            <a:pPr marL="342900" indent="-342900">
              <a:spcAft>
                <a:spcPts val="600"/>
              </a:spcAft>
              <a:buSzPct val="100000"/>
              <a:buChar char="•"/>
            </a:pPr>
            <a:r>
              <a:rPr lang="en-US" sz="1400" dirty="0">
                <a:solidFill>
                  <a:srgbClr val="1A2E2C"/>
                </a:solidFill>
                <a:latin typeface="Calibri" pitchFamily="34" charset="0"/>
                <a:ea typeface="Calibri" pitchFamily="34" charset="-122"/>
                <a:cs typeface="Calibri" pitchFamily="34" charset="-120"/>
              </a:rPr>
              <a:t>Cung cấp thông tin về kế hoạch kiểm định</a:t>
            </a:r>
            <a:endParaRPr lang="en-US" sz="1400" dirty="0"/>
          </a:p>
          <a:p>
            <a:pPr marL="342900" indent="-342900">
              <a:spcAft>
                <a:spcPts val="600"/>
              </a:spcAft>
              <a:buSzPct val="100000"/>
              <a:buChar char="•"/>
            </a:pPr>
            <a:r>
              <a:rPr lang="en-US" sz="1400" dirty="0">
                <a:solidFill>
                  <a:srgbClr val="1A2E2C"/>
                </a:solidFill>
                <a:latin typeface="Calibri" pitchFamily="34" charset="0"/>
                <a:ea typeface="Calibri" pitchFamily="34" charset="-122"/>
                <a:cs typeface="Calibri" pitchFamily="34" charset="-120"/>
              </a:rPr>
              <a:t>Xác nhận thỏa thuận về phạm vi bảo mật thông tin</a:t>
            </a:r>
            <a:endParaRPr lang="en-US" sz="1400" dirty="0"/>
          </a:p>
          <a:p>
            <a:pPr marL="342900" indent="-342900">
              <a:spcAft>
                <a:spcPts val="600"/>
              </a:spcAft>
              <a:buSzPct val="100000"/>
              <a:buChar char="•"/>
            </a:pPr>
            <a:r>
              <a:rPr lang="en-US" sz="1400" dirty="0">
                <a:solidFill>
                  <a:srgbClr val="1A2E2C"/>
                </a:solidFill>
                <a:latin typeface="Calibri" pitchFamily="34" charset="0"/>
                <a:ea typeface="Calibri" pitchFamily="34" charset="-122"/>
                <a:cs typeface="Calibri" pitchFamily="34" charset="-120"/>
              </a:rPr>
              <a:t>Thống nhất lịch trình và các hoạt động kiểm định</a:t>
            </a:r>
            <a:endParaRPr lang="en-US" sz="1400" dirty="0"/>
          </a:p>
          <a:p>
            <a:pPr marL="342900" indent="-342900">
              <a:spcAft>
                <a:spcPts val="600"/>
              </a:spcAft>
              <a:buSzPct val="100000"/>
              <a:buChar char="•"/>
            </a:pPr>
            <a:r>
              <a:rPr lang="en-US" sz="1400" dirty="0">
                <a:solidFill>
                  <a:srgbClr val="1A2E2C"/>
                </a:solidFill>
                <a:latin typeface="Calibri" pitchFamily="34" charset="0"/>
                <a:ea typeface="Calibri" pitchFamily="34" charset="-122"/>
                <a:cs typeface="Calibri" pitchFamily="34" charset="-120"/>
              </a:rPr>
              <a:t>Xác định yêu cầu đặc biệt: an toàn, bảo mật, tiếp cận</a:t>
            </a:r>
            <a:endParaRPr lang="en-US" sz="1400" dirty="0"/>
          </a:p>
          <a:p>
            <a:pPr marL="342900" indent="-342900">
              <a:spcAft>
                <a:spcPts val="600"/>
              </a:spcAft>
              <a:buSzPct val="100000"/>
              <a:buChar char="•"/>
            </a:pPr>
            <a:r>
              <a:rPr lang="en-US" sz="1400" dirty="0">
                <a:solidFill>
                  <a:srgbClr val="1A2E2C"/>
                </a:solidFill>
                <a:latin typeface="Calibri" pitchFamily="34" charset="0"/>
                <a:ea typeface="Calibri" pitchFamily="34" charset="-122"/>
                <a:cs typeface="Calibri" pitchFamily="34" charset="-120"/>
              </a:rPr>
              <a:t>Thống nhất thành phần tham dự các buổi họp</a:t>
            </a:r>
            <a:endParaRPr lang="en-US" sz="1400" dirty="0"/>
          </a:p>
        </p:txBody>
      </p:sp>
      <p:sp>
        <p:nvSpPr>
          <p:cNvPr id="11" name="Shape 9"/>
          <p:cNvSpPr/>
          <p:nvPr/>
        </p:nvSpPr>
        <p:spPr>
          <a:xfrm>
            <a:off x="384048" y="4526280"/>
            <a:ext cx="8321040" cy="256032"/>
          </a:xfrm>
          <a:prstGeom prst="rect">
            <a:avLst/>
          </a:prstGeom>
          <a:solidFill>
            <a:srgbClr val="FDF5E4"/>
          </a:solidFill>
          <a:ln w="10160">
            <a:solidFill>
              <a:srgbClr val="C9952A"/>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84048" y="4526280"/>
            <a:ext cx="91440" cy="256032"/>
          </a:xfrm>
          <a:prstGeom prst="rect">
            <a:avLst/>
          </a:prstGeom>
          <a:solidFill>
            <a:srgbClr val="00736A"/>
          </a:solidFill>
          <a:ln/>
        </p:spPr>
      </p:sp>
      <p:sp>
        <p:nvSpPr>
          <p:cNvPr id="13" name="Text 11"/>
          <p:cNvSpPr/>
          <p:nvPr/>
        </p:nvSpPr>
        <p:spPr>
          <a:xfrm>
            <a:off x="566928" y="4526280"/>
            <a:ext cx="8092440" cy="256032"/>
          </a:xfrm>
          <a:prstGeom prst="rect">
            <a:avLst/>
          </a:prstGeom>
          <a:noFill/>
          <a:ln/>
        </p:spPr>
        <p:txBody>
          <a:bodyPr wrap="square" lIns="0" tIns="0" rIns="0" bIns="0" rtlCol="0" anchor="ctr"/>
          <a:lstStyle/>
          <a:p>
            <a:pPr indent="0" marL="0">
              <a:buNone/>
            </a:pPr>
            <a:r>
              <a:rPr lang="en-US" sz="1300" i="1" dirty="0">
                <a:solidFill>
                  <a:srgbClr val="1A2E2C"/>
                </a:solidFill>
                <a:latin typeface="Calibri" pitchFamily="34" charset="0"/>
                <a:ea typeface="Calibri" pitchFamily="34" charset="-122"/>
                <a:cs typeface="Calibri" pitchFamily="34" charset="-120"/>
              </a:rPr>
              <a:t>Tham chiếu: Opening Meeting Agenda &amp; Halal Internal Audit Planning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736A"/>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C9952A"/>
          </a:solidFill>
          <a:ln/>
        </p:spPr>
      </p:sp>
      <p:sp>
        <p:nvSpPr>
          <p:cNvPr id="3" name="Shape 1"/>
          <p:cNvSpPr/>
          <p:nvPr/>
        </p:nvSpPr>
        <p:spPr>
          <a:xfrm>
            <a:off x="457200" y="347472"/>
            <a:ext cx="8229600" cy="4315968"/>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Shape 2"/>
          <p:cNvSpPr/>
          <p:nvPr/>
        </p:nvSpPr>
        <p:spPr>
          <a:xfrm>
            <a:off x="457200" y="347472"/>
            <a:ext cx="137160" cy="4315968"/>
          </a:xfrm>
          <a:prstGeom prst="rect">
            <a:avLst/>
          </a:prstGeom>
          <a:solidFill>
            <a:srgbClr val="C9952A"/>
          </a:solidFill>
          <a:ln/>
        </p:spPr>
      </p:sp>
      <p:sp>
        <p:nvSpPr>
          <p:cNvPr id="5" name="Text 3"/>
          <p:cNvSpPr/>
          <p:nvPr/>
        </p:nvSpPr>
        <p:spPr>
          <a:xfrm>
            <a:off x="713232" y="475488"/>
            <a:ext cx="7772400" cy="347472"/>
          </a:xfrm>
          <a:prstGeom prst="rect">
            <a:avLst/>
          </a:prstGeom>
          <a:noFill/>
          <a:ln/>
        </p:spPr>
        <p:txBody>
          <a:bodyPr wrap="square" lIns="0" tIns="0" rIns="0" bIns="0" rtlCol="0" anchor="ctr"/>
          <a:lstStyle/>
          <a:p>
            <a:pPr indent="0" marL="0">
              <a:buNone/>
            </a:pPr>
            <a:r>
              <a:rPr lang="en-US" sz="2000" b="1" dirty="0">
                <a:solidFill>
                  <a:srgbClr val="00736A"/>
                </a:solidFill>
                <a:latin typeface="Calibri" pitchFamily="34" charset="0"/>
                <a:ea typeface="Calibri" pitchFamily="34" charset="-122"/>
                <a:cs typeface="Calibri" pitchFamily="34" charset="-120"/>
              </a:rPr>
              <a:t>Tổng kết CU1 &amp; CU2</a:t>
            </a:r>
            <a:endParaRPr lang="en-US" sz="2000" dirty="0"/>
          </a:p>
        </p:txBody>
      </p:sp>
      <p:sp>
        <p:nvSpPr>
          <p:cNvPr id="6" name="Text 4"/>
          <p:cNvSpPr/>
          <p:nvPr/>
        </p:nvSpPr>
        <p:spPr>
          <a:xfrm>
            <a:off x="713232" y="822960"/>
            <a:ext cx="7772400" cy="228600"/>
          </a:xfrm>
          <a:prstGeom prst="rect">
            <a:avLst/>
          </a:prstGeom>
          <a:noFill/>
          <a:ln/>
        </p:spPr>
        <p:txBody>
          <a:bodyPr wrap="square" lIns="0" tIns="0" rIns="0" bIns="0" rtlCol="0" anchor="ctr"/>
          <a:lstStyle/>
          <a:p>
            <a:pPr indent="0" marL="0">
              <a:buNone/>
            </a:pPr>
            <a:r>
              <a:rPr lang="en-US" sz="1100" b="1" spc="100" kern="0" dirty="0">
                <a:solidFill>
                  <a:srgbClr val="C9952A"/>
                </a:solidFill>
                <a:latin typeface="Calibri" pitchFamily="34" charset="0"/>
                <a:ea typeface="Calibri" pitchFamily="34" charset="-122"/>
                <a:cs typeface="Calibri" pitchFamily="34" charset="-120"/>
              </a:rPr>
              <a:t>KEY TAKEAWAYS — ĐIỂM CẦN NHỚ</a:t>
            </a:r>
            <a:endParaRPr lang="en-US" sz="1100" dirty="0"/>
          </a:p>
        </p:txBody>
      </p:sp>
      <p:sp>
        <p:nvSpPr>
          <p:cNvPr id="7" name="Shape 5"/>
          <p:cNvSpPr/>
          <p:nvPr/>
        </p:nvSpPr>
        <p:spPr>
          <a:xfrm>
            <a:off x="713232" y="1097280"/>
            <a:ext cx="7772400" cy="18288"/>
          </a:xfrm>
          <a:prstGeom prst="rect">
            <a:avLst/>
          </a:prstGeom>
          <a:solidFill>
            <a:srgbClr val="E8EEEE"/>
          </a:solidFill>
          <a:ln/>
        </p:spPr>
      </p:sp>
      <p:sp>
        <p:nvSpPr>
          <p:cNvPr id="8" name="Text 6"/>
          <p:cNvSpPr/>
          <p:nvPr/>
        </p:nvSpPr>
        <p:spPr>
          <a:xfrm>
            <a:off x="713232" y="1170432"/>
            <a:ext cx="7772400" cy="3520440"/>
          </a:xfrm>
          <a:prstGeom prst="rect">
            <a:avLst/>
          </a:prstGeom>
          <a:noFill/>
          <a:ln/>
        </p:spPr>
        <p:txBody>
          <a:bodyPr wrap="square" rtlCol="0" anchor="ctr"/>
          <a:lstStyle/>
          <a:p>
            <a:pPr marL="342900" indent="-342900">
              <a:spcAft>
                <a:spcPts val="1600"/>
              </a:spcAft>
              <a:buSzPct val="100000"/>
              <a:buChar char="•"/>
            </a:pPr>
            <a:r>
              <a:rPr lang="en-US" sz="1400" dirty="0">
                <a:solidFill>
                  <a:srgbClr val="1A2E2C"/>
                </a:solidFill>
                <a:latin typeface="Calibri" pitchFamily="34" charset="0"/>
                <a:ea typeface="Calibri" pitchFamily="34" charset="-122"/>
                <a:cs typeface="Calibri" pitchFamily="34" charset="-120"/>
              </a:rPr>
              <a:t>Kiểm định Halal là quá trình có hệ thống, độc lập và có hồ sơ để xác minh tuân thủ tiêu chuẩn Halal</a:t>
            </a:r>
            <a:endParaRPr lang="en-US" sz="1400" dirty="0"/>
          </a:p>
          <a:p>
            <a:pPr marL="342900" indent="-342900">
              <a:spcAft>
                <a:spcPts val="1600"/>
              </a:spcAft>
              <a:buSzPct val="100000"/>
              <a:buChar char="•"/>
            </a:pPr>
            <a:r>
              <a:rPr lang="en-US" sz="1400" dirty="0">
                <a:solidFill>
                  <a:srgbClr val="1A2E2C"/>
                </a:solidFill>
                <a:latin typeface="Calibri" pitchFamily="34" charset="0"/>
                <a:ea typeface="Calibri" pitchFamily="34" charset="-122"/>
                <a:cs typeface="Calibri" pitchFamily="34" charset="-120"/>
              </a:rPr>
              <a:t>Có 3 loại kiểm định theo nguồn gốc: Nội bộ (1st), Nhà cung cấp (2nd), Tổ chức cấp chứng nhận (3rd)</a:t>
            </a:r>
            <a:endParaRPr lang="en-US" sz="1400" dirty="0"/>
          </a:p>
          <a:p>
            <a:pPr marL="342900" indent="-342900">
              <a:spcAft>
                <a:spcPts val="1600"/>
              </a:spcAft>
              <a:buSzPct val="100000"/>
              <a:buChar char="•"/>
            </a:pPr>
            <a:r>
              <a:rPr lang="en-US" sz="1400" dirty="0">
                <a:solidFill>
                  <a:srgbClr val="1A2E2C"/>
                </a:solidFill>
                <a:latin typeface="Calibri" pitchFamily="34" charset="0"/>
                <a:ea typeface="Calibri" pitchFamily="34" charset="-122"/>
                <a:cs typeface="Calibri" pitchFamily="34" charset="-120"/>
              </a:rPr>
              <a:t>6 nguyên tắc cốt lõi: Đạo đức · Công bằng · Chuyên nghiệp · Độc lập · Bằng chứng · Rủi ro</a:t>
            </a:r>
            <a:endParaRPr lang="en-US" sz="1400" dirty="0"/>
          </a:p>
          <a:p>
            <a:pPr marL="342900" indent="-342900">
              <a:spcAft>
                <a:spcPts val="1600"/>
              </a:spcAft>
              <a:buSzPct val="100000"/>
              <a:buChar char="•"/>
            </a:pPr>
            <a:r>
              <a:rPr lang="en-US" sz="1400" dirty="0">
                <a:solidFill>
                  <a:srgbClr val="1A2E2C"/>
                </a:solidFill>
                <a:latin typeface="Calibri" pitchFamily="34" charset="0"/>
                <a:ea typeface="Calibri" pitchFamily="34" charset="-122"/>
                <a:cs typeface="Calibri" pitchFamily="34" charset="-120"/>
              </a:rPr>
              <a:t>Kiểm định viên cần có phẩm chất: đạo đức, cởi mở, tinh tế và linh hoạt</a:t>
            </a:r>
            <a:endParaRPr lang="en-US" sz="1400" dirty="0"/>
          </a:p>
          <a:p>
            <a:pPr marL="342900" indent="-342900">
              <a:spcAft>
                <a:spcPts val="1600"/>
              </a:spcAft>
              <a:buSzPct val="100000"/>
              <a:buChar char="•"/>
            </a:pPr>
            <a:r>
              <a:rPr lang="en-US" sz="1400" dirty="0">
                <a:solidFill>
                  <a:srgbClr val="1A2E2C"/>
                </a:solidFill>
                <a:latin typeface="Calibri" pitchFamily="34" charset="0"/>
                <a:ea typeface="Calibri" pitchFamily="34" charset="-122"/>
                <a:cs typeface="Calibri" pitchFamily="34" charset="-120"/>
              </a:rPr>
              <a:t>5 bước lập kế hoạch: Chương trình → Khởi động → Xem xét TL → Công cụ → Thông báo</a:t>
            </a:r>
            <a:endParaRPr lang="en-US" sz="1400" dirty="0"/>
          </a:p>
          <a:p>
            <a:pPr marL="342900" indent="-342900">
              <a:spcAft>
                <a:spcPts val="1600"/>
              </a:spcAft>
              <a:buSzPct val="100000"/>
              <a:buChar char="•"/>
            </a:pPr>
            <a:r>
              <a:rPr lang="en-US" sz="1400" dirty="0">
                <a:solidFill>
                  <a:srgbClr val="1A2E2C"/>
                </a:solidFill>
                <a:latin typeface="Calibri" pitchFamily="34" charset="0"/>
                <a:ea typeface="Calibri" pitchFamily="34" charset="-122"/>
                <a:cs typeface="Calibri" pitchFamily="34" charset="-120"/>
              </a:rPr>
              <a:t>Audit Checklist là công cụ quan trọng nhất để đảm bảo kiểm định có hệ thống và nhất quán</a:t>
            </a:r>
            <a:endParaRPr lang="en-US" sz="1400" dirty="0"/>
          </a:p>
        </p:txBody>
      </p:sp>
      <p:sp>
        <p:nvSpPr>
          <p:cNvPr id="9" name="Shape 7"/>
          <p:cNvSpPr/>
          <p:nvPr/>
        </p:nvSpPr>
        <p:spPr>
          <a:xfrm>
            <a:off x="0" y="4892040"/>
            <a:ext cx="9144000" cy="251460"/>
          </a:xfrm>
          <a:prstGeom prst="rect">
            <a:avLst/>
          </a:prstGeom>
          <a:solidFill>
            <a:srgbClr val="1A2E2C"/>
          </a:solidFill>
          <a:ln/>
        </p:spPr>
      </p:sp>
      <p:sp>
        <p:nvSpPr>
          <p:cNvPr id="10" name="Text 8"/>
          <p:cNvSpPr/>
          <p:nvPr/>
        </p:nvSpPr>
        <p:spPr>
          <a:xfrm>
            <a:off x="274320" y="4901184"/>
            <a:ext cx="8595360" cy="201168"/>
          </a:xfrm>
          <a:prstGeom prst="rect">
            <a:avLst/>
          </a:prstGeom>
          <a:noFill/>
          <a:ln/>
        </p:spPr>
        <p:txBody>
          <a:bodyPr wrap="square" lIns="0" tIns="0" rIns="0" bIns="0" rtlCol="0" anchor="ctr"/>
          <a:lstStyle/>
          <a:p>
            <a:pPr algn="ctr" indent="0" marL="0">
              <a:buNone/>
            </a:pPr>
            <a:r>
              <a:rPr lang="en-US" sz="850" dirty="0">
                <a:solidFill>
                  <a:srgbClr val="C9952A"/>
                </a:solidFill>
                <a:latin typeface="Calibri" pitchFamily="34" charset="0"/>
                <a:ea typeface="Calibri" pitchFamily="34" charset="-122"/>
                <a:cs typeface="Calibri" pitchFamily="34" charset="-120"/>
              </a:rPr>
              <a:t>CertifyAI Vietnam  ·  Được đào tạo &amp; cấp chứng chỉ bởi HDC Berhad Malaysia  ·  certifyai.vn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Halal Auditing – CU1 &amp; CU2</dc:title>
  <dc:subject>PptxGenJS Presentation</dc:subject>
  <dc:creator>CertifyAI Vietnam</dc:creator>
  <cp:lastModifiedBy>CertifyAI Vietnam</cp:lastModifiedBy>
  <cp:revision>1</cp:revision>
  <dcterms:created xsi:type="dcterms:W3CDTF">2026-03-15T06:03:28Z</dcterms:created>
  <dcterms:modified xsi:type="dcterms:W3CDTF">2026-03-15T06:03:28Z</dcterms:modified>
</cp:coreProperties>
</file>